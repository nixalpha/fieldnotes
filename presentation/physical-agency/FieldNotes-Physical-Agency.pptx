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Inter"/>
      <p:regular r:id="rId15"/>
      <p:bold r:id="rId16"/>
      <p:italic r:id="rId17"/>
      <p:boldItalic r:id="rId18"/>
    </p:embeddedFont>
    <p:embeddedFont>
      <p:font typeface="Roboto Mon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3" roundtripDataSignature="AMtx7mj1Bq4BndRi3l7vvKYabnUz10Kf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font" Target="fonts/Inter-regular.fntdata"/><Relationship Id="rId16" Type="http://schemas.openxmlformats.org/officeDocument/2006/relationships/font" Target="fonts/Inter-bold.fntdata"/><Relationship Id="rId17" Type="http://schemas.openxmlformats.org/officeDocument/2006/relationships/font" Target="fonts/Inter-italic.fntdata"/><Relationship Id="rId18" Type="http://schemas.openxmlformats.org/officeDocument/2006/relationships/font" Target="fonts/Inter-boldItalic.fntdata"/><Relationship Id="rId19" Type="http://schemas.openxmlformats.org/officeDocument/2006/relationships/font" Target="fonts/RobotoMono-regular.fntdata"/><Relationship Id="rId20" Type="http://schemas.openxmlformats.org/officeDocument/2006/relationships/font" Target="fonts/RobotoMono-bold.fntdata"/><Relationship Id="rId21" Type="http://schemas.openxmlformats.org/officeDocument/2006/relationships/font" Target="fonts/RobotoMono-italic.fntdata"/><Relationship Id="rId22" Type="http://schemas.openxmlformats.org/officeDocument/2006/relationships/font" Target="fonts/RobotoMono-boldItalic.fntdata"/><Relationship Id="rId23"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b82134820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Physical agency means an AI can help pursue a goal in the real world. FieldNotes builds one necessary part: a memory of physical observations that the agent can revisit.</a:t>
            </a:r>
          </a:p>
          <a:p/>
          <a:p>
            <a:r>
              <a:t>[12 s] Cover only: do not introduce the technology stack here. The drone is flown by a human operator; FieldNotes observes video and does not fly the aircraft.</a:t>
            </a:r>
          </a:p>
          <a:p>
            <a:r>
              <a:t>Team/member names and roles go in the submission message, not on this slide.</a:t>
            </a:r>
          </a:p>
        </p:txBody>
      </p:sp>
      <p:sp>
        <p:nvSpPr>
          <p:cNvPr id="107" name="Google Shape;107;g3fb82134820_0_1:notes"/>
          <p:cNvSpPr/>
          <p:nvPr>
            <p:ph idx="2" type="sldImg"/>
          </p:nvPr>
        </p:nvSpPr>
        <p:spPr>
          <a:xfrm>
            <a:off x="1143220"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Consider a worker asking whether a station is ready for the next job. A useful agent needs more than a plausible answer. It needs recent evidence. Earlier images can be stale, and an object outside the camera view may still be present. Someone usually has to reconstruct that context.</a:t>
            </a:r>
          </a:p>
          <a:p/>
          <a:p>
            <a:r>
              <a:t>[22 s] The job question is an intended workflow, not a completed FieldNotes demonstration. Urgency is framed as a design need for capable agents, not as a market trend. No claim that all existing video products lack search.</a:t>
            </a:r>
          </a:p>
          <a:p>
            <a:r>
              <a:t>Grounding research (notes only): SayCan https://arxiv.org/abs/2204.01691 ; DynaMem https://arxiv.org/abs/2411.04999 ; Gemini Robotics https://deepmind.google/blog/gemini-robotics-brings-ai-into-the-physical-world/</a:t>
            </a:r>
          </a:p>
        </p:txBody>
      </p:sp>
      <p:sp>
        <p:nvSpPr>
          <p:cNvPr id="117" name="Google Shape;117;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Research in robot planning separates high-level reasoning from executable skills. Dynamic-memory research shows why changing environments also matter. Our approach uses three responsibilities: the LLM reasons about the job, robot tools execute bounded capabilities, and Space Info carries observations through time. FieldNotes focuses on that third part.</a:t>
            </a:r>
          </a:p>
          <a:p/>
          <a:p>
            <a:r>
              <a:t>[20 s] Observed / Last seen / Changed / Unknown are information categories, not a claim that all are automatically resolved. Robot tools are a future integration; FieldNotes implements no robot control, 3D localization, or DynaMem.</a:t>
            </a:r>
          </a:p>
          <a:p>
            <a:r>
              <a:t>Related research (not dependencies): SayCan https://arxiv.org/abs/2204.01691 ; DynaMem https://arxiv.org/abs/2411.04999 ; MCP tools spec https://modelcontextprotocol.io/specification/2025-06-18/server/tools</a:t>
            </a:r>
          </a:p>
        </p:txBody>
      </p:sp>
      <p:sp>
        <p:nvSpPr>
          <p:cNvPr id="146" name="Google Shape;146;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Here is evidence from our recorded session. An agent can search earlier images and inspect the originals. In the first frame, the person is seated beside a laptop. In the later frame, they are standing. That supports a posture change. It does not establish that a job finished, and the camera also reframed.</a:t>
            </a:r>
          </a:p>
          <a:p/>
          <a:p>
            <a:r>
              <a:t>[32 s] Evidence: session 80777bc1e2ac4fa8b2578015d93a332d, frames 300.jpg (receipt 02:50:45.991 PDT, 27 Sep 2026) and 370.jpg (02:50:59.918 PDT). Timestamps are local receipt at decode, not exposure. The text is an evidence-based example, not a verbatim model transcript. The redesigned portal is not shown because it does not exist yet.</a:t>
            </a:r>
          </a:p>
          <a:p>
            <a:r>
              <a:t>MCP tools exercised in the inspected session: get_memory_status, list_sessions, get_observation_window, search_visual_history, get_evidence (src/fieldnotes/mcp_server.py).</a:t>
            </a:r>
          </a:p>
        </p:txBody>
      </p:sp>
      <p:sp>
        <p:nvSpPr>
          <p:cNvPr id="172" name="Google Shape;172;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 name="Google Shape;192;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One recorded session received 712 frames over about 141 seconds and retained 148 evidence images. Those are verified prototype counts, not a productivity claim. They demonstrate that observations remain available for later inspection. Whether this reduces review time is the next evaluation question.</a:t>
            </a:r>
          </a:p>
          <a:p/>
          <a:p>
            <a:r>
              <a:t>[20 s] Session 80777bc1e2ac4fa8b2578015d93a332d. Source: data/memory.sqlite3 and data/journal.sqlite3 read in SQLite read-only mode.</a:t>
            </a:r>
          </a:p>
          <a:p>
            <a:r>
              <a:t>First receipt 2026-09-27T09:49:47.368214+00:00; last receipt 2026-09-27T09:52:08.075604+00:00; 140.707 s = last − first (CALCULATED). 712 received frames and 148 retained evidence images are VERIFIED counts from the frozen session database. 148 is evidence coverage, not accuracy, compression efficiency, or labor savings.</a:t>
            </a:r>
          </a:p>
          <a:p>
            <a:r>
              <a:t>NOTE: this checkout does not contain data/; the counts are a previously recorded snapshot from the recording Mac, not independently re-verified here.</a:t>
            </a:r>
          </a:p>
        </p:txBody>
      </p:sp>
      <p:sp>
        <p:nvSpPr>
          <p:cNvPr id="193" name="Google Shape;193;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The distinction is that evidence remains available to the agent when it needs context. A summary is useful, but it is still an interpretation. FieldNotes exposes earlier originals and temporal records through MCP. Our contribution is the integrated workflow. Reliability across different jobs remains to be demonstrated.</a:t>
            </a:r>
          </a:p>
          <a:p/>
          <a:p>
            <a:r>
              <a:t>[22 s] Compare workflows, not named competitors. No established moat is claimed; the potential advantage is accumulated workflow evaluation and integration. Requesting a physical re-observation through a robot tool is future work.</a:t>
            </a:r>
          </a:p>
          <a:p>
            <a:r>
              <a:t>MCP tools spec: https://modelcontextprotocol.io/specification/2025-06-18/server/tools</a:t>
            </a:r>
          </a:p>
        </p:txBody>
      </p:sp>
      <p:sp>
        <p:nvSpPr>
          <p:cNvPr id="222" name="Google Shape;222;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The drone publishes video through DJI Fly. MediaMTX and FFmpeg decode timestamped frames. FieldNotes retains selected originals, generates vision summaries, and indexes evidence for local visual search. MCP lets an agent retrieve that history. The portal reads the same backend. Flight remains with the operator. A separate robot-control interface belongs to the future architecture.</a:t>
            </a:r>
          </a:p>
          <a:p/>
          <a:p>
            <a:r>
              <a:t>[32 s] Solid lines = implemented data flow; dotted = future boundary. Selected sampled images are sent to the OpenAI API while observation is enabled (not all processing is local). MCP is an interface, not a model. Optional EdgeTAM selected-region tracking (start_visual_track / get_visual_track) is implemented but was not exercised in the inspected session. Excluded by design: Gaussian splatting, calibrated 3D maps, Core ML, automatic flight control.</a:t>
            </a:r>
          </a:p>
          <a:p>
            <a:r>
              <a:t>Sources: src/fieldnotes/{ingest,core,mcp_server,memory,perception}.py; docs/visual-memory.md; docs/sessions.md; MobileCLIP2 https://machinelearning.apple.com/research/mobileclip2 ; EdgeTAM https://github.com/facebookresearch/EdgeTAM</a:t>
            </a:r>
          </a:p>
        </p:txBody>
      </p:sp>
      <p:sp>
        <p:nvSpPr>
          <p:cNvPr id="242" name="Google Shape;242;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Next we will improve session review and evaluate interpretations across twenty annotated sessions. Then we will connect a bounded robot observation tool and check its returned evidence. The broader goal is physical agency where an agent can recognize that its knowledge is incomplete and obtain the next observation it needs.</a:t>
            </a:r>
          </a:p>
          <a:p/>
          <a:p>
            <a:r>
              <a:t>[20 s] All three horizons are planned milestones, not achieved results. 20 sessions is a proposed evaluation target (ILLUSTRATIVE), not existing evidence. The long-term milestone is a constrained observation capability, not manipulation. No extra thank-you slide.</a:t>
            </a:r>
          </a:p>
        </p:txBody>
      </p:sp>
      <p:sp>
        <p:nvSpPr>
          <p:cNvPr id="261" name="Google Shape;261;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9"/>
          <p:cNvSpPr/>
          <p:nvPr>
            <p:ph idx="2" type="pic"/>
          </p:nvPr>
        </p:nvSpPr>
        <p:spPr>
          <a:xfrm>
            <a:off x="1792288" y="612775"/>
            <a:ext cx="5486400" cy="4114800"/>
          </a:xfrm>
          <a:prstGeom prst="rect">
            <a:avLst/>
          </a:prstGeom>
          <a:noFill/>
          <a:ln>
            <a:noFill/>
          </a:ln>
        </p:spPr>
      </p:sp>
      <p:sp>
        <p:nvSpPr>
          <p:cNvPr id="64" name="Google Shape;64;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gif"/><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gif"/><Relationship Id="rId4" Type="http://schemas.openxmlformats.org/officeDocument/2006/relationships/image" Target="../media/image1.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gif"/><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gif"/><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gif"/><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gif"/><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gif"/><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gif"/><Relationship Id="rId4" Type="http://schemas.openxmlformats.org/officeDocument/2006/relationships/image" Target="../media/image1.png"/></Relationships>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mission-diagonal-motion.gif" id="109" name="Google Shape;109;g3fb82134820_0_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0" name="Rectangle 109"/>
          <p:cNvSpPr/>
          <p:nvPr/>
        </p:nvSpPr>
        <p:spPr>
          <a:xfrm>
            <a:off x="429768" y="393192"/>
            <a:ext cx="8275320" cy="4352544"/>
          </a:xfrm>
          <a:prstGeom prst="rect">
            <a:avLst/>
          </a:prstGeom>
          <a:solidFill>
            <a:srgbClr val="0D1411"/>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640080" y="502920"/>
            <a:ext cx="5943600" cy="201168"/>
          </a:xfrm>
          <a:prstGeom prst="rect">
            <a:avLst/>
          </a:prstGeom>
          <a:noFill/>
        </p:spPr>
        <p:txBody>
          <a:bodyPr wrap="square" anchor="t" lIns="0" rIns="0" tIns="18288" bIns="18288">
            <a:spAutoFit/>
          </a:bodyPr>
          <a:lstStyle/>
          <a:p>
            <a:pPr algn="l"/>
            <a:r>
              <a:rPr sz="900" b="1" i="0">
                <a:solidFill>
                  <a:srgbClr val="D6F28C"/>
                </a:solidFill>
                <a:latin typeface="Consolas"/>
              </a:rPr>
              <a:t>FIELDNOTES</a:t>
            </a:r>
            <a:r>
              <a:rPr sz="900" b="0" i="0">
                <a:solidFill>
                  <a:srgbClr val="9BA99F"/>
                </a:solidFill>
                <a:latin typeface="Consolas"/>
              </a:rPr>
              <a:t>   /   01  TITLE</a:t>
            </a:r>
          </a:p>
        </p:txBody>
      </p:sp>
      <p:sp>
        <p:nvSpPr>
          <p:cNvPr id="112" name="TextBox 111"/>
          <p:cNvSpPr txBox="1"/>
          <p:nvPr/>
        </p:nvSpPr>
        <p:spPr>
          <a:xfrm>
            <a:off x="7726679" y="521207"/>
            <a:ext cx="731520" cy="228600"/>
          </a:xfrm>
          <a:prstGeom prst="rect">
            <a:avLst/>
          </a:prstGeom>
          <a:noFill/>
        </p:spPr>
        <p:txBody>
          <a:bodyPr wrap="square" anchor="t" lIns="0" rIns="0" tIns="18288" bIns="18288">
            <a:spAutoFit/>
          </a:bodyPr>
          <a:lstStyle/>
          <a:p>
            <a:pPr algn="r"/>
            <a:r>
              <a:rPr sz="1000" b="0" i="0">
                <a:solidFill>
                  <a:srgbClr val="9BA99F"/>
                </a:solidFill>
                <a:latin typeface="Consolas"/>
              </a:rPr>
              <a:t>01</a:t>
            </a:r>
          </a:p>
        </p:txBody>
      </p:sp>
      <p:sp>
        <p:nvSpPr>
          <p:cNvPr id="113" name="TextBox 112"/>
          <p:cNvSpPr txBox="1"/>
          <p:nvPr/>
        </p:nvSpPr>
        <p:spPr>
          <a:xfrm>
            <a:off x="429768" y="4846320"/>
            <a:ext cx="5486400" cy="182880"/>
          </a:xfrm>
          <a:prstGeom prst="rect">
            <a:avLst/>
          </a:prstGeom>
          <a:noFill/>
        </p:spPr>
        <p:txBody>
          <a:bodyPr wrap="square" anchor="t" lIns="0" rIns="0" tIns="18288" bIns="18288">
            <a:spAutoFit/>
          </a:bodyPr>
          <a:lstStyle/>
          <a:p>
            <a:pPr algn="l"/>
            <a:r>
              <a:rPr sz="700" b="0" i="0">
                <a:solidFill>
                  <a:srgbClr val="9BA99F"/>
                </a:solidFill>
                <a:latin typeface="Consolas"/>
              </a:rPr>
              <a:t>FIELDNOTES  /  HACKATHON PROTOTYPE  /  INNOVATION CUP 2026</a:t>
            </a:r>
          </a:p>
        </p:txBody>
      </p:sp>
      <p:sp>
        <p:nvSpPr>
          <p:cNvPr id="114" name="TextBox 113"/>
          <p:cNvSpPr txBox="1"/>
          <p:nvPr/>
        </p:nvSpPr>
        <p:spPr>
          <a:xfrm>
            <a:off x="685800" y="1280160"/>
            <a:ext cx="5029200" cy="914400"/>
          </a:xfrm>
          <a:prstGeom prst="rect">
            <a:avLst/>
          </a:prstGeom>
          <a:noFill/>
        </p:spPr>
        <p:txBody>
          <a:bodyPr wrap="square" anchor="t" lIns="0" rIns="0" tIns="18288" bIns="18288">
            <a:spAutoFit/>
          </a:bodyPr>
          <a:lstStyle/>
          <a:p>
            <a:pPr algn="l"/>
            <a:r>
              <a:rPr sz="4600" b="1" i="0">
                <a:solidFill>
                  <a:srgbClr val="F0F2E9"/>
                </a:solidFill>
                <a:latin typeface="Aptos Display"/>
              </a:rPr>
              <a:t>FieldNotes</a:t>
            </a:r>
          </a:p>
        </p:txBody>
      </p:sp>
      <p:sp>
        <p:nvSpPr>
          <p:cNvPr id="115" name="TextBox 114"/>
          <p:cNvSpPr txBox="1"/>
          <p:nvPr/>
        </p:nvSpPr>
        <p:spPr>
          <a:xfrm>
            <a:off x="685800" y="2194560"/>
            <a:ext cx="5029200" cy="457200"/>
          </a:xfrm>
          <a:prstGeom prst="rect">
            <a:avLst/>
          </a:prstGeom>
          <a:noFill/>
        </p:spPr>
        <p:txBody>
          <a:bodyPr wrap="square" anchor="t" lIns="0" rIns="0" tIns="18288" bIns="18288">
            <a:spAutoFit/>
          </a:bodyPr>
          <a:lstStyle/>
          <a:p>
            <a:pPr algn="l"/>
            <a:r>
              <a:rPr sz="2100" b="0" i="0">
                <a:solidFill>
                  <a:srgbClr val="D6F28C"/>
                </a:solidFill>
                <a:latin typeface="Aptos Display"/>
              </a:rPr>
              <a:t>Physical memory for physical agency</a:t>
            </a:r>
          </a:p>
        </p:txBody>
      </p:sp>
      <p:sp>
        <p:nvSpPr>
          <p:cNvPr id="116" name="TextBox 115"/>
          <p:cNvSpPr txBox="1"/>
          <p:nvPr/>
        </p:nvSpPr>
        <p:spPr>
          <a:xfrm>
            <a:off x="685800" y="2697480"/>
            <a:ext cx="5029200" cy="365760"/>
          </a:xfrm>
          <a:prstGeom prst="rect">
            <a:avLst/>
          </a:prstGeom>
          <a:noFill/>
        </p:spPr>
        <p:txBody>
          <a:bodyPr wrap="square" anchor="t" lIns="0" rIns="0" tIns="18288" bIns="18288">
            <a:spAutoFit/>
          </a:bodyPr>
          <a:lstStyle/>
          <a:p>
            <a:pPr algn="l"/>
            <a:r>
              <a:rPr sz="1300" b="0" i="0">
                <a:solidFill>
                  <a:srgbClr val="9BA99F"/>
                </a:solidFill>
                <a:latin typeface="Aptos"/>
              </a:rPr>
              <a:t>Timestamped observations that AI agents can revisit</a:t>
            </a:r>
          </a:p>
        </p:txBody>
      </p:sp>
      <p:sp>
        <p:nvSpPr>
          <p:cNvPr id="117" name="Rounded Rectangle 116"/>
          <p:cNvSpPr/>
          <p:nvPr/>
        </p:nvSpPr>
        <p:spPr>
          <a:xfrm>
            <a:off x="685800" y="3337560"/>
            <a:ext cx="1737360" cy="274320"/>
          </a:xfrm>
          <a:prstGeom prst="roundRect">
            <a:avLst>
              <a:gd name="adj" fmla="val 50000"/>
            </a:avLst>
          </a:prstGeom>
          <a:noFill/>
          <a:ln w="9525">
            <a:solidFill>
              <a:srgbClr val="9BA99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Box 117"/>
          <p:cNvSpPr txBox="1"/>
          <p:nvPr/>
        </p:nvSpPr>
        <p:spPr>
          <a:xfrm>
            <a:off x="685800" y="3337560"/>
            <a:ext cx="1737360" cy="274320"/>
          </a:xfrm>
          <a:prstGeom prst="rect">
            <a:avLst/>
          </a:prstGeom>
          <a:noFill/>
        </p:spPr>
        <p:txBody>
          <a:bodyPr wrap="square" anchor="ctr" lIns="0" rIns="0" tIns="18288" bIns="18288">
            <a:spAutoFit/>
          </a:bodyPr>
          <a:lstStyle/>
          <a:p>
            <a:pPr algn="ctr"/>
            <a:r>
              <a:rPr sz="800" b="1" i="0">
                <a:solidFill>
                  <a:srgbClr val="9BA99F"/>
                </a:solidFill>
                <a:latin typeface="Consolas"/>
              </a:rPr>
              <a:t>HACKATHON PROTOTYPE</a:t>
            </a:r>
          </a:p>
        </p:txBody>
      </p:sp>
      <p:sp>
        <p:nvSpPr>
          <p:cNvPr id="119" name="TextBox 118"/>
          <p:cNvSpPr txBox="1"/>
          <p:nvPr/>
        </p:nvSpPr>
        <p:spPr>
          <a:xfrm>
            <a:off x="685800" y="3931920"/>
            <a:ext cx="5029200" cy="457200"/>
          </a:xfrm>
          <a:prstGeom prst="rect">
            <a:avLst/>
          </a:prstGeom>
          <a:noFill/>
        </p:spPr>
        <p:txBody>
          <a:bodyPr wrap="square" anchor="t" lIns="0" rIns="0" tIns="18288" bIns="18288">
            <a:spAutoFit/>
          </a:bodyPr>
          <a:lstStyle/>
          <a:p>
            <a:pPr algn="l"/>
            <a:r>
              <a:rPr sz="1000" b="0" i="0">
                <a:solidFill>
                  <a:srgbClr val="9BA99F"/>
                </a:solidFill>
                <a:latin typeface="Aptos"/>
              </a:rPr>
              <a:t>Drone → timestamped evidence → MCP → agent.  </a:t>
            </a:r>
            <a:r>
              <a:rPr sz="1000" b="0" i="0">
                <a:solidFill>
                  <a:srgbClr val="C9A24A"/>
                </a:solidFill>
                <a:latin typeface="Aptos"/>
              </a:rPr>
              <a:t>Human controls flight.</a:t>
            </a:r>
          </a:p>
        </p:txBody>
      </p:sp>
      <p:pic>
        <p:nvPicPr>
          <p:cNvPr id="120" name="Picture 119" descr="cover.png"/>
          <p:cNvPicPr>
            <a:picLocks noChangeAspect="1"/>
          </p:cNvPicPr>
          <p:nvPr/>
        </p:nvPicPr>
        <p:blipFill>
          <a:blip r:embed="rId4"/>
          <a:srcRect l="14242" r="14242"/>
          <a:stretch>
            <a:fillRect/>
          </a:stretch>
        </p:blipFill>
        <p:spPr>
          <a:xfrm>
            <a:off x="5806440" y="868680"/>
            <a:ext cx="2697480" cy="2514600"/>
          </a:xfrm>
          <a:prstGeom prst="rect">
            <a:avLst/>
          </a:prstGeom>
        </p:spPr>
      </p:pic>
      <p:sp>
        <p:nvSpPr>
          <p:cNvPr id="121" name="Rectangle 120"/>
          <p:cNvSpPr/>
          <p:nvPr/>
        </p:nvSpPr>
        <p:spPr>
          <a:xfrm>
            <a:off x="5806440" y="868680"/>
            <a:ext cx="2697480" cy="2514600"/>
          </a:xfrm>
          <a:prstGeom prst="rect">
            <a:avLst/>
          </a:prstGeom>
          <a:no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Box 121"/>
          <p:cNvSpPr txBox="1"/>
          <p:nvPr/>
        </p:nvSpPr>
        <p:spPr>
          <a:xfrm>
            <a:off x="5806440" y="3401568"/>
            <a:ext cx="2697480" cy="182880"/>
          </a:xfrm>
          <a:prstGeom prst="rect">
            <a:avLst/>
          </a:prstGeom>
          <a:noFill/>
        </p:spPr>
        <p:txBody>
          <a:bodyPr wrap="square" anchor="t" lIns="0" rIns="0" tIns="18288" bIns="18288">
            <a:spAutoFit/>
          </a:bodyPr>
          <a:lstStyle/>
          <a:p>
            <a:pPr algn="l"/>
            <a:r>
              <a:rPr sz="700" b="0" i="0">
                <a:solidFill>
                  <a:srgbClr val="9BA99F"/>
                </a:solidFill>
                <a:latin typeface="Consolas"/>
              </a:rPr>
              <a:t>CONCEPT ART · NOT RECORDED EVIDENCE</a:t>
            </a:r>
          </a:p>
        </p:txBody>
      </p:sp>
      <p:sp>
        <p:nvSpPr>
          <p:cNvPr id="123" name="Rectangle 122"/>
          <p:cNvSpPr/>
          <p:nvPr/>
        </p:nvSpPr>
        <p:spPr>
          <a:xfrm>
            <a:off x="5806440" y="3611880"/>
            <a:ext cx="603504" cy="365760"/>
          </a:xfrm>
          <a:prstGeom prst="rect">
            <a:avLst/>
          </a:prstGeom>
          <a:solidFill>
            <a:srgbClr val="19231D"/>
          </a:solidFill>
          <a:ln w="9525">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5806440" y="3986784"/>
            <a:ext cx="603504" cy="182880"/>
          </a:xfrm>
          <a:prstGeom prst="rect">
            <a:avLst/>
          </a:prstGeom>
          <a:noFill/>
        </p:spPr>
        <p:txBody>
          <a:bodyPr wrap="square" anchor="t" lIns="0" rIns="0" tIns="18288" bIns="18288">
            <a:spAutoFit/>
          </a:bodyPr>
          <a:lstStyle/>
          <a:p>
            <a:pPr algn="ctr"/>
            <a:r>
              <a:rPr sz="700" b="0" i="0">
                <a:solidFill>
                  <a:srgbClr val="9BA99F"/>
                </a:solidFill>
                <a:latin typeface="Consolas"/>
              </a:rPr>
              <a:t>t0</a:t>
            </a:r>
          </a:p>
        </p:txBody>
      </p:sp>
      <p:sp>
        <p:nvSpPr>
          <p:cNvPr id="125" name="Rectangle 124"/>
          <p:cNvSpPr/>
          <p:nvPr/>
        </p:nvSpPr>
        <p:spPr>
          <a:xfrm>
            <a:off x="6501383" y="3611880"/>
            <a:ext cx="603504" cy="365760"/>
          </a:xfrm>
          <a:prstGeom prst="rect">
            <a:avLst/>
          </a:prstGeom>
          <a:solidFill>
            <a:srgbClr val="19231D"/>
          </a:solidFill>
          <a:ln w="9525">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6501383" y="3986784"/>
            <a:ext cx="603504" cy="182880"/>
          </a:xfrm>
          <a:prstGeom prst="rect">
            <a:avLst/>
          </a:prstGeom>
          <a:noFill/>
        </p:spPr>
        <p:txBody>
          <a:bodyPr wrap="square" anchor="t" lIns="0" rIns="0" tIns="18288" bIns="18288">
            <a:spAutoFit/>
          </a:bodyPr>
          <a:lstStyle/>
          <a:p>
            <a:pPr algn="ctr"/>
            <a:r>
              <a:rPr sz="700" b="0" i="0">
                <a:solidFill>
                  <a:srgbClr val="9BA99F"/>
                </a:solidFill>
                <a:latin typeface="Consolas"/>
              </a:rPr>
              <a:t>t1</a:t>
            </a:r>
          </a:p>
        </p:txBody>
      </p:sp>
      <p:sp>
        <p:nvSpPr>
          <p:cNvPr id="127" name="Rectangle 126"/>
          <p:cNvSpPr/>
          <p:nvPr/>
        </p:nvSpPr>
        <p:spPr>
          <a:xfrm>
            <a:off x="7196327" y="3611880"/>
            <a:ext cx="603504" cy="365760"/>
          </a:xfrm>
          <a:prstGeom prst="rect">
            <a:avLst/>
          </a:prstGeom>
          <a:solidFill>
            <a:srgbClr val="19231D"/>
          </a:solidFill>
          <a:ln w="9525">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7196327" y="3986784"/>
            <a:ext cx="603504" cy="182880"/>
          </a:xfrm>
          <a:prstGeom prst="rect">
            <a:avLst/>
          </a:prstGeom>
          <a:noFill/>
        </p:spPr>
        <p:txBody>
          <a:bodyPr wrap="square" anchor="t" lIns="0" rIns="0" tIns="18288" bIns="18288">
            <a:spAutoFit/>
          </a:bodyPr>
          <a:lstStyle/>
          <a:p>
            <a:pPr algn="ctr"/>
            <a:r>
              <a:rPr sz="700" b="0" i="0">
                <a:solidFill>
                  <a:srgbClr val="9BA99F"/>
                </a:solidFill>
                <a:latin typeface="Consolas"/>
              </a:rPr>
              <a:t>t2</a:t>
            </a:r>
          </a:p>
        </p:txBody>
      </p:sp>
      <p:sp>
        <p:nvSpPr>
          <p:cNvPr id="129" name="Rectangle 128"/>
          <p:cNvSpPr/>
          <p:nvPr/>
        </p:nvSpPr>
        <p:spPr>
          <a:xfrm>
            <a:off x="7891271" y="3611880"/>
            <a:ext cx="603504" cy="365760"/>
          </a:xfrm>
          <a:prstGeom prst="rect">
            <a:avLst/>
          </a:prstGeom>
          <a:solidFill>
            <a:srgbClr val="19231D"/>
          </a:solidFill>
          <a:ln w="9525">
            <a:solidFill>
              <a:srgbClr val="D6F2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7891271" y="3986784"/>
            <a:ext cx="603504" cy="182880"/>
          </a:xfrm>
          <a:prstGeom prst="rect">
            <a:avLst/>
          </a:prstGeom>
          <a:noFill/>
        </p:spPr>
        <p:txBody>
          <a:bodyPr wrap="square" anchor="t" lIns="0" rIns="0" tIns="18288" bIns="18288">
            <a:spAutoFit/>
          </a:bodyPr>
          <a:lstStyle/>
          <a:p>
            <a:pPr algn="ctr"/>
            <a:r>
              <a:rPr sz="700" b="0" i="0">
                <a:solidFill>
                  <a:srgbClr val="D6F28C"/>
                </a:solidFill>
                <a:latin typeface="Consolas"/>
              </a:rPr>
              <a:t>t3</a:t>
            </a:r>
          </a:p>
        </p:txBody>
      </p:sp>
      <p:cxnSp>
        <p:nvCxnSpPr>
          <p:cNvPr id="131" name="Connector 130"/>
          <p:cNvCxnSpPr/>
          <p:nvPr/>
        </p:nvCxnSpPr>
        <p:spPr>
          <a:xfrm>
            <a:off x="5806440" y="4224528"/>
            <a:ext cx="2697480" cy="0"/>
          </a:xfrm>
          <a:prstGeom prst="line">
            <a:avLst/>
          </a:prstGeom>
          <a:ln w="9525">
            <a:solidFill>
              <a:srgbClr val="2E3B33"/>
            </a:solidFill>
            <a:tailEnd type="triangle" w="sm" len="sm"/>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5806440" y="4261104"/>
            <a:ext cx="2011680" cy="182880"/>
          </a:xfrm>
          <a:prstGeom prst="rect">
            <a:avLst/>
          </a:prstGeom>
          <a:noFill/>
        </p:spPr>
        <p:txBody>
          <a:bodyPr wrap="square" anchor="t" lIns="0" rIns="0" tIns="18288" bIns="18288">
            <a:spAutoFit/>
          </a:bodyPr>
          <a:lstStyle/>
          <a:p>
            <a:pPr algn="l"/>
            <a:r>
              <a:rPr sz="700" b="0" i="0">
                <a:solidFill>
                  <a:srgbClr val="9BA99F"/>
                </a:solidFill>
                <a:latin typeface="Consolas"/>
              </a:rPr>
              <a:t>observations across time (motif)</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descr="image.gif" id="119" name="Google Shape;119;p3"/>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126" name="Google Shape;126;p3"/>
          <p:cNvPicPr preferRelativeResize="0"/>
          <p:nvPr/>
        </p:nvPicPr>
        <p:blipFill rotWithShape="1">
          <a:blip r:embed="rId4">
            <a:alphaModFix/>
          </a:blip>
          <a:srcRect b="0" l="0" r="0" t="0"/>
          <a:stretch/>
        </p:blipFill>
        <p:spPr>
          <a:xfrm>
            <a:off x="7708392" y="4882896"/>
            <a:ext cx="1024128" cy="155448"/>
          </a:xfrm>
          <a:prstGeom prst="rect">
            <a:avLst/>
          </a:prstGeom>
          <a:noFill/>
          <a:ln>
            <a:noFill/>
          </a:ln>
        </p:spPr>
      </p:pic>
      <p:sp>
        <p:nvSpPr>
          <p:cNvPr id="127" name="Rectangle 126"/>
          <p:cNvSpPr/>
          <p:nvPr/>
        </p:nvSpPr>
        <p:spPr>
          <a:xfrm>
            <a:off x="429768" y="393192"/>
            <a:ext cx="8275320" cy="4352544"/>
          </a:xfrm>
          <a:prstGeom prst="rect">
            <a:avLst/>
          </a:prstGeom>
          <a:solidFill>
            <a:srgbClr val="0D1411"/>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Box 127"/>
          <p:cNvSpPr txBox="1"/>
          <p:nvPr/>
        </p:nvSpPr>
        <p:spPr>
          <a:xfrm>
            <a:off x="640080" y="502920"/>
            <a:ext cx="5943600" cy="201168"/>
          </a:xfrm>
          <a:prstGeom prst="rect">
            <a:avLst/>
          </a:prstGeom>
          <a:noFill/>
        </p:spPr>
        <p:txBody>
          <a:bodyPr wrap="square" anchor="t" lIns="0" rIns="0" tIns="18288" bIns="18288">
            <a:spAutoFit/>
          </a:bodyPr>
          <a:lstStyle/>
          <a:p>
            <a:pPr algn="l"/>
            <a:r>
              <a:rPr sz="900" b="1" i="0">
                <a:solidFill>
                  <a:srgbClr val="D6F28C"/>
                </a:solidFill>
                <a:latin typeface="Consolas"/>
              </a:rPr>
              <a:t>FIELDNOTES</a:t>
            </a:r>
            <a:r>
              <a:rPr sz="900" b="0" i="0">
                <a:solidFill>
                  <a:srgbClr val="9BA99F"/>
                </a:solidFill>
                <a:latin typeface="Consolas"/>
              </a:rPr>
              <a:t>   /   02  PROBLEM &amp; URGENCY</a:t>
            </a:r>
          </a:p>
        </p:txBody>
      </p:sp>
      <p:sp>
        <p:nvSpPr>
          <p:cNvPr id="129" name="TextBox 128"/>
          <p:cNvSpPr txBox="1"/>
          <p:nvPr/>
        </p:nvSpPr>
        <p:spPr>
          <a:xfrm>
            <a:off x="7726679" y="521207"/>
            <a:ext cx="731520" cy="228600"/>
          </a:xfrm>
          <a:prstGeom prst="rect">
            <a:avLst/>
          </a:prstGeom>
          <a:noFill/>
        </p:spPr>
        <p:txBody>
          <a:bodyPr wrap="square" anchor="t" lIns="0" rIns="0" tIns="18288" bIns="18288">
            <a:spAutoFit/>
          </a:bodyPr>
          <a:lstStyle/>
          <a:p>
            <a:pPr algn="r"/>
            <a:r>
              <a:rPr sz="1000" b="0" i="0">
                <a:solidFill>
                  <a:srgbClr val="9BA99F"/>
                </a:solidFill>
                <a:latin typeface="Consolas"/>
              </a:rPr>
              <a:t>02</a:t>
            </a:r>
          </a:p>
        </p:txBody>
      </p:sp>
      <p:sp>
        <p:nvSpPr>
          <p:cNvPr id="130" name="TextBox 129"/>
          <p:cNvSpPr txBox="1"/>
          <p:nvPr/>
        </p:nvSpPr>
        <p:spPr>
          <a:xfrm>
            <a:off x="429768" y="4846320"/>
            <a:ext cx="5486400" cy="182880"/>
          </a:xfrm>
          <a:prstGeom prst="rect">
            <a:avLst/>
          </a:prstGeom>
          <a:noFill/>
        </p:spPr>
        <p:txBody>
          <a:bodyPr wrap="square" anchor="t" lIns="0" rIns="0" tIns="18288" bIns="18288">
            <a:spAutoFit/>
          </a:bodyPr>
          <a:lstStyle/>
          <a:p>
            <a:pPr algn="l"/>
            <a:r>
              <a:rPr sz="700" b="0" i="0">
                <a:solidFill>
                  <a:srgbClr val="9BA99F"/>
                </a:solidFill>
                <a:latin typeface="Consolas"/>
              </a:rPr>
              <a:t>FIELDNOTES  /  HACKATHON PROTOTYPE  /  INNOVATION CUP 2026</a:t>
            </a:r>
          </a:p>
        </p:txBody>
      </p:sp>
      <p:sp>
        <p:nvSpPr>
          <p:cNvPr id="131" name="TextBox 130"/>
          <p:cNvSpPr txBox="1"/>
          <p:nvPr/>
        </p:nvSpPr>
        <p:spPr>
          <a:xfrm>
            <a:off x="640080" y="786384"/>
            <a:ext cx="7863840" cy="658368"/>
          </a:xfrm>
          <a:prstGeom prst="rect">
            <a:avLst/>
          </a:prstGeom>
          <a:noFill/>
        </p:spPr>
        <p:txBody>
          <a:bodyPr wrap="square" anchor="b" lIns="0" rIns="0" tIns="18288" bIns="18288">
            <a:spAutoFit/>
          </a:bodyPr>
          <a:lstStyle/>
          <a:p>
            <a:pPr algn="l"/>
            <a:r>
              <a:rPr sz="2100" b="1" i="0">
                <a:solidFill>
                  <a:srgbClr val="F0F2E9"/>
                </a:solidFill>
                <a:latin typeface="Aptos Display"/>
              </a:rPr>
              <a:t>A physical decision depends on what is still true</a:t>
            </a:r>
          </a:p>
        </p:txBody>
      </p:sp>
      <p:sp>
        <p:nvSpPr>
          <p:cNvPr id="132" name="TextBox 131"/>
          <p:cNvSpPr txBox="1"/>
          <p:nvPr/>
        </p:nvSpPr>
        <p:spPr>
          <a:xfrm>
            <a:off x="640080" y="1463040"/>
            <a:ext cx="7863840" cy="228600"/>
          </a:xfrm>
          <a:prstGeom prst="rect">
            <a:avLst/>
          </a:prstGeom>
          <a:noFill/>
        </p:spPr>
        <p:txBody>
          <a:bodyPr wrap="square" anchor="t" lIns="0" rIns="0" tIns="18288" bIns="18288">
            <a:spAutoFit/>
          </a:bodyPr>
          <a:lstStyle/>
          <a:p>
            <a:pPr algn="l"/>
            <a:r>
              <a:rPr sz="1000" b="0" i="0">
                <a:solidFill>
                  <a:srgbClr val="9BA99F"/>
                </a:solidFill>
                <a:latin typeface="Aptos"/>
              </a:rPr>
              <a:t>Problem + Inspiration: 200 words maximum across slides 02–03</a:t>
            </a:r>
          </a:p>
        </p:txBody>
      </p:sp>
      <p:cxnSp>
        <p:nvCxnSpPr>
          <p:cNvPr id="133" name="Connector 132"/>
          <p:cNvCxnSpPr/>
          <p:nvPr/>
        </p:nvCxnSpPr>
        <p:spPr>
          <a:xfrm>
            <a:off x="640080" y="1737360"/>
            <a:ext cx="7818120" cy="0"/>
          </a:xfrm>
          <a:prstGeom prst="line">
            <a:avLst/>
          </a:prstGeom>
          <a:ln w="9525">
            <a:solidFill>
              <a:srgbClr val="2E3B33"/>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640080" y="1847088"/>
            <a:ext cx="3657600" cy="201168"/>
          </a:xfrm>
          <a:prstGeom prst="rect">
            <a:avLst/>
          </a:prstGeom>
          <a:noFill/>
        </p:spPr>
        <p:txBody>
          <a:bodyPr wrap="square" anchor="t" lIns="0" rIns="0" tIns="18288" bIns="18288">
            <a:spAutoFit/>
          </a:bodyPr>
          <a:lstStyle/>
          <a:p>
            <a:pPr algn="l"/>
            <a:r>
              <a:rPr sz="800" b="1" i="0">
                <a:solidFill>
                  <a:srgbClr val="D6F28C"/>
                </a:solidFill>
                <a:latin typeface="Consolas"/>
              </a:rPr>
              <a:t>WHO  ·  FOR PEOPLE OVERSEEING PHYSICAL WORK</a:t>
            </a:r>
          </a:p>
        </p:txBody>
      </p:sp>
      <p:sp>
        <p:nvSpPr>
          <p:cNvPr id="135" name="TextBox 134"/>
          <p:cNvSpPr txBox="1"/>
          <p:nvPr/>
        </p:nvSpPr>
        <p:spPr>
          <a:xfrm>
            <a:off x="640080" y="2057400"/>
            <a:ext cx="4754880" cy="731520"/>
          </a:xfrm>
          <a:prstGeom prst="rect">
            <a:avLst/>
          </a:prstGeom>
          <a:noFill/>
        </p:spPr>
        <p:txBody>
          <a:bodyPr wrap="square" anchor="t" lIns="0" rIns="0" tIns="18288" bIns="18288">
            <a:spAutoFit/>
          </a:bodyPr>
          <a:lstStyle/>
          <a:p>
            <a:pPr algn="l"/>
            <a:r>
              <a:rPr sz="2000" b="1" i="0">
                <a:solidFill>
                  <a:srgbClr val="F0F2E9"/>
                </a:solidFill>
                <a:latin typeface="Aptos Display"/>
              </a:rPr>
              <a:t>“Is the workstation ready for the next job?”</a:t>
            </a:r>
          </a:p>
        </p:txBody>
      </p:sp>
      <p:sp>
        <p:nvSpPr>
          <p:cNvPr id="136" name="TextBox 135"/>
          <p:cNvSpPr txBox="1"/>
          <p:nvPr/>
        </p:nvSpPr>
        <p:spPr>
          <a:xfrm>
            <a:off x="640080" y="2898648"/>
            <a:ext cx="1463040" cy="201168"/>
          </a:xfrm>
          <a:prstGeom prst="rect">
            <a:avLst/>
          </a:prstGeom>
          <a:noFill/>
        </p:spPr>
        <p:txBody>
          <a:bodyPr wrap="square" anchor="t" lIns="0" rIns="0" tIns="18288" bIns="18288">
            <a:spAutoFit/>
          </a:bodyPr>
          <a:lstStyle/>
          <a:p>
            <a:pPr algn="l"/>
            <a:r>
              <a:rPr sz="800" b="1" i="0">
                <a:solidFill>
                  <a:srgbClr val="9BA99F"/>
                </a:solidFill>
                <a:latin typeface="Consolas"/>
              </a:rPr>
              <a:t>WHAT</a:t>
            </a:r>
          </a:p>
        </p:txBody>
      </p:sp>
      <p:sp>
        <p:nvSpPr>
          <p:cNvPr id="137" name="TextBox 136"/>
          <p:cNvSpPr txBox="1"/>
          <p:nvPr/>
        </p:nvSpPr>
        <p:spPr>
          <a:xfrm>
            <a:off x="2011680" y="2862072"/>
            <a:ext cx="3383280" cy="274320"/>
          </a:xfrm>
          <a:prstGeom prst="rect">
            <a:avLst/>
          </a:prstGeom>
          <a:noFill/>
        </p:spPr>
        <p:txBody>
          <a:bodyPr wrap="square" anchor="t" lIns="0" rIns="0" tIns="18288" bIns="18288">
            <a:spAutoFit/>
          </a:bodyPr>
          <a:lstStyle/>
          <a:p>
            <a:pPr algn="l"/>
            <a:r>
              <a:rPr sz="1100" b="0" i="0">
                <a:solidFill>
                  <a:srgbClr val="F0F2E9"/>
                </a:solidFill>
                <a:latin typeface="Aptos"/>
              </a:rPr>
              <a:t>Earlier images may be stale.</a:t>
            </a:r>
          </a:p>
        </p:txBody>
      </p:sp>
      <p:cxnSp>
        <p:nvCxnSpPr>
          <p:cNvPr id="138" name="Connector 137"/>
          <p:cNvCxnSpPr/>
          <p:nvPr/>
        </p:nvCxnSpPr>
        <p:spPr>
          <a:xfrm>
            <a:off x="640080" y="3154680"/>
            <a:ext cx="4754880" cy="0"/>
          </a:xfrm>
          <a:prstGeom prst="line">
            <a:avLst/>
          </a:prstGeom>
          <a:ln w="9525">
            <a:solidFill>
              <a:srgbClr val="2E3B3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640080" y="3246120"/>
            <a:ext cx="1463040" cy="201168"/>
          </a:xfrm>
          <a:prstGeom prst="rect">
            <a:avLst/>
          </a:prstGeom>
          <a:noFill/>
        </p:spPr>
        <p:txBody>
          <a:bodyPr wrap="square" anchor="t" lIns="0" rIns="0" tIns="18288" bIns="18288">
            <a:spAutoFit/>
          </a:bodyPr>
          <a:lstStyle/>
          <a:p>
            <a:pPr algn="l"/>
            <a:r>
              <a:rPr sz="800" b="1" i="0">
                <a:solidFill>
                  <a:srgbClr val="9BA99F"/>
                </a:solidFill>
                <a:latin typeface="Consolas"/>
              </a:rPr>
              <a:t>WHY IT MATTERS NOW</a:t>
            </a:r>
          </a:p>
        </p:txBody>
      </p:sp>
      <p:sp>
        <p:nvSpPr>
          <p:cNvPr id="140" name="TextBox 139"/>
          <p:cNvSpPr txBox="1"/>
          <p:nvPr/>
        </p:nvSpPr>
        <p:spPr>
          <a:xfrm>
            <a:off x="2011680" y="3209544"/>
            <a:ext cx="3383280" cy="274320"/>
          </a:xfrm>
          <a:prstGeom prst="rect">
            <a:avLst/>
          </a:prstGeom>
          <a:noFill/>
        </p:spPr>
        <p:txBody>
          <a:bodyPr wrap="square" anchor="t" lIns="0" rIns="0" tIns="18288" bIns="18288">
            <a:spAutoFit/>
          </a:bodyPr>
          <a:lstStyle/>
          <a:p>
            <a:pPr algn="l"/>
            <a:r>
              <a:rPr sz="1100" b="0" i="0">
                <a:solidFill>
                  <a:srgbClr val="F0F2E9"/>
                </a:solidFill>
                <a:latin typeface="Aptos"/>
              </a:rPr>
              <a:t>Missing objects may simply be out of view.</a:t>
            </a:r>
          </a:p>
        </p:txBody>
      </p:sp>
      <p:cxnSp>
        <p:nvCxnSpPr>
          <p:cNvPr id="141" name="Connector 140"/>
          <p:cNvCxnSpPr/>
          <p:nvPr/>
        </p:nvCxnSpPr>
        <p:spPr>
          <a:xfrm>
            <a:off x="640080" y="3502152"/>
            <a:ext cx="4754880" cy="0"/>
          </a:xfrm>
          <a:prstGeom prst="line">
            <a:avLst/>
          </a:prstGeom>
          <a:ln w="9525">
            <a:solidFill>
              <a:srgbClr val="2E3B33"/>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640080" y="3593592"/>
            <a:ext cx="1463040" cy="201168"/>
          </a:xfrm>
          <a:prstGeom prst="rect">
            <a:avLst/>
          </a:prstGeom>
          <a:noFill/>
        </p:spPr>
        <p:txBody>
          <a:bodyPr wrap="square" anchor="t" lIns="0" rIns="0" tIns="18288" bIns="18288">
            <a:spAutoFit/>
          </a:bodyPr>
          <a:lstStyle/>
          <a:p>
            <a:pPr algn="l"/>
            <a:r>
              <a:rPr sz="800" b="1" i="0">
                <a:solidFill>
                  <a:srgbClr val="9BA99F"/>
                </a:solidFill>
                <a:latin typeface="Consolas"/>
              </a:rPr>
              <a:t>CURRENT OPTION</a:t>
            </a:r>
          </a:p>
        </p:txBody>
      </p:sp>
      <p:sp>
        <p:nvSpPr>
          <p:cNvPr id="143" name="TextBox 142"/>
          <p:cNvSpPr txBox="1"/>
          <p:nvPr/>
        </p:nvSpPr>
        <p:spPr>
          <a:xfrm>
            <a:off x="2011680" y="3557016"/>
            <a:ext cx="3383280" cy="274320"/>
          </a:xfrm>
          <a:prstGeom prst="rect">
            <a:avLst/>
          </a:prstGeom>
          <a:noFill/>
        </p:spPr>
        <p:txBody>
          <a:bodyPr wrap="square" anchor="t" lIns="0" rIns="0" tIns="18288" bIns="18288">
            <a:spAutoFit/>
          </a:bodyPr>
          <a:lstStyle/>
          <a:p>
            <a:pPr algn="l"/>
            <a:r>
              <a:rPr sz="1100" b="0" i="0">
                <a:solidFill>
                  <a:srgbClr val="F0F2E9"/>
                </a:solidFill>
                <a:latin typeface="Aptos"/>
              </a:rPr>
              <a:t>Reviewing footage still takes human attention.</a:t>
            </a:r>
          </a:p>
        </p:txBody>
      </p:sp>
      <p:cxnSp>
        <p:nvCxnSpPr>
          <p:cNvPr id="144" name="Connector 143"/>
          <p:cNvCxnSpPr/>
          <p:nvPr/>
        </p:nvCxnSpPr>
        <p:spPr>
          <a:xfrm>
            <a:off x="640080" y="3849624"/>
            <a:ext cx="4754880" cy="0"/>
          </a:xfrm>
          <a:prstGeom prst="line">
            <a:avLst/>
          </a:prstGeom>
          <a:ln w="9525">
            <a:solidFill>
              <a:srgbClr val="2E3B33"/>
            </a:solidFill>
          </a:ln>
        </p:spPr>
        <p:style>
          <a:lnRef idx="2">
            <a:schemeClr val="accent1"/>
          </a:lnRef>
          <a:fillRef idx="0">
            <a:schemeClr val="accent1"/>
          </a:fillRef>
          <a:effectRef idx="1">
            <a:schemeClr val="accent1"/>
          </a:effectRef>
          <a:fontRef idx="minor">
            <a:schemeClr val="tx1"/>
          </a:fontRef>
        </p:style>
      </p:cxnSp>
      <p:sp>
        <p:nvSpPr>
          <p:cNvPr id="145" name="TextBox 144"/>
          <p:cNvSpPr txBox="1"/>
          <p:nvPr/>
        </p:nvSpPr>
        <p:spPr>
          <a:xfrm>
            <a:off x="640080" y="3950208"/>
            <a:ext cx="4754880" cy="274320"/>
          </a:xfrm>
          <a:prstGeom prst="rect">
            <a:avLst/>
          </a:prstGeom>
          <a:noFill/>
        </p:spPr>
        <p:txBody>
          <a:bodyPr wrap="square" anchor="t" lIns="0" rIns="0" tIns="18288" bIns="18288">
            <a:spAutoFit/>
          </a:bodyPr>
          <a:lstStyle/>
          <a:p>
            <a:pPr algn="l"/>
            <a:r>
              <a:rPr sz="1000" b="0" i="0">
                <a:solidFill>
                  <a:srgbClr val="D6F28C"/>
                </a:solidFill>
                <a:latin typeface="Aptos"/>
              </a:rPr>
              <a:t>A capable agent needs recent evidence, not only a plausible answer.</a:t>
            </a:r>
          </a:p>
        </p:txBody>
      </p:sp>
      <p:sp>
        <p:nvSpPr>
          <p:cNvPr id="146" name="TextBox 145"/>
          <p:cNvSpPr txBox="1"/>
          <p:nvPr/>
        </p:nvSpPr>
        <p:spPr>
          <a:xfrm>
            <a:off x="640080" y="4206240"/>
            <a:ext cx="4754880" cy="228600"/>
          </a:xfrm>
          <a:prstGeom prst="rect">
            <a:avLst/>
          </a:prstGeom>
          <a:noFill/>
        </p:spPr>
        <p:txBody>
          <a:bodyPr wrap="square" anchor="t" lIns="0" rIns="0" tIns="18288" bIns="18288">
            <a:spAutoFit/>
          </a:bodyPr>
          <a:lstStyle/>
          <a:p>
            <a:pPr algn="l"/>
            <a:r>
              <a:rPr sz="800" b="0" i="0">
                <a:solidFill>
                  <a:srgbClr val="9BA99F"/>
                </a:solidFill>
                <a:latin typeface="Consolas"/>
              </a:rPr>
              <a:t>Research: SayCan · DynaMem · Gemini Robotics (see notes)</a:t>
            </a:r>
          </a:p>
        </p:txBody>
      </p:sp>
      <p:pic>
        <p:nvPicPr>
          <p:cNvPr id="147" name="Picture 146" descr="problem.png"/>
          <p:cNvPicPr>
            <a:picLocks noChangeAspect="1"/>
          </p:cNvPicPr>
          <p:nvPr/>
        </p:nvPicPr>
        <p:blipFill>
          <a:blip r:embed="rId5"/>
          <a:srcRect l="5556" r="5556"/>
          <a:stretch>
            <a:fillRect/>
          </a:stretch>
        </p:blipFill>
        <p:spPr>
          <a:xfrm>
            <a:off x="5577840" y="1828800"/>
            <a:ext cx="2926080" cy="2194560"/>
          </a:xfrm>
          <a:prstGeom prst="rect">
            <a:avLst/>
          </a:prstGeom>
        </p:spPr>
      </p:pic>
      <p:sp>
        <p:nvSpPr>
          <p:cNvPr id="148" name="Rectangle 147"/>
          <p:cNvSpPr/>
          <p:nvPr/>
        </p:nvSpPr>
        <p:spPr>
          <a:xfrm>
            <a:off x="5577840" y="1828800"/>
            <a:ext cx="2926080" cy="2194560"/>
          </a:xfrm>
          <a:prstGeom prst="rect">
            <a:avLst/>
          </a:prstGeom>
          <a:no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TextBox 148"/>
          <p:cNvSpPr txBox="1"/>
          <p:nvPr/>
        </p:nvSpPr>
        <p:spPr>
          <a:xfrm>
            <a:off x="5577840" y="4069080"/>
            <a:ext cx="2926080" cy="182880"/>
          </a:xfrm>
          <a:prstGeom prst="rect">
            <a:avLst/>
          </a:prstGeom>
          <a:noFill/>
        </p:spPr>
        <p:txBody>
          <a:bodyPr wrap="square" anchor="t" lIns="0" rIns="0" tIns="18288" bIns="18288">
            <a:spAutoFit/>
          </a:bodyPr>
          <a:lstStyle/>
          <a:p>
            <a:pPr algn="l"/>
            <a:r>
              <a:rPr sz="700" b="0" i="0">
                <a:solidFill>
                  <a:srgbClr val="9BA99F"/>
                </a:solidFill>
                <a:latin typeface="Consolas"/>
              </a:rPr>
              <a:t>ILLUSTRATIVE WORK SCENARIO · CONCEPT ART</a:t>
            </a:r>
          </a:p>
        </p:txBody>
      </p:sp>
      <p:sp>
        <p:nvSpPr>
          <p:cNvPr id="150" name="TextBox 149"/>
          <p:cNvSpPr txBox="1"/>
          <p:nvPr/>
        </p:nvSpPr>
        <p:spPr>
          <a:xfrm>
            <a:off x="5577840" y="4224528"/>
            <a:ext cx="2926080" cy="274320"/>
          </a:xfrm>
          <a:prstGeom prst="rect">
            <a:avLst/>
          </a:prstGeom>
          <a:noFill/>
        </p:spPr>
        <p:txBody>
          <a:bodyPr wrap="square" anchor="t" lIns="0" rIns="0" tIns="18288" bIns="18288">
            <a:spAutoFit/>
          </a:bodyPr>
          <a:lstStyle/>
          <a:p>
            <a:pPr algn="l"/>
            <a:r>
              <a:rPr sz="800" b="0" i="0">
                <a:solidFill>
                  <a:srgbClr val="C9A24A"/>
                </a:solidFill>
                <a:latin typeface="Aptos"/>
              </a:rPr>
              <a:t>Part of the surface is hidden: an unseen object is unknown, not absent.</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descr="image.gif" id="148" name="Google Shape;148;p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155" name="Google Shape;155;p4"/>
          <p:cNvPicPr preferRelativeResize="0"/>
          <p:nvPr/>
        </p:nvPicPr>
        <p:blipFill rotWithShape="1">
          <a:blip r:embed="rId4">
            <a:alphaModFix/>
          </a:blip>
          <a:srcRect b="0" l="0" r="0" t="0"/>
          <a:stretch/>
        </p:blipFill>
        <p:spPr>
          <a:xfrm>
            <a:off x="7708392" y="4882896"/>
            <a:ext cx="1024128" cy="155448"/>
          </a:xfrm>
          <a:prstGeom prst="rect">
            <a:avLst/>
          </a:prstGeom>
          <a:noFill/>
          <a:ln>
            <a:noFill/>
          </a:ln>
        </p:spPr>
      </p:pic>
      <p:sp>
        <p:nvSpPr>
          <p:cNvPr id="156" name="Rectangle 155"/>
          <p:cNvSpPr/>
          <p:nvPr/>
        </p:nvSpPr>
        <p:spPr>
          <a:xfrm>
            <a:off x="429768" y="393192"/>
            <a:ext cx="8275320" cy="4352544"/>
          </a:xfrm>
          <a:prstGeom prst="rect">
            <a:avLst/>
          </a:prstGeom>
          <a:solidFill>
            <a:srgbClr val="0D1411"/>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TextBox 156"/>
          <p:cNvSpPr txBox="1"/>
          <p:nvPr/>
        </p:nvSpPr>
        <p:spPr>
          <a:xfrm>
            <a:off x="640080" y="502920"/>
            <a:ext cx="5943600" cy="201168"/>
          </a:xfrm>
          <a:prstGeom prst="rect">
            <a:avLst/>
          </a:prstGeom>
          <a:noFill/>
        </p:spPr>
        <p:txBody>
          <a:bodyPr wrap="square" anchor="t" lIns="0" rIns="0" tIns="18288" bIns="18288">
            <a:spAutoFit/>
          </a:bodyPr>
          <a:lstStyle/>
          <a:p>
            <a:pPr algn="l"/>
            <a:r>
              <a:rPr sz="900" b="1" i="0">
                <a:solidFill>
                  <a:srgbClr val="D6F28C"/>
                </a:solidFill>
                <a:latin typeface="Consolas"/>
              </a:rPr>
              <a:t>FIELDNOTES</a:t>
            </a:r>
            <a:r>
              <a:rPr sz="900" b="0" i="0">
                <a:solidFill>
                  <a:srgbClr val="9BA99F"/>
                </a:solidFill>
                <a:latin typeface="Consolas"/>
              </a:rPr>
              <a:t>   /   03  INSPIRATION / KEY INSIGHT</a:t>
            </a:r>
          </a:p>
        </p:txBody>
      </p:sp>
      <p:sp>
        <p:nvSpPr>
          <p:cNvPr id="158" name="TextBox 157"/>
          <p:cNvSpPr txBox="1"/>
          <p:nvPr/>
        </p:nvSpPr>
        <p:spPr>
          <a:xfrm>
            <a:off x="7726679" y="521207"/>
            <a:ext cx="731520" cy="228600"/>
          </a:xfrm>
          <a:prstGeom prst="rect">
            <a:avLst/>
          </a:prstGeom>
          <a:noFill/>
        </p:spPr>
        <p:txBody>
          <a:bodyPr wrap="square" anchor="t" lIns="0" rIns="0" tIns="18288" bIns="18288">
            <a:spAutoFit/>
          </a:bodyPr>
          <a:lstStyle/>
          <a:p>
            <a:pPr algn="r"/>
            <a:r>
              <a:rPr sz="1000" b="0" i="0">
                <a:solidFill>
                  <a:srgbClr val="9BA99F"/>
                </a:solidFill>
                <a:latin typeface="Consolas"/>
              </a:rPr>
              <a:t>03</a:t>
            </a:r>
          </a:p>
        </p:txBody>
      </p:sp>
      <p:sp>
        <p:nvSpPr>
          <p:cNvPr id="159" name="TextBox 158"/>
          <p:cNvSpPr txBox="1"/>
          <p:nvPr/>
        </p:nvSpPr>
        <p:spPr>
          <a:xfrm>
            <a:off x="429768" y="4846320"/>
            <a:ext cx="5486400" cy="182880"/>
          </a:xfrm>
          <a:prstGeom prst="rect">
            <a:avLst/>
          </a:prstGeom>
          <a:noFill/>
        </p:spPr>
        <p:txBody>
          <a:bodyPr wrap="square" anchor="t" lIns="0" rIns="0" tIns="18288" bIns="18288">
            <a:spAutoFit/>
          </a:bodyPr>
          <a:lstStyle/>
          <a:p>
            <a:pPr algn="l"/>
            <a:r>
              <a:rPr sz="700" b="0" i="0">
                <a:solidFill>
                  <a:srgbClr val="9BA99F"/>
                </a:solidFill>
                <a:latin typeface="Consolas"/>
              </a:rPr>
              <a:t>FIELDNOTES  /  HACKATHON PROTOTYPE  /  INNOVATION CUP 2026</a:t>
            </a:r>
          </a:p>
        </p:txBody>
      </p:sp>
      <p:sp>
        <p:nvSpPr>
          <p:cNvPr id="160" name="TextBox 159"/>
          <p:cNvSpPr txBox="1"/>
          <p:nvPr/>
        </p:nvSpPr>
        <p:spPr>
          <a:xfrm>
            <a:off x="640080" y="786384"/>
            <a:ext cx="7863840" cy="658368"/>
          </a:xfrm>
          <a:prstGeom prst="rect">
            <a:avLst/>
          </a:prstGeom>
          <a:noFill/>
        </p:spPr>
        <p:txBody>
          <a:bodyPr wrap="square" anchor="b" lIns="0" rIns="0" tIns="18288" bIns="18288">
            <a:spAutoFit/>
          </a:bodyPr>
          <a:lstStyle/>
          <a:p>
            <a:pPr algn="l"/>
            <a:r>
              <a:rPr sz="2100" b="1" i="0">
                <a:solidFill>
                  <a:srgbClr val="F0F2E9"/>
                </a:solidFill>
                <a:latin typeface="Aptos Display"/>
              </a:rPr>
              <a:t>Physical agency needs shared context</a:t>
            </a:r>
          </a:p>
        </p:txBody>
      </p:sp>
      <p:sp>
        <p:nvSpPr>
          <p:cNvPr id="161" name="TextBox 160"/>
          <p:cNvSpPr txBox="1"/>
          <p:nvPr/>
        </p:nvSpPr>
        <p:spPr>
          <a:xfrm>
            <a:off x="640080" y="1463040"/>
            <a:ext cx="7863840" cy="228600"/>
          </a:xfrm>
          <a:prstGeom prst="rect">
            <a:avLst/>
          </a:prstGeom>
          <a:noFill/>
        </p:spPr>
        <p:txBody>
          <a:bodyPr wrap="square" anchor="t" lIns="0" rIns="0" tIns="18288" bIns="18288">
            <a:spAutoFit/>
          </a:bodyPr>
          <a:lstStyle/>
          <a:p>
            <a:pPr algn="l"/>
            <a:r>
              <a:rPr sz="1000" b="0" i="0">
                <a:solidFill>
                  <a:srgbClr val="9BA99F"/>
                </a:solidFill>
                <a:latin typeface="Aptos"/>
              </a:rPr>
              <a:t>User goal → reasoning → permitted robot capability → observation → memory update → reassessment</a:t>
            </a:r>
          </a:p>
        </p:txBody>
      </p:sp>
      <p:cxnSp>
        <p:nvCxnSpPr>
          <p:cNvPr id="162" name="Connector 161"/>
          <p:cNvCxnSpPr/>
          <p:nvPr/>
        </p:nvCxnSpPr>
        <p:spPr>
          <a:xfrm>
            <a:off x="640080" y="1737360"/>
            <a:ext cx="7818120" cy="0"/>
          </a:xfrm>
          <a:prstGeom prst="line">
            <a:avLst/>
          </a:prstGeom>
          <a:ln w="9525">
            <a:solidFill>
              <a:srgbClr val="2E3B33"/>
            </a:solidFill>
          </a:ln>
        </p:spPr>
        <p:style>
          <a:lnRef idx="2">
            <a:schemeClr val="accent1"/>
          </a:lnRef>
          <a:fillRef idx="0">
            <a:schemeClr val="accent1"/>
          </a:fillRef>
          <a:effectRef idx="1">
            <a:schemeClr val="accent1"/>
          </a:effectRef>
          <a:fontRef idx="minor">
            <a:schemeClr val="tx1"/>
          </a:fontRef>
        </p:style>
      </p:cxnSp>
      <p:sp>
        <p:nvSpPr>
          <p:cNvPr id="163" name="TextBox 162"/>
          <p:cNvSpPr txBox="1"/>
          <p:nvPr/>
        </p:nvSpPr>
        <p:spPr>
          <a:xfrm>
            <a:off x="640080" y="1828800"/>
            <a:ext cx="2194560" cy="201168"/>
          </a:xfrm>
          <a:prstGeom prst="rect">
            <a:avLst/>
          </a:prstGeom>
          <a:noFill/>
        </p:spPr>
        <p:txBody>
          <a:bodyPr wrap="square" anchor="t" lIns="0" rIns="0" tIns="18288" bIns="18288">
            <a:spAutoFit/>
          </a:bodyPr>
          <a:lstStyle/>
          <a:p>
            <a:pPr algn="l"/>
            <a:r>
              <a:rPr sz="800" b="1" i="0">
                <a:solidFill>
                  <a:srgbClr val="9BA99F"/>
                </a:solidFill>
                <a:latin typeface="Consolas"/>
              </a:rPr>
              <a:t>WHAT WE OBSERVED</a:t>
            </a:r>
          </a:p>
        </p:txBody>
      </p:sp>
      <p:sp>
        <p:nvSpPr>
          <p:cNvPr id="164" name="TextBox 163"/>
          <p:cNvSpPr txBox="1"/>
          <p:nvPr/>
        </p:nvSpPr>
        <p:spPr>
          <a:xfrm>
            <a:off x="640080" y="2011680"/>
            <a:ext cx="2286000" cy="548640"/>
          </a:xfrm>
          <a:prstGeom prst="rect">
            <a:avLst/>
          </a:prstGeom>
          <a:noFill/>
        </p:spPr>
        <p:txBody>
          <a:bodyPr wrap="square" anchor="t" lIns="0" rIns="0" tIns="18288" bIns="18288">
            <a:spAutoFit/>
          </a:bodyPr>
          <a:lstStyle/>
          <a:p>
            <a:pPr algn="l"/>
            <a:r>
              <a:rPr sz="1100" b="0" i="0">
                <a:solidFill>
                  <a:srgbClr val="F0F2E9"/>
                </a:solidFill>
                <a:latin typeface="Aptos"/>
              </a:rPr>
              <a:t>Reasoning alone answers without evidence.</a:t>
            </a:r>
          </a:p>
        </p:txBody>
      </p:sp>
      <p:sp>
        <p:nvSpPr>
          <p:cNvPr id="165" name="TextBox 164"/>
          <p:cNvSpPr txBox="1"/>
          <p:nvPr/>
        </p:nvSpPr>
        <p:spPr>
          <a:xfrm>
            <a:off x="640080" y="2606040"/>
            <a:ext cx="2194560" cy="201168"/>
          </a:xfrm>
          <a:prstGeom prst="rect">
            <a:avLst/>
          </a:prstGeom>
          <a:noFill/>
        </p:spPr>
        <p:txBody>
          <a:bodyPr wrap="square" anchor="t" lIns="0" rIns="0" tIns="18288" bIns="18288">
            <a:spAutoFit/>
          </a:bodyPr>
          <a:lstStyle/>
          <a:p>
            <a:pPr algn="l"/>
            <a:r>
              <a:rPr sz="800" b="1" i="0">
                <a:solidFill>
                  <a:srgbClr val="9BA99F"/>
                </a:solidFill>
                <a:latin typeface="Consolas"/>
              </a:rPr>
              <a:t>WHAT IT REVEALED</a:t>
            </a:r>
          </a:p>
        </p:txBody>
      </p:sp>
      <p:sp>
        <p:nvSpPr>
          <p:cNvPr id="166" name="TextBox 165"/>
          <p:cNvSpPr txBox="1"/>
          <p:nvPr/>
        </p:nvSpPr>
        <p:spPr>
          <a:xfrm>
            <a:off x="640080" y="2788920"/>
            <a:ext cx="2286000" cy="548640"/>
          </a:xfrm>
          <a:prstGeom prst="rect">
            <a:avLst/>
          </a:prstGeom>
          <a:noFill/>
        </p:spPr>
        <p:txBody>
          <a:bodyPr wrap="square" anchor="t" lIns="0" rIns="0" tIns="18288" bIns="18288">
            <a:spAutoFit/>
          </a:bodyPr>
          <a:lstStyle/>
          <a:p>
            <a:pPr algn="l"/>
            <a:r>
              <a:rPr sz="1100" b="0" i="0">
                <a:solidFill>
                  <a:srgbClr val="F0F2E9"/>
                </a:solidFill>
                <a:latin typeface="Aptos"/>
              </a:rPr>
              <a:t>The missing part is memory of what was seen, and when.</a:t>
            </a:r>
          </a:p>
        </p:txBody>
      </p:sp>
      <p:sp>
        <p:nvSpPr>
          <p:cNvPr id="167" name="TextBox 166"/>
          <p:cNvSpPr txBox="1"/>
          <p:nvPr/>
        </p:nvSpPr>
        <p:spPr>
          <a:xfrm>
            <a:off x="640080" y="3383280"/>
            <a:ext cx="2194560" cy="201168"/>
          </a:xfrm>
          <a:prstGeom prst="rect">
            <a:avLst/>
          </a:prstGeom>
          <a:noFill/>
        </p:spPr>
        <p:txBody>
          <a:bodyPr wrap="square" anchor="t" lIns="0" rIns="0" tIns="18288" bIns="18288">
            <a:spAutoFit/>
          </a:bodyPr>
          <a:lstStyle/>
          <a:p>
            <a:pPr algn="l"/>
            <a:r>
              <a:rPr sz="800" b="1" i="0">
                <a:solidFill>
                  <a:srgbClr val="9BA99F"/>
                </a:solidFill>
                <a:latin typeface="Consolas"/>
              </a:rPr>
              <a:t>WHY IT UNLOCKS A SOLUTION</a:t>
            </a:r>
          </a:p>
        </p:txBody>
      </p:sp>
      <p:sp>
        <p:nvSpPr>
          <p:cNvPr id="168" name="TextBox 167"/>
          <p:cNvSpPr txBox="1"/>
          <p:nvPr/>
        </p:nvSpPr>
        <p:spPr>
          <a:xfrm>
            <a:off x="640080" y="3566160"/>
            <a:ext cx="2286000" cy="640080"/>
          </a:xfrm>
          <a:prstGeom prst="rect">
            <a:avLst/>
          </a:prstGeom>
          <a:noFill/>
        </p:spPr>
        <p:txBody>
          <a:bodyPr wrap="square" anchor="t" lIns="0" rIns="0" tIns="18288" bIns="18288">
            <a:spAutoFit/>
          </a:bodyPr>
          <a:lstStyle/>
          <a:p>
            <a:pPr algn="l"/>
            <a:r>
              <a:rPr sz="1100" b="0" i="0">
                <a:solidFill>
                  <a:srgbClr val="F0F2E9"/>
                </a:solidFill>
                <a:latin typeface="Aptos"/>
              </a:rPr>
              <a:t>MCP lets an agent request evidence the way it requests any tool.</a:t>
            </a:r>
          </a:p>
        </p:txBody>
      </p:sp>
      <p:sp>
        <p:nvSpPr>
          <p:cNvPr id="169" name="Rectangle 168"/>
          <p:cNvSpPr/>
          <p:nvPr/>
        </p:nvSpPr>
        <p:spPr>
          <a:xfrm>
            <a:off x="3246120" y="1874519"/>
            <a:ext cx="1600200" cy="1417320"/>
          </a:xfrm>
          <a:prstGeom prst="rect">
            <a:avLst/>
          </a:prstGeom>
          <a:solidFill>
            <a:srgbClr val="19231D"/>
          </a:solidFill>
          <a:ln w="9525">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TextBox 169"/>
          <p:cNvSpPr txBox="1"/>
          <p:nvPr/>
        </p:nvSpPr>
        <p:spPr>
          <a:xfrm>
            <a:off x="3355848" y="1984248"/>
            <a:ext cx="1380744" cy="365760"/>
          </a:xfrm>
          <a:prstGeom prst="rect">
            <a:avLst/>
          </a:prstGeom>
          <a:noFill/>
        </p:spPr>
        <p:txBody>
          <a:bodyPr wrap="square" anchor="t" lIns="0" rIns="0" tIns="18288" bIns="18288">
            <a:spAutoFit/>
          </a:bodyPr>
          <a:lstStyle/>
          <a:p>
            <a:pPr algn="l"/>
            <a:r>
              <a:rPr sz="1500" b="1" i="0">
                <a:solidFill>
                  <a:srgbClr val="F0F2E9"/>
                </a:solidFill>
                <a:latin typeface="Aptos Display"/>
              </a:rPr>
              <a:t>LLM</a:t>
            </a:r>
          </a:p>
        </p:txBody>
      </p:sp>
      <p:sp>
        <p:nvSpPr>
          <p:cNvPr id="171" name="TextBox 170"/>
          <p:cNvSpPr txBox="1"/>
          <p:nvPr/>
        </p:nvSpPr>
        <p:spPr>
          <a:xfrm>
            <a:off x="3355848" y="2350008"/>
            <a:ext cx="1380744" cy="548640"/>
          </a:xfrm>
          <a:prstGeom prst="rect">
            <a:avLst/>
          </a:prstGeom>
          <a:noFill/>
        </p:spPr>
        <p:txBody>
          <a:bodyPr wrap="square" anchor="t" lIns="0" rIns="0" tIns="18288" bIns="18288">
            <a:spAutoFit/>
          </a:bodyPr>
          <a:lstStyle/>
          <a:p>
            <a:pPr algn="l"/>
            <a:r>
              <a:rPr sz="1000" b="0" i="0">
                <a:solidFill>
                  <a:srgbClr val="9BA99F"/>
                </a:solidFill>
                <a:latin typeface="Aptos"/>
              </a:rPr>
              <a:t>reasons about the job</a:t>
            </a:r>
          </a:p>
        </p:txBody>
      </p:sp>
      <p:cxnSp>
        <p:nvCxnSpPr>
          <p:cNvPr id="172" name="Connector 171"/>
          <p:cNvCxnSpPr/>
          <p:nvPr/>
        </p:nvCxnSpPr>
        <p:spPr>
          <a:xfrm>
            <a:off x="4846320" y="2583179"/>
            <a:ext cx="246888" cy="0"/>
          </a:xfrm>
          <a:prstGeom prst="line">
            <a:avLst/>
          </a:prstGeom>
          <a:ln w="12700">
            <a:solidFill>
              <a:srgbClr val="9BA99F"/>
            </a:solidFill>
            <a:tailEnd type="triangle" w="sm" len="sm"/>
          </a:ln>
        </p:spPr>
        <p:style>
          <a:lnRef idx="2">
            <a:schemeClr val="accent1"/>
          </a:lnRef>
          <a:fillRef idx="0">
            <a:schemeClr val="accent1"/>
          </a:fillRef>
          <a:effectRef idx="1">
            <a:schemeClr val="accent1"/>
          </a:effectRef>
          <a:fontRef idx="minor">
            <a:schemeClr val="tx1"/>
          </a:fontRef>
        </p:style>
      </p:cxnSp>
      <p:sp>
        <p:nvSpPr>
          <p:cNvPr id="173" name="Rectangle 172"/>
          <p:cNvSpPr/>
          <p:nvPr/>
        </p:nvSpPr>
        <p:spPr>
          <a:xfrm>
            <a:off x="5093208" y="1874519"/>
            <a:ext cx="1600200" cy="1417320"/>
          </a:xfrm>
          <a:prstGeom prst="rect">
            <a:avLst/>
          </a:prstGeom>
          <a:solidFill>
            <a:srgbClr val="19231D"/>
          </a:solidFill>
          <a:ln w="9525">
            <a:solidFill>
              <a:srgbClr val="2E3B33"/>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Box 173"/>
          <p:cNvSpPr txBox="1"/>
          <p:nvPr/>
        </p:nvSpPr>
        <p:spPr>
          <a:xfrm>
            <a:off x="5202936" y="1984248"/>
            <a:ext cx="1380744" cy="365760"/>
          </a:xfrm>
          <a:prstGeom prst="rect">
            <a:avLst/>
          </a:prstGeom>
          <a:noFill/>
        </p:spPr>
        <p:txBody>
          <a:bodyPr wrap="square" anchor="t" lIns="0" rIns="0" tIns="18288" bIns="18288">
            <a:spAutoFit/>
          </a:bodyPr>
          <a:lstStyle/>
          <a:p>
            <a:pPr algn="l"/>
            <a:r>
              <a:rPr sz="1500" b="1" i="0">
                <a:solidFill>
                  <a:srgbClr val="9BA99F"/>
                </a:solidFill>
                <a:latin typeface="Aptos Display"/>
              </a:rPr>
              <a:t>Robot tools</a:t>
            </a:r>
          </a:p>
        </p:txBody>
      </p:sp>
      <p:sp>
        <p:nvSpPr>
          <p:cNvPr id="175" name="TextBox 174"/>
          <p:cNvSpPr txBox="1"/>
          <p:nvPr/>
        </p:nvSpPr>
        <p:spPr>
          <a:xfrm>
            <a:off x="5202936" y="2350008"/>
            <a:ext cx="1380744" cy="548640"/>
          </a:xfrm>
          <a:prstGeom prst="rect">
            <a:avLst/>
          </a:prstGeom>
          <a:noFill/>
        </p:spPr>
        <p:txBody>
          <a:bodyPr wrap="square" anchor="t" lIns="0" rIns="0" tIns="18288" bIns="18288">
            <a:spAutoFit/>
          </a:bodyPr>
          <a:lstStyle/>
          <a:p>
            <a:pPr algn="l"/>
            <a:r>
              <a:rPr sz="1000" b="0" i="0">
                <a:solidFill>
                  <a:srgbClr val="9BA99F"/>
                </a:solidFill>
                <a:latin typeface="Aptos"/>
              </a:rPr>
              <a:t>execute bounded capabilities</a:t>
            </a:r>
          </a:p>
        </p:txBody>
      </p:sp>
      <p:sp>
        <p:nvSpPr>
          <p:cNvPr id="176" name="TextBox 175"/>
          <p:cNvSpPr txBox="1"/>
          <p:nvPr/>
        </p:nvSpPr>
        <p:spPr>
          <a:xfrm>
            <a:off x="5202936" y="2999232"/>
            <a:ext cx="1380744" cy="228600"/>
          </a:xfrm>
          <a:prstGeom prst="rect">
            <a:avLst/>
          </a:prstGeom>
          <a:noFill/>
        </p:spPr>
        <p:txBody>
          <a:bodyPr wrap="square" anchor="t" lIns="0" rIns="0" tIns="18288" bIns="18288">
            <a:spAutoFit/>
          </a:bodyPr>
          <a:lstStyle/>
          <a:p>
            <a:pPr algn="l"/>
            <a:r>
              <a:rPr sz="700" b="1" i="0">
                <a:solidFill>
                  <a:srgbClr val="C9A24A"/>
                </a:solidFill>
                <a:latin typeface="Consolas"/>
              </a:rPr>
              <a:t>FUTURE INTEGRATION</a:t>
            </a:r>
          </a:p>
        </p:txBody>
      </p:sp>
      <p:cxnSp>
        <p:nvCxnSpPr>
          <p:cNvPr id="177" name="Connector 176"/>
          <p:cNvCxnSpPr/>
          <p:nvPr/>
        </p:nvCxnSpPr>
        <p:spPr>
          <a:xfrm>
            <a:off x="6693408" y="2583179"/>
            <a:ext cx="246888" cy="0"/>
          </a:xfrm>
          <a:prstGeom prst="line">
            <a:avLst/>
          </a:prstGeom>
          <a:ln w="12700">
            <a:solidFill>
              <a:srgbClr val="C9A24A"/>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178" name="Rectangle 177"/>
          <p:cNvSpPr/>
          <p:nvPr/>
        </p:nvSpPr>
        <p:spPr>
          <a:xfrm>
            <a:off x="6940296" y="1874519"/>
            <a:ext cx="1600200" cy="1417320"/>
          </a:xfrm>
          <a:prstGeom prst="rect">
            <a:avLst/>
          </a:prstGeom>
          <a:solidFill>
            <a:srgbClr val="222E27"/>
          </a:solidFill>
          <a:ln w="15875">
            <a:solidFill>
              <a:srgbClr val="D6F2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TextBox 178"/>
          <p:cNvSpPr txBox="1"/>
          <p:nvPr/>
        </p:nvSpPr>
        <p:spPr>
          <a:xfrm>
            <a:off x="7050024" y="1984248"/>
            <a:ext cx="1380744" cy="365760"/>
          </a:xfrm>
          <a:prstGeom prst="rect">
            <a:avLst/>
          </a:prstGeom>
          <a:noFill/>
        </p:spPr>
        <p:txBody>
          <a:bodyPr wrap="square" anchor="t" lIns="0" rIns="0" tIns="18288" bIns="18288">
            <a:spAutoFit/>
          </a:bodyPr>
          <a:lstStyle/>
          <a:p>
            <a:pPr algn="l"/>
            <a:r>
              <a:rPr sz="1500" b="1" i="0">
                <a:solidFill>
                  <a:srgbClr val="D6F28C"/>
                </a:solidFill>
                <a:latin typeface="Aptos Display"/>
              </a:rPr>
              <a:t>Space Info</a:t>
            </a:r>
          </a:p>
        </p:txBody>
      </p:sp>
      <p:sp>
        <p:nvSpPr>
          <p:cNvPr id="180" name="TextBox 179"/>
          <p:cNvSpPr txBox="1"/>
          <p:nvPr/>
        </p:nvSpPr>
        <p:spPr>
          <a:xfrm>
            <a:off x="7050024" y="2350008"/>
            <a:ext cx="1380744" cy="548640"/>
          </a:xfrm>
          <a:prstGeom prst="rect">
            <a:avLst/>
          </a:prstGeom>
          <a:noFill/>
        </p:spPr>
        <p:txBody>
          <a:bodyPr wrap="square" anchor="t" lIns="0" rIns="0" tIns="18288" bIns="18288">
            <a:spAutoFit/>
          </a:bodyPr>
          <a:lstStyle/>
          <a:p>
            <a:pPr algn="l"/>
            <a:r>
              <a:rPr sz="1000" b="0" i="0">
                <a:solidFill>
                  <a:srgbClr val="9BA99F"/>
                </a:solidFill>
                <a:latin typeface="Aptos"/>
              </a:rPr>
              <a:t>preserves observations across time</a:t>
            </a:r>
          </a:p>
        </p:txBody>
      </p:sp>
      <p:sp>
        <p:nvSpPr>
          <p:cNvPr id="181" name="TextBox 180"/>
          <p:cNvSpPr txBox="1"/>
          <p:nvPr/>
        </p:nvSpPr>
        <p:spPr>
          <a:xfrm>
            <a:off x="7050024" y="2944368"/>
            <a:ext cx="1380744" cy="274320"/>
          </a:xfrm>
          <a:prstGeom prst="rect">
            <a:avLst/>
          </a:prstGeom>
          <a:noFill/>
        </p:spPr>
        <p:txBody>
          <a:bodyPr wrap="square" anchor="t" lIns="0" rIns="0" tIns="18288" bIns="18288">
            <a:spAutoFit/>
          </a:bodyPr>
          <a:lstStyle/>
          <a:p>
            <a:pPr algn="l"/>
            <a:r>
              <a:rPr sz="800" b="0" i="0">
                <a:solidFill>
                  <a:srgbClr val="D6F28C"/>
                </a:solidFill>
                <a:latin typeface="Consolas"/>
              </a:rPr>
              <a:t>Observed · Last seen · Changed · Unknown</a:t>
            </a:r>
          </a:p>
        </p:txBody>
      </p:sp>
      <p:cxnSp>
        <p:nvCxnSpPr>
          <p:cNvPr id="182" name="Connector 181"/>
          <p:cNvCxnSpPr/>
          <p:nvPr/>
        </p:nvCxnSpPr>
        <p:spPr>
          <a:xfrm>
            <a:off x="7740396" y="3291839"/>
            <a:ext cx="0" cy="274320"/>
          </a:xfrm>
          <a:prstGeom prst="line">
            <a:avLst/>
          </a:prstGeom>
          <a:ln w="12700">
            <a:solidFill>
              <a:srgbClr val="D6F28C"/>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H="1">
            <a:off x="4046220" y="3566159"/>
            <a:ext cx="3694176" cy="0"/>
          </a:xfrm>
          <a:prstGeom prst="line">
            <a:avLst/>
          </a:prstGeom>
          <a:ln w="12700">
            <a:solidFill>
              <a:srgbClr val="D6F28C"/>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4046220" y="3310127"/>
            <a:ext cx="0" cy="256032"/>
          </a:xfrm>
          <a:prstGeom prst="line">
            <a:avLst/>
          </a:prstGeom>
          <a:ln w="12700">
            <a:solidFill>
              <a:srgbClr val="D6F28C"/>
            </a:solidFill>
            <a:tailEnd type="triangle" w="sm" len="sm"/>
          </a:ln>
        </p:spPr>
        <p:style>
          <a:lnRef idx="2">
            <a:schemeClr val="accent1"/>
          </a:lnRef>
          <a:fillRef idx="0">
            <a:schemeClr val="accent1"/>
          </a:fillRef>
          <a:effectRef idx="1">
            <a:schemeClr val="accent1"/>
          </a:effectRef>
          <a:fontRef idx="minor">
            <a:schemeClr val="tx1"/>
          </a:fontRef>
        </p:style>
      </p:cxnSp>
      <p:sp>
        <p:nvSpPr>
          <p:cNvPr id="185" name="TextBox 184"/>
          <p:cNvSpPr txBox="1"/>
          <p:nvPr/>
        </p:nvSpPr>
        <p:spPr>
          <a:xfrm>
            <a:off x="3246120" y="3584447"/>
            <a:ext cx="5303520" cy="228600"/>
          </a:xfrm>
          <a:prstGeom prst="rect">
            <a:avLst/>
          </a:prstGeom>
          <a:noFill/>
        </p:spPr>
        <p:txBody>
          <a:bodyPr wrap="square" anchor="t" lIns="0" rIns="0" tIns="18288" bIns="18288">
            <a:spAutoFit/>
          </a:bodyPr>
          <a:lstStyle/>
          <a:p>
            <a:pPr algn="ctr"/>
            <a:r>
              <a:rPr sz="800" b="0" i="0">
                <a:solidFill>
                  <a:srgbClr val="9BA99F"/>
                </a:solidFill>
                <a:latin typeface="Consolas"/>
              </a:rPr>
              <a:t>evidence and temporal records return to the reasoner</a:t>
            </a:r>
          </a:p>
        </p:txBody>
      </p:sp>
      <p:sp>
        <p:nvSpPr>
          <p:cNvPr id="186" name="TextBox 185"/>
          <p:cNvSpPr txBox="1"/>
          <p:nvPr/>
        </p:nvSpPr>
        <p:spPr>
          <a:xfrm>
            <a:off x="3246120" y="4069080"/>
            <a:ext cx="5303520" cy="365760"/>
          </a:xfrm>
          <a:prstGeom prst="rect">
            <a:avLst/>
          </a:prstGeom>
          <a:noFill/>
        </p:spPr>
        <p:txBody>
          <a:bodyPr wrap="square" anchor="t" lIns="0" rIns="0" tIns="18288" bIns="18288">
            <a:spAutoFit/>
          </a:bodyPr>
          <a:lstStyle/>
          <a:p>
            <a:pPr algn="l"/>
            <a:r>
              <a:rPr sz="1500" b="1" i="0">
                <a:solidFill>
                  <a:srgbClr val="D6F28C"/>
                </a:solidFill>
                <a:latin typeface="Aptos Display"/>
              </a:rPr>
              <a:t>FieldNotes builds the temporal evidence layer</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descr="image.gif" id="174" name="Google Shape;174;p5"/>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181" name="Google Shape;181;p5"/>
          <p:cNvPicPr preferRelativeResize="0"/>
          <p:nvPr/>
        </p:nvPicPr>
        <p:blipFill rotWithShape="1">
          <a:blip r:embed="rId4">
            <a:alphaModFix/>
          </a:blip>
          <a:srcRect b="0" l="0" r="0" t="0"/>
          <a:stretch/>
        </p:blipFill>
        <p:spPr>
          <a:xfrm>
            <a:off x="7708392" y="4882896"/>
            <a:ext cx="1024128" cy="155448"/>
          </a:xfrm>
          <a:prstGeom prst="rect">
            <a:avLst/>
          </a:prstGeom>
          <a:noFill/>
          <a:ln>
            <a:noFill/>
          </a:ln>
        </p:spPr>
      </p:pic>
      <p:sp>
        <p:nvSpPr>
          <p:cNvPr id="182" name="Rectangle 181"/>
          <p:cNvSpPr/>
          <p:nvPr/>
        </p:nvSpPr>
        <p:spPr>
          <a:xfrm>
            <a:off x="429768" y="393192"/>
            <a:ext cx="8275320" cy="4352544"/>
          </a:xfrm>
          <a:prstGeom prst="rect">
            <a:avLst/>
          </a:prstGeom>
          <a:solidFill>
            <a:srgbClr val="0D1411"/>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TextBox 182"/>
          <p:cNvSpPr txBox="1"/>
          <p:nvPr/>
        </p:nvSpPr>
        <p:spPr>
          <a:xfrm>
            <a:off x="640080" y="502920"/>
            <a:ext cx="5943600" cy="201168"/>
          </a:xfrm>
          <a:prstGeom prst="rect">
            <a:avLst/>
          </a:prstGeom>
          <a:noFill/>
        </p:spPr>
        <p:txBody>
          <a:bodyPr wrap="square" anchor="t" lIns="0" rIns="0" tIns="18288" bIns="18288">
            <a:spAutoFit/>
          </a:bodyPr>
          <a:lstStyle/>
          <a:p>
            <a:pPr algn="l"/>
            <a:r>
              <a:rPr sz="900" b="1" i="0">
                <a:solidFill>
                  <a:srgbClr val="D6F28C"/>
                </a:solidFill>
                <a:latin typeface="Consolas"/>
              </a:rPr>
              <a:t>FIELDNOTES</a:t>
            </a:r>
            <a:r>
              <a:rPr sz="900" b="0" i="0">
                <a:solidFill>
                  <a:srgbClr val="9BA99F"/>
                </a:solidFill>
                <a:latin typeface="Consolas"/>
              </a:rPr>
              <a:t>   /   04  SOLUTION OVERVIEW</a:t>
            </a:r>
          </a:p>
        </p:txBody>
      </p:sp>
      <p:sp>
        <p:nvSpPr>
          <p:cNvPr id="184" name="TextBox 183"/>
          <p:cNvSpPr txBox="1"/>
          <p:nvPr/>
        </p:nvSpPr>
        <p:spPr>
          <a:xfrm>
            <a:off x="7726679" y="521207"/>
            <a:ext cx="731520" cy="228600"/>
          </a:xfrm>
          <a:prstGeom prst="rect">
            <a:avLst/>
          </a:prstGeom>
          <a:noFill/>
        </p:spPr>
        <p:txBody>
          <a:bodyPr wrap="square" anchor="t" lIns="0" rIns="0" tIns="18288" bIns="18288">
            <a:spAutoFit/>
          </a:bodyPr>
          <a:lstStyle/>
          <a:p>
            <a:pPr algn="r"/>
            <a:r>
              <a:rPr sz="1000" b="0" i="0">
                <a:solidFill>
                  <a:srgbClr val="9BA99F"/>
                </a:solidFill>
                <a:latin typeface="Consolas"/>
              </a:rPr>
              <a:t>04</a:t>
            </a:r>
          </a:p>
        </p:txBody>
      </p:sp>
      <p:sp>
        <p:nvSpPr>
          <p:cNvPr id="185" name="TextBox 184"/>
          <p:cNvSpPr txBox="1"/>
          <p:nvPr/>
        </p:nvSpPr>
        <p:spPr>
          <a:xfrm>
            <a:off x="429768" y="4846320"/>
            <a:ext cx="5486400" cy="182880"/>
          </a:xfrm>
          <a:prstGeom prst="rect">
            <a:avLst/>
          </a:prstGeom>
          <a:noFill/>
        </p:spPr>
        <p:txBody>
          <a:bodyPr wrap="square" anchor="t" lIns="0" rIns="0" tIns="18288" bIns="18288">
            <a:spAutoFit/>
          </a:bodyPr>
          <a:lstStyle/>
          <a:p>
            <a:pPr algn="l"/>
            <a:r>
              <a:rPr sz="700" b="0" i="0">
                <a:solidFill>
                  <a:srgbClr val="9BA99F"/>
                </a:solidFill>
                <a:latin typeface="Consolas"/>
              </a:rPr>
              <a:t>FIELDNOTES  /  HACKATHON PROTOTYPE  /  INNOVATION CUP 2026</a:t>
            </a:r>
          </a:p>
        </p:txBody>
      </p:sp>
      <p:sp>
        <p:nvSpPr>
          <p:cNvPr id="186" name="TextBox 185"/>
          <p:cNvSpPr txBox="1"/>
          <p:nvPr/>
        </p:nvSpPr>
        <p:spPr>
          <a:xfrm>
            <a:off x="640080" y="786384"/>
            <a:ext cx="7863840" cy="658368"/>
          </a:xfrm>
          <a:prstGeom prst="rect">
            <a:avLst/>
          </a:prstGeom>
          <a:noFill/>
        </p:spPr>
        <p:txBody>
          <a:bodyPr wrap="square" anchor="b" lIns="0" rIns="0" tIns="18288" bIns="18288">
            <a:spAutoFit/>
          </a:bodyPr>
          <a:lstStyle/>
          <a:p>
            <a:pPr algn="l"/>
            <a:r>
              <a:rPr sz="2100" b="1" i="0">
                <a:solidFill>
                  <a:srgbClr val="F0F2E9"/>
                </a:solidFill>
                <a:latin typeface="Aptos Display"/>
              </a:rPr>
              <a:t>The agent can return to the evidence</a:t>
            </a:r>
          </a:p>
        </p:txBody>
      </p:sp>
      <p:sp>
        <p:nvSpPr>
          <p:cNvPr id="187" name="TextBox 186"/>
          <p:cNvSpPr txBox="1"/>
          <p:nvPr/>
        </p:nvSpPr>
        <p:spPr>
          <a:xfrm>
            <a:off x="640080" y="1463040"/>
            <a:ext cx="7863840" cy="228600"/>
          </a:xfrm>
          <a:prstGeom prst="rect">
            <a:avLst/>
          </a:prstGeom>
          <a:noFill/>
        </p:spPr>
        <p:txBody>
          <a:bodyPr wrap="square" anchor="t" lIns="0" rIns="0" tIns="18288" bIns="18288">
            <a:spAutoFit/>
          </a:bodyPr>
          <a:lstStyle/>
          <a:p>
            <a:pPr algn="l"/>
            <a:r>
              <a:rPr sz="1000" b="0" i="0">
                <a:solidFill>
                  <a:srgbClr val="9BA99F"/>
                </a:solidFill>
                <a:latin typeface="Aptos"/>
              </a:rPr>
              <a:t>Evidence-based example from one recorded session · not a verbatim transcript</a:t>
            </a:r>
          </a:p>
        </p:txBody>
      </p:sp>
      <p:cxnSp>
        <p:nvCxnSpPr>
          <p:cNvPr id="188" name="Connector 187"/>
          <p:cNvCxnSpPr/>
          <p:nvPr/>
        </p:nvCxnSpPr>
        <p:spPr>
          <a:xfrm>
            <a:off x="640080" y="1737360"/>
            <a:ext cx="7818120" cy="0"/>
          </a:xfrm>
          <a:prstGeom prst="line">
            <a:avLst/>
          </a:prstGeom>
          <a:ln w="9525">
            <a:solidFill>
              <a:srgbClr val="2E3B33"/>
            </a:solidFill>
          </a:ln>
        </p:spPr>
        <p:style>
          <a:lnRef idx="2">
            <a:schemeClr val="accent1"/>
          </a:lnRef>
          <a:fillRef idx="0">
            <a:schemeClr val="accent1"/>
          </a:fillRef>
          <a:effectRef idx="1">
            <a:schemeClr val="accent1"/>
          </a:effectRef>
          <a:fontRef idx="minor">
            <a:schemeClr val="tx1"/>
          </a:fontRef>
        </p:style>
      </p:cxnSp>
      <p:sp>
        <p:nvSpPr>
          <p:cNvPr id="189" name="TextBox 188"/>
          <p:cNvSpPr txBox="1"/>
          <p:nvPr/>
        </p:nvSpPr>
        <p:spPr>
          <a:xfrm>
            <a:off x="640080" y="1828800"/>
            <a:ext cx="1280160" cy="201168"/>
          </a:xfrm>
          <a:prstGeom prst="rect">
            <a:avLst/>
          </a:prstGeom>
          <a:noFill/>
        </p:spPr>
        <p:txBody>
          <a:bodyPr wrap="square" anchor="t" lIns="0" rIns="0" tIns="18288" bIns="18288">
            <a:spAutoFit/>
          </a:bodyPr>
          <a:lstStyle/>
          <a:p>
            <a:pPr algn="l"/>
            <a:r>
              <a:rPr sz="800" b="1" i="0">
                <a:solidFill>
                  <a:srgbClr val="9BA99F"/>
                </a:solidFill>
                <a:latin typeface="Consolas"/>
              </a:rPr>
              <a:t>WHO IT IS FOR</a:t>
            </a:r>
          </a:p>
        </p:txBody>
      </p:sp>
      <p:sp>
        <p:nvSpPr>
          <p:cNvPr id="190" name="TextBox 189"/>
          <p:cNvSpPr txBox="1"/>
          <p:nvPr/>
        </p:nvSpPr>
        <p:spPr>
          <a:xfrm>
            <a:off x="1828800" y="1801368"/>
            <a:ext cx="3931920" cy="274320"/>
          </a:xfrm>
          <a:prstGeom prst="rect">
            <a:avLst/>
          </a:prstGeom>
          <a:noFill/>
        </p:spPr>
        <p:txBody>
          <a:bodyPr wrap="square" anchor="t" lIns="0" rIns="0" tIns="18288" bIns="18288">
            <a:spAutoFit/>
          </a:bodyPr>
          <a:lstStyle/>
          <a:p>
            <a:pPr algn="l"/>
            <a:r>
              <a:rPr sz="1000" b="0" i="0">
                <a:solidFill>
                  <a:srgbClr val="F0F2E9"/>
                </a:solidFill>
                <a:latin typeface="Aptos"/>
              </a:rPr>
              <a:t>AI agents and the people overseeing physical work</a:t>
            </a:r>
          </a:p>
        </p:txBody>
      </p:sp>
      <p:sp>
        <p:nvSpPr>
          <p:cNvPr id="191" name="TextBox 190"/>
          <p:cNvSpPr txBox="1"/>
          <p:nvPr/>
        </p:nvSpPr>
        <p:spPr>
          <a:xfrm>
            <a:off x="640080" y="2075688"/>
            <a:ext cx="5120640" cy="411480"/>
          </a:xfrm>
          <a:prstGeom prst="rect">
            <a:avLst/>
          </a:prstGeom>
          <a:noFill/>
        </p:spPr>
        <p:txBody>
          <a:bodyPr wrap="square" anchor="t" lIns="0" rIns="0" tIns="18288" bIns="18288">
            <a:spAutoFit/>
          </a:bodyPr>
          <a:lstStyle/>
          <a:p>
            <a:pPr algn="l"/>
            <a:r>
              <a:rPr sz="1600" b="1" i="0">
                <a:solidFill>
                  <a:srgbClr val="F0F2E9"/>
                </a:solidFill>
                <a:latin typeface="Aptos Display"/>
              </a:rPr>
              <a:t>“What changed around the workstation?”</a:t>
            </a:r>
          </a:p>
        </p:txBody>
      </p:sp>
      <p:sp>
        <p:nvSpPr>
          <p:cNvPr id="192" name="Rectangle 191"/>
          <p:cNvSpPr/>
          <p:nvPr/>
        </p:nvSpPr>
        <p:spPr>
          <a:xfrm>
            <a:off x="640080" y="2560320"/>
            <a:ext cx="2468880" cy="1389888"/>
          </a:xfrm>
          <a:prstGeom prst="rect">
            <a:avLst/>
          </a:prstGeom>
          <a:solidFill>
            <a:srgbClr val="19231D"/>
          </a:solidFill>
          <a:ln w="12700">
            <a:solidFill>
              <a:srgbClr val="C9A2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3" name="TextBox 192"/>
          <p:cNvSpPr txBox="1"/>
          <p:nvPr/>
        </p:nvSpPr>
        <p:spPr>
          <a:xfrm>
            <a:off x="777240" y="2697479"/>
            <a:ext cx="2194560" cy="1115568"/>
          </a:xfrm>
          <a:prstGeom prst="rect">
            <a:avLst/>
          </a:prstGeom>
          <a:noFill/>
        </p:spPr>
        <p:txBody>
          <a:bodyPr wrap="square" anchor="ctr" lIns="0" rIns="0" tIns="18288" bIns="18288">
            <a:spAutoFit/>
          </a:bodyPr>
          <a:lstStyle/>
          <a:p>
            <a:pPr algn="l">
              <a:spcAft>
                <a:spcPts val="300"/>
              </a:spcAft>
            </a:pPr>
            <a:r>
              <a:rPr sz="900" b="1" i="0">
                <a:solidFill>
                  <a:srgbClr val="C9A24A"/>
                </a:solidFill>
                <a:latin typeface="Consolas"/>
              </a:rPr>
              <a:t>PLACEHOLDER — INSERT ORIGINAL</a:t>
            </a:r>
          </a:p>
          <a:p>
            <a:pPr algn="l">
              <a:spcAft>
                <a:spcPts val="300"/>
              </a:spcAft>
            </a:pPr>
            <a:r>
              <a:rPr sz="1200" b="1" i="0">
                <a:solidFill>
                  <a:srgbClr val="F0F2E9"/>
                </a:solidFill>
                <a:latin typeface="Aptos"/>
              </a:rPr>
              <a:t>Original frame 300.jpg</a:t>
            </a:r>
          </a:p>
          <a:p>
            <a:pPr algn="l">
              <a:spcAft>
                <a:spcPts val="300"/>
              </a:spcAft>
            </a:pPr>
            <a:r>
              <a:rPr sz="800" b="0" i="0">
                <a:solidFill>
                  <a:srgbClr val="9BA99F"/>
                </a:solidFill>
                <a:latin typeface="Consolas"/>
              </a:rPr>
              <a:t>data/evidence/80777bc1e2ac4fa8b2578015d93a332d/300.jpg</a:t>
            </a:r>
          </a:p>
          <a:p>
            <a:pPr algn="l">
              <a:spcAft>
                <a:spcPts val="300"/>
              </a:spcAft>
            </a:pPr>
            <a:r>
              <a:rPr sz="800" b="0" i="0">
                <a:solidFill>
                  <a:srgbClr val="9BA99F"/>
                </a:solidFill>
                <a:latin typeface="Aptos"/>
              </a:rPr>
              <a:t>Not in this checkout. Copy from the recording Mac; do not substitute generated imagery.</a:t>
            </a:r>
          </a:p>
        </p:txBody>
      </p:sp>
      <p:sp>
        <p:nvSpPr>
          <p:cNvPr id="194" name="TextBox 193"/>
          <p:cNvSpPr txBox="1"/>
          <p:nvPr/>
        </p:nvSpPr>
        <p:spPr>
          <a:xfrm>
            <a:off x="640080" y="3968496"/>
            <a:ext cx="2468880" cy="182880"/>
          </a:xfrm>
          <a:prstGeom prst="rect">
            <a:avLst/>
          </a:prstGeom>
          <a:noFill/>
        </p:spPr>
        <p:txBody>
          <a:bodyPr wrap="square" anchor="t" lIns="0" rIns="0" tIns="18288" bIns="18288">
            <a:spAutoFit/>
          </a:bodyPr>
          <a:lstStyle/>
          <a:p>
            <a:pPr algn="l"/>
            <a:r>
              <a:rPr sz="800" b="1" i="0">
                <a:solidFill>
                  <a:srgbClr val="D6F28C"/>
                </a:solidFill>
                <a:latin typeface="Consolas"/>
              </a:rPr>
              <a:t>300.jpg</a:t>
            </a:r>
            <a:r>
              <a:rPr sz="800" b="0" i="0">
                <a:solidFill>
                  <a:srgbClr val="9BA99F"/>
                </a:solidFill>
                <a:latin typeface="Consolas"/>
              </a:rPr>
              <a:t>   02:50:45.991 PDT · 27 Sep 2026</a:t>
            </a:r>
          </a:p>
        </p:txBody>
      </p:sp>
      <p:sp>
        <p:nvSpPr>
          <p:cNvPr id="195" name="TextBox 194"/>
          <p:cNvSpPr txBox="1"/>
          <p:nvPr/>
        </p:nvSpPr>
        <p:spPr>
          <a:xfrm>
            <a:off x="640080" y="4133087"/>
            <a:ext cx="2468880" cy="182880"/>
          </a:xfrm>
          <a:prstGeom prst="rect">
            <a:avLst/>
          </a:prstGeom>
          <a:noFill/>
        </p:spPr>
        <p:txBody>
          <a:bodyPr wrap="square" anchor="t" lIns="0" rIns="0" tIns="18288" bIns="18288">
            <a:spAutoFit/>
          </a:bodyPr>
          <a:lstStyle/>
          <a:p>
            <a:pPr algn="l"/>
            <a:r>
              <a:rPr sz="900" b="0" i="0">
                <a:solidFill>
                  <a:srgbClr val="F0F2E9"/>
                </a:solidFill>
                <a:latin typeface="Aptos"/>
              </a:rPr>
              <a:t>Person seated beside an open laptop</a:t>
            </a:r>
          </a:p>
        </p:txBody>
      </p:sp>
      <p:sp>
        <p:nvSpPr>
          <p:cNvPr id="196" name="Rectangle 195"/>
          <p:cNvSpPr/>
          <p:nvPr/>
        </p:nvSpPr>
        <p:spPr>
          <a:xfrm>
            <a:off x="3246120" y="2560320"/>
            <a:ext cx="2468880" cy="1389888"/>
          </a:xfrm>
          <a:prstGeom prst="rect">
            <a:avLst/>
          </a:prstGeom>
          <a:solidFill>
            <a:srgbClr val="19231D"/>
          </a:solidFill>
          <a:ln w="12700">
            <a:solidFill>
              <a:srgbClr val="C9A2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7" name="TextBox 196"/>
          <p:cNvSpPr txBox="1"/>
          <p:nvPr/>
        </p:nvSpPr>
        <p:spPr>
          <a:xfrm>
            <a:off x="3383279" y="2697479"/>
            <a:ext cx="2194560" cy="1115568"/>
          </a:xfrm>
          <a:prstGeom prst="rect">
            <a:avLst/>
          </a:prstGeom>
          <a:noFill/>
        </p:spPr>
        <p:txBody>
          <a:bodyPr wrap="square" anchor="ctr" lIns="0" rIns="0" tIns="18288" bIns="18288">
            <a:spAutoFit/>
          </a:bodyPr>
          <a:lstStyle/>
          <a:p>
            <a:pPr algn="l">
              <a:spcAft>
                <a:spcPts val="300"/>
              </a:spcAft>
            </a:pPr>
            <a:r>
              <a:rPr sz="900" b="1" i="0">
                <a:solidFill>
                  <a:srgbClr val="C9A24A"/>
                </a:solidFill>
                <a:latin typeface="Consolas"/>
              </a:rPr>
              <a:t>PLACEHOLDER — INSERT ORIGINAL</a:t>
            </a:r>
          </a:p>
          <a:p>
            <a:pPr algn="l">
              <a:spcAft>
                <a:spcPts val="300"/>
              </a:spcAft>
            </a:pPr>
            <a:r>
              <a:rPr sz="1200" b="1" i="0">
                <a:solidFill>
                  <a:srgbClr val="F0F2E9"/>
                </a:solidFill>
                <a:latin typeface="Aptos"/>
              </a:rPr>
              <a:t>Original frame 370.jpg</a:t>
            </a:r>
          </a:p>
          <a:p>
            <a:pPr algn="l">
              <a:spcAft>
                <a:spcPts val="300"/>
              </a:spcAft>
            </a:pPr>
            <a:r>
              <a:rPr sz="800" b="0" i="0">
                <a:solidFill>
                  <a:srgbClr val="9BA99F"/>
                </a:solidFill>
                <a:latin typeface="Consolas"/>
              </a:rPr>
              <a:t>data/evidence/80777bc1e2ac4fa8b2578015d93a332d/370.jpg</a:t>
            </a:r>
          </a:p>
          <a:p>
            <a:pPr algn="l">
              <a:spcAft>
                <a:spcPts val="300"/>
              </a:spcAft>
            </a:pPr>
            <a:r>
              <a:rPr sz="800" b="0" i="0">
                <a:solidFill>
                  <a:srgbClr val="9BA99F"/>
                </a:solidFill>
                <a:latin typeface="Aptos"/>
              </a:rPr>
              <a:t>Not in this checkout. Copy from the recording Mac; do not substitute generated imagery.</a:t>
            </a:r>
          </a:p>
        </p:txBody>
      </p:sp>
      <p:sp>
        <p:nvSpPr>
          <p:cNvPr id="198" name="TextBox 197"/>
          <p:cNvSpPr txBox="1"/>
          <p:nvPr/>
        </p:nvSpPr>
        <p:spPr>
          <a:xfrm>
            <a:off x="3246120" y="3968496"/>
            <a:ext cx="2468880" cy="182880"/>
          </a:xfrm>
          <a:prstGeom prst="rect">
            <a:avLst/>
          </a:prstGeom>
          <a:noFill/>
        </p:spPr>
        <p:txBody>
          <a:bodyPr wrap="square" anchor="t" lIns="0" rIns="0" tIns="18288" bIns="18288">
            <a:spAutoFit/>
          </a:bodyPr>
          <a:lstStyle/>
          <a:p>
            <a:pPr algn="l"/>
            <a:r>
              <a:rPr sz="800" b="1" i="0">
                <a:solidFill>
                  <a:srgbClr val="D6F28C"/>
                </a:solidFill>
                <a:latin typeface="Consolas"/>
              </a:rPr>
              <a:t>370.jpg</a:t>
            </a:r>
            <a:r>
              <a:rPr sz="800" b="0" i="0">
                <a:solidFill>
                  <a:srgbClr val="9BA99F"/>
                </a:solidFill>
                <a:latin typeface="Consolas"/>
              </a:rPr>
              <a:t>   02:50:59.918 PDT · 27 Sep 2026</a:t>
            </a:r>
          </a:p>
        </p:txBody>
      </p:sp>
      <p:sp>
        <p:nvSpPr>
          <p:cNvPr id="199" name="TextBox 198"/>
          <p:cNvSpPr txBox="1"/>
          <p:nvPr/>
        </p:nvSpPr>
        <p:spPr>
          <a:xfrm>
            <a:off x="3246120" y="4133087"/>
            <a:ext cx="2468880" cy="182880"/>
          </a:xfrm>
          <a:prstGeom prst="rect">
            <a:avLst/>
          </a:prstGeom>
          <a:noFill/>
        </p:spPr>
        <p:txBody>
          <a:bodyPr wrap="square" anchor="t" lIns="0" rIns="0" tIns="18288" bIns="18288">
            <a:spAutoFit/>
          </a:bodyPr>
          <a:lstStyle/>
          <a:p>
            <a:pPr algn="l"/>
            <a:r>
              <a:rPr sz="900" b="0" i="0">
                <a:solidFill>
                  <a:srgbClr val="F0F2E9"/>
                </a:solidFill>
                <a:latin typeface="Aptos"/>
              </a:rPr>
              <a:t>Person standing</a:t>
            </a:r>
          </a:p>
        </p:txBody>
      </p:sp>
      <p:sp>
        <p:nvSpPr>
          <p:cNvPr id="200" name="TextBox 199"/>
          <p:cNvSpPr txBox="1"/>
          <p:nvPr/>
        </p:nvSpPr>
        <p:spPr>
          <a:xfrm>
            <a:off x="2999232" y="3063240"/>
            <a:ext cx="365760" cy="365760"/>
          </a:xfrm>
          <a:prstGeom prst="rect">
            <a:avLst/>
          </a:prstGeom>
          <a:noFill/>
        </p:spPr>
        <p:txBody>
          <a:bodyPr wrap="square" anchor="t" lIns="0" rIns="0" tIns="18288" bIns="18288">
            <a:spAutoFit/>
          </a:bodyPr>
          <a:lstStyle/>
          <a:p>
            <a:pPr algn="ctr"/>
            <a:r>
              <a:rPr sz="1800" b="0" i="0">
                <a:solidFill>
                  <a:srgbClr val="D6F28C"/>
                </a:solidFill>
                <a:latin typeface="Aptos"/>
              </a:rPr>
              <a:t>→</a:t>
            </a:r>
          </a:p>
        </p:txBody>
      </p:sp>
      <p:sp>
        <p:nvSpPr>
          <p:cNvPr id="201" name="TextBox 200"/>
          <p:cNvSpPr txBox="1"/>
          <p:nvPr/>
        </p:nvSpPr>
        <p:spPr>
          <a:xfrm>
            <a:off x="640080" y="4343400"/>
            <a:ext cx="5120640" cy="228600"/>
          </a:xfrm>
          <a:prstGeom prst="rect">
            <a:avLst/>
          </a:prstGeom>
          <a:noFill/>
        </p:spPr>
        <p:txBody>
          <a:bodyPr wrap="square" anchor="t" lIns="0" rIns="0" tIns="18288" bIns="18288">
            <a:spAutoFit/>
          </a:bodyPr>
          <a:lstStyle/>
          <a:p>
            <a:pPr algn="l"/>
            <a:r>
              <a:rPr sz="800" b="0" i="0">
                <a:solidFill>
                  <a:srgbClr val="C9A24A"/>
                </a:solidFill>
                <a:latin typeface="Aptos"/>
              </a:rPr>
              <a:t>Camera reframed between frames: not every image difference is object movement.</a:t>
            </a:r>
          </a:p>
        </p:txBody>
      </p:sp>
      <p:sp>
        <p:nvSpPr>
          <p:cNvPr id="202" name="Rectangle 201"/>
          <p:cNvSpPr/>
          <p:nvPr/>
        </p:nvSpPr>
        <p:spPr>
          <a:xfrm>
            <a:off x="5897880" y="1828800"/>
            <a:ext cx="2606040" cy="2697480"/>
          </a:xfrm>
          <a:prstGeom prst="rect">
            <a:avLst/>
          </a:prstGeom>
          <a:solidFill>
            <a:srgbClr val="19231D"/>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3" name="TextBox 202"/>
          <p:cNvSpPr txBox="1"/>
          <p:nvPr/>
        </p:nvSpPr>
        <p:spPr>
          <a:xfrm>
            <a:off x="6035040" y="1920240"/>
            <a:ext cx="2377440" cy="201168"/>
          </a:xfrm>
          <a:prstGeom prst="rect">
            <a:avLst/>
          </a:prstGeom>
          <a:noFill/>
        </p:spPr>
        <p:txBody>
          <a:bodyPr wrap="square" anchor="t" lIns="0" rIns="0" tIns="18288" bIns="18288">
            <a:spAutoFit/>
          </a:bodyPr>
          <a:lstStyle/>
          <a:p>
            <a:pPr algn="l"/>
            <a:r>
              <a:rPr sz="800" b="1" i="0">
                <a:solidFill>
                  <a:srgbClr val="D6F28C"/>
                </a:solidFill>
                <a:latin typeface="Consolas"/>
              </a:rPr>
              <a:t>HOW IT WORKS  ·  THREE MCP CALLS</a:t>
            </a:r>
          </a:p>
        </p:txBody>
      </p:sp>
      <p:sp>
        <p:nvSpPr>
          <p:cNvPr id="204" name="TextBox 203"/>
          <p:cNvSpPr txBox="1"/>
          <p:nvPr/>
        </p:nvSpPr>
        <p:spPr>
          <a:xfrm>
            <a:off x="6035040" y="2176272"/>
            <a:ext cx="274320" cy="274320"/>
          </a:xfrm>
          <a:prstGeom prst="rect">
            <a:avLst/>
          </a:prstGeom>
          <a:noFill/>
        </p:spPr>
        <p:txBody>
          <a:bodyPr wrap="square" anchor="t" lIns="0" rIns="0" tIns="18288" bIns="18288">
            <a:spAutoFit/>
          </a:bodyPr>
          <a:lstStyle/>
          <a:p>
            <a:pPr algn="l"/>
            <a:r>
              <a:rPr sz="1200" b="1" i="0">
                <a:solidFill>
                  <a:srgbClr val="D6F28C"/>
                </a:solidFill>
                <a:latin typeface="Consolas"/>
              </a:rPr>
              <a:t>1</a:t>
            </a:r>
          </a:p>
        </p:txBody>
      </p:sp>
      <p:sp>
        <p:nvSpPr>
          <p:cNvPr id="205" name="TextBox 204"/>
          <p:cNvSpPr txBox="1"/>
          <p:nvPr/>
        </p:nvSpPr>
        <p:spPr>
          <a:xfrm>
            <a:off x="6309360" y="2157984"/>
            <a:ext cx="2148840" cy="274320"/>
          </a:xfrm>
          <a:prstGeom prst="rect">
            <a:avLst/>
          </a:prstGeom>
          <a:noFill/>
        </p:spPr>
        <p:txBody>
          <a:bodyPr wrap="square" anchor="t" lIns="0" rIns="0" tIns="18288" bIns="18288">
            <a:spAutoFit/>
          </a:bodyPr>
          <a:lstStyle/>
          <a:p>
            <a:pPr algn="l"/>
            <a:r>
              <a:rPr sz="1100" b="0" i="0">
                <a:solidFill>
                  <a:srgbClr val="F0F2E9"/>
                </a:solidFill>
                <a:latin typeface="Aptos"/>
              </a:rPr>
              <a:t>Search earlier observations</a:t>
            </a:r>
          </a:p>
        </p:txBody>
      </p:sp>
      <p:sp>
        <p:nvSpPr>
          <p:cNvPr id="206" name="TextBox 205"/>
          <p:cNvSpPr txBox="1"/>
          <p:nvPr/>
        </p:nvSpPr>
        <p:spPr>
          <a:xfrm>
            <a:off x="6309360" y="2359152"/>
            <a:ext cx="2148840" cy="182880"/>
          </a:xfrm>
          <a:prstGeom prst="rect">
            <a:avLst/>
          </a:prstGeom>
          <a:noFill/>
        </p:spPr>
        <p:txBody>
          <a:bodyPr wrap="square" anchor="t" lIns="0" rIns="0" tIns="18288" bIns="18288">
            <a:spAutoFit/>
          </a:bodyPr>
          <a:lstStyle/>
          <a:p>
            <a:pPr algn="l"/>
            <a:r>
              <a:rPr sz="700" b="0" i="0">
                <a:solidFill>
                  <a:srgbClr val="9BA99F"/>
                </a:solidFill>
                <a:latin typeface="Consolas"/>
              </a:rPr>
              <a:t>search_visual_history</a:t>
            </a:r>
          </a:p>
        </p:txBody>
      </p:sp>
      <p:sp>
        <p:nvSpPr>
          <p:cNvPr id="207" name="TextBox 206"/>
          <p:cNvSpPr txBox="1"/>
          <p:nvPr/>
        </p:nvSpPr>
        <p:spPr>
          <a:xfrm>
            <a:off x="6035040" y="2633472"/>
            <a:ext cx="274320" cy="274320"/>
          </a:xfrm>
          <a:prstGeom prst="rect">
            <a:avLst/>
          </a:prstGeom>
          <a:noFill/>
        </p:spPr>
        <p:txBody>
          <a:bodyPr wrap="square" anchor="t" lIns="0" rIns="0" tIns="18288" bIns="18288">
            <a:spAutoFit/>
          </a:bodyPr>
          <a:lstStyle/>
          <a:p>
            <a:pPr algn="l"/>
            <a:r>
              <a:rPr sz="1200" b="1" i="0">
                <a:solidFill>
                  <a:srgbClr val="D6F28C"/>
                </a:solidFill>
                <a:latin typeface="Consolas"/>
              </a:rPr>
              <a:t>2</a:t>
            </a:r>
          </a:p>
        </p:txBody>
      </p:sp>
      <p:sp>
        <p:nvSpPr>
          <p:cNvPr id="208" name="TextBox 207"/>
          <p:cNvSpPr txBox="1"/>
          <p:nvPr/>
        </p:nvSpPr>
        <p:spPr>
          <a:xfrm>
            <a:off x="6309360" y="2615184"/>
            <a:ext cx="2148840" cy="274320"/>
          </a:xfrm>
          <a:prstGeom prst="rect">
            <a:avLst/>
          </a:prstGeom>
          <a:noFill/>
        </p:spPr>
        <p:txBody>
          <a:bodyPr wrap="square" anchor="t" lIns="0" rIns="0" tIns="18288" bIns="18288">
            <a:spAutoFit/>
          </a:bodyPr>
          <a:lstStyle/>
          <a:p>
            <a:pPr algn="l"/>
            <a:r>
              <a:rPr sz="1100" b="0" i="0">
                <a:solidFill>
                  <a:srgbClr val="F0F2E9"/>
                </a:solidFill>
                <a:latin typeface="Aptos"/>
              </a:rPr>
              <a:t>Inspect original frames</a:t>
            </a:r>
          </a:p>
        </p:txBody>
      </p:sp>
      <p:sp>
        <p:nvSpPr>
          <p:cNvPr id="209" name="TextBox 208"/>
          <p:cNvSpPr txBox="1"/>
          <p:nvPr/>
        </p:nvSpPr>
        <p:spPr>
          <a:xfrm>
            <a:off x="6309360" y="2816352"/>
            <a:ext cx="2148840" cy="182880"/>
          </a:xfrm>
          <a:prstGeom prst="rect">
            <a:avLst/>
          </a:prstGeom>
          <a:noFill/>
        </p:spPr>
        <p:txBody>
          <a:bodyPr wrap="square" anchor="t" lIns="0" rIns="0" tIns="18288" bIns="18288">
            <a:spAutoFit/>
          </a:bodyPr>
          <a:lstStyle/>
          <a:p>
            <a:pPr algn="l"/>
            <a:r>
              <a:rPr sz="700" b="0" i="0">
                <a:solidFill>
                  <a:srgbClr val="9BA99F"/>
                </a:solidFill>
                <a:latin typeface="Consolas"/>
              </a:rPr>
              <a:t>get_evidence</a:t>
            </a:r>
          </a:p>
        </p:txBody>
      </p:sp>
      <p:sp>
        <p:nvSpPr>
          <p:cNvPr id="210" name="TextBox 209"/>
          <p:cNvSpPr txBox="1"/>
          <p:nvPr/>
        </p:nvSpPr>
        <p:spPr>
          <a:xfrm>
            <a:off x="6035040" y="3090672"/>
            <a:ext cx="274320" cy="274320"/>
          </a:xfrm>
          <a:prstGeom prst="rect">
            <a:avLst/>
          </a:prstGeom>
          <a:noFill/>
        </p:spPr>
        <p:txBody>
          <a:bodyPr wrap="square" anchor="t" lIns="0" rIns="0" tIns="18288" bIns="18288">
            <a:spAutoFit/>
          </a:bodyPr>
          <a:lstStyle/>
          <a:p>
            <a:pPr algn="l"/>
            <a:r>
              <a:rPr sz="1200" b="1" i="0">
                <a:solidFill>
                  <a:srgbClr val="D6F28C"/>
                </a:solidFill>
                <a:latin typeface="Consolas"/>
              </a:rPr>
              <a:t>3</a:t>
            </a:r>
          </a:p>
        </p:txBody>
      </p:sp>
      <p:sp>
        <p:nvSpPr>
          <p:cNvPr id="211" name="TextBox 210"/>
          <p:cNvSpPr txBox="1"/>
          <p:nvPr/>
        </p:nvSpPr>
        <p:spPr>
          <a:xfrm>
            <a:off x="6309360" y="3072384"/>
            <a:ext cx="2148840" cy="274320"/>
          </a:xfrm>
          <a:prstGeom prst="rect">
            <a:avLst/>
          </a:prstGeom>
          <a:noFill/>
        </p:spPr>
        <p:txBody>
          <a:bodyPr wrap="square" anchor="t" lIns="0" rIns="0" tIns="18288" bIns="18288">
            <a:spAutoFit/>
          </a:bodyPr>
          <a:lstStyle/>
          <a:p>
            <a:pPr algn="l"/>
            <a:r>
              <a:rPr sz="1100" b="0" i="0">
                <a:solidFill>
                  <a:srgbClr val="F0F2E9"/>
                </a:solidFill>
                <a:latin typeface="Aptos"/>
              </a:rPr>
              <a:t>Explain the supported change</a:t>
            </a:r>
          </a:p>
        </p:txBody>
      </p:sp>
      <p:sp>
        <p:nvSpPr>
          <p:cNvPr id="212" name="TextBox 211"/>
          <p:cNvSpPr txBox="1"/>
          <p:nvPr/>
        </p:nvSpPr>
        <p:spPr>
          <a:xfrm>
            <a:off x="6309360" y="3273552"/>
            <a:ext cx="2148840" cy="182880"/>
          </a:xfrm>
          <a:prstGeom prst="rect">
            <a:avLst/>
          </a:prstGeom>
          <a:noFill/>
        </p:spPr>
        <p:txBody>
          <a:bodyPr wrap="square" anchor="t" lIns="0" rIns="0" tIns="18288" bIns="18288">
            <a:spAutoFit/>
          </a:bodyPr>
          <a:lstStyle/>
          <a:p>
            <a:pPr algn="l"/>
            <a:r>
              <a:rPr sz="700" b="0" i="0">
                <a:solidFill>
                  <a:srgbClr val="9BA99F"/>
                </a:solidFill>
                <a:latin typeface="Consolas"/>
              </a:rPr>
              <a:t>get_memory_state / record_memory</a:t>
            </a:r>
          </a:p>
        </p:txBody>
      </p:sp>
      <p:cxnSp>
        <p:nvCxnSpPr>
          <p:cNvPr id="213" name="Connector 212"/>
          <p:cNvCxnSpPr/>
          <p:nvPr/>
        </p:nvCxnSpPr>
        <p:spPr>
          <a:xfrm>
            <a:off x="6035040" y="3566160"/>
            <a:ext cx="2331720" cy="0"/>
          </a:xfrm>
          <a:prstGeom prst="line">
            <a:avLst/>
          </a:prstGeom>
          <a:ln w="9525">
            <a:solidFill>
              <a:srgbClr val="2E3B33"/>
            </a:solidFill>
          </a:ln>
        </p:spPr>
        <p:style>
          <a:lnRef idx="2">
            <a:schemeClr val="accent1"/>
          </a:lnRef>
          <a:fillRef idx="0">
            <a:schemeClr val="accent1"/>
          </a:fillRef>
          <a:effectRef idx="1">
            <a:schemeClr val="accent1"/>
          </a:effectRef>
          <a:fontRef idx="minor">
            <a:schemeClr val="tx1"/>
          </a:fontRef>
        </p:style>
      </p:cxnSp>
      <p:sp>
        <p:nvSpPr>
          <p:cNvPr id="214" name="TextBox 213"/>
          <p:cNvSpPr txBox="1"/>
          <p:nvPr/>
        </p:nvSpPr>
        <p:spPr>
          <a:xfrm>
            <a:off x="6035040" y="3611880"/>
            <a:ext cx="2377440" cy="274320"/>
          </a:xfrm>
          <a:prstGeom prst="rect">
            <a:avLst/>
          </a:prstGeom>
          <a:noFill/>
        </p:spPr>
        <p:txBody>
          <a:bodyPr wrap="square" anchor="t" lIns="0" rIns="0" tIns="18288" bIns="18288">
            <a:spAutoFit/>
          </a:bodyPr>
          <a:lstStyle/>
          <a:p>
            <a:pPr algn="l"/>
            <a:r>
              <a:rPr sz="1100" b="1" i="0">
                <a:solidFill>
                  <a:srgbClr val="D6F28C"/>
                </a:solidFill>
                <a:latin typeface="Aptos Display"/>
              </a:rPr>
              <a:t>Seated earlier. Standing later.</a:t>
            </a:r>
          </a:p>
        </p:txBody>
      </p:sp>
      <p:sp>
        <p:nvSpPr>
          <p:cNvPr id="215" name="TextBox 214"/>
          <p:cNvSpPr txBox="1"/>
          <p:nvPr/>
        </p:nvSpPr>
        <p:spPr>
          <a:xfrm>
            <a:off x="6035040" y="3858768"/>
            <a:ext cx="2377440" cy="228600"/>
          </a:xfrm>
          <a:prstGeom prst="rect">
            <a:avLst/>
          </a:prstGeom>
          <a:noFill/>
        </p:spPr>
        <p:txBody>
          <a:bodyPr wrap="square" anchor="t" lIns="0" rIns="0" tIns="18288" bIns="18288">
            <a:spAutoFit/>
          </a:bodyPr>
          <a:lstStyle/>
          <a:p>
            <a:pPr algn="l"/>
            <a:r>
              <a:rPr sz="900" b="0" i="0">
                <a:solidFill>
                  <a:srgbClr val="F0F2E9"/>
                </a:solidFill>
                <a:latin typeface="Aptos"/>
              </a:rPr>
              <a:t>Task completion was not observed.</a:t>
            </a:r>
          </a:p>
        </p:txBody>
      </p:sp>
      <p:sp>
        <p:nvSpPr>
          <p:cNvPr id="216" name="TextBox 215"/>
          <p:cNvSpPr txBox="1"/>
          <p:nvPr/>
        </p:nvSpPr>
        <p:spPr>
          <a:xfrm>
            <a:off x="6035040" y="4114800"/>
            <a:ext cx="2377440" cy="365760"/>
          </a:xfrm>
          <a:prstGeom prst="rect">
            <a:avLst/>
          </a:prstGeom>
          <a:noFill/>
        </p:spPr>
        <p:txBody>
          <a:bodyPr wrap="square" anchor="t" lIns="0" rIns="0" tIns="18288" bIns="18288">
            <a:spAutoFit/>
          </a:bodyPr>
          <a:lstStyle/>
          <a:p>
            <a:pPr algn="l"/>
            <a:r>
              <a:rPr sz="800" b="0" i="0">
                <a:solidFill>
                  <a:srgbClr val="9BA99F"/>
                </a:solidFill>
                <a:latin typeface="Aptos"/>
              </a:rPr>
              <a:t>WHAT CHANGES: the agent cites originals instead of guessing.</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descr="image.gif" id="195" name="Google Shape;195;p6"/>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202" name="Google Shape;202;p6"/>
          <p:cNvPicPr preferRelativeResize="0"/>
          <p:nvPr/>
        </p:nvPicPr>
        <p:blipFill rotWithShape="1">
          <a:blip r:embed="rId4">
            <a:alphaModFix/>
          </a:blip>
          <a:srcRect b="0" l="0" r="0" t="0"/>
          <a:stretch/>
        </p:blipFill>
        <p:spPr>
          <a:xfrm>
            <a:off x="7708392" y="4882896"/>
            <a:ext cx="1024128" cy="155448"/>
          </a:xfrm>
          <a:prstGeom prst="rect">
            <a:avLst/>
          </a:prstGeom>
          <a:noFill/>
          <a:ln>
            <a:noFill/>
          </a:ln>
        </p:spPr>
      </p:pic>
      <p:sp>
        <p:nvSpPr>
          <p:cNvPr id="203" name="Rectangle 202"/>
          <p:cNvSpPr/>
          <p:nvPr/>
        </p:nvSpPr>
        <p:spPr>
          <a:xfrm>
            <a:off x="429768" y="393192"/>
            <a:ext cx="8275320" cy="4352544"/>
          </a:xfrm>
          <a:prstGeom prst="rect">
            <a:avLst/>
          </a:prstGeom>
          <a:solidFill>
            <a:srgbClr val="0D1411"/>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TextBox 203"/>
          <p:cNvSpPr txBox="1"/>
          <p:nvPr/>
        </p:nvSpPr>
        <p:spPr>
          <a:xfrm>
            <a:off x="640080" y="502920"/>
            <a:ext cx="5943600" cy="201168"/>
          </a:xfrm>
          <a:prstGeom prst="rect">
            <a:avLst/>
          </a:prstGeom>
          <a:noFill/>
        </p:spPr>
        <p:txBody>
          <a:bodyPr wrap="square" anchor="t" lIns="0" rIns="0" tIns="18288" bIns="18288">
            <a:spAutoFit/>
          </a:bodyPr>
          <a:lstStyle/>
          <a:p>
            <a:pPr algn="l"/>
            <a:r>
              <a:rPr sz="900" b="1" i="0">
                <a:solidFill>
                  <a:srgbClr val="D6F28C"/>
                </a:solidFill>
                <a:latin typeface="Consolas"/>
              </a:rPr>
              <a:t>FIELDNOTES</a:t>
            </a:r>
            <a:r>
              <a:rPr sz="900" b="0" i="0">
                <a:solidFill>
                  <a:srgbClr val="9BA99F"/>
                </a:solidFill>
                <a:latin typeface="Consolas"/>
              </a:rPr>
              <a:t>   /   05  QUANTIFIED IMPACT</a:t>
            </a:r>
          </a:p>
        </p:txBody>
      </p:sp>
      <p:sp>
        <p:nvSpPr>
          <p:cNvPr id="205" name="TextBox 204"/>
          <p:cNvSpPr txBox="1"/>
          <p:nvPr/>
        </p:nvSpPr>
        <p:spPr>
          <a:xfrm>
            <a:off x="7726679" y="521207"/>
            <a:ext cx="731520" cy="228600"/>
          </a:xfrm>
          <a:prstGeom prst="rect">
            <a:avLst/>
          </a:prstGeom>
          <a:noFill/>
        </p:spPr>
        <p:txBody>
          <a:bodyPr wrap="square" anchor="t" lIns="0" rIns="0" tIns="18288" bIns="18288">
            <a:spAutoFit/>
          </a:bodyPr>
          <a:lstStyle/>
          <a:p>
            <a:pPr algn="r"/>
            <a:r>
              <a:rPr sz="1000" b="0" i="0">
                <a:solidFill>
                  <a:srgbClr val="9BA99F"/>
                </a:solidFill>
                <a:latin typeface="Consolas"/>
              </a:rPr>
              <a:t>05</a:t>
            </a:r>
          </a:p>
        </p:txBody>
      </p:sp>
      <p:sp>
        <p:nvSpPr>
          <p:cNvPr id="206" name="TextBox 205"/>
          <p:cNvSpPr txBox="1"/>
          <p:nvPr/>
        </p:nvSpPr>
        <p:spPr>
          <a:xfrm>
            <a:off x="429768" y="4846320"/>
            <a:ext cx="5486400" cy="182880"/>
          </a:xfrm>
          <a:prstGeom prst="rect">
            <a:avLst/>
          </a:prstGeom>
          <a:noFill/>
        </p:spPr>
        <p:txBody>
          <a:bodyPr wrap="square" anchor="t" lIns="0" rIns="0" tIns="18288" bIns="18288">
            <a:spAutoFit/>
          </a:bodyPr>
          <a:lstStyle/>
          <a:p>
            <a:pPr algn="l"/>
            <a:r>
              <a:rPr sz="700" b="0" i="0">
                <a:solidFill>
                  <a:srgbClr val="9BA99F"/>
                </a:solidFill>
                <a:latin typeface="Consolas"/>
              </a:rPr>
              <a:t>FIELDNOTES  /  HACKATHON PROTOTYPE  /  INNOVATION CUP 2026</a:t>
            </a:r>
          </a:p>
        </p:txBody>
      </p:sp>
      <p:sp>
        <p:nvSpPr>
          <p:cNvPr id="207" name="TextBox 206"/>
          <p:cNvSpPr txBox="1"/>
          <p:nvPr/>
        </p:nvSpPr>
        <p:spPr>
          <a:xfrm>
            <a:off x="640080" y="786384"/>
            <a:ext cx="7863840" cy="658368"/>
          </a:xfrm>
          <a:prstGeom prst="rect">
            <a:avLst/>
          </a:prstGeom>
          <a:noFill/>
        </p:spPr>
        <p:txBody>
          <a:bodyPr wrap="square" anchor="b" lIns="0" rIns="0" tIns="18288" bIns="18288">
            <a:spAutoFit/>
          </a:bodyPr>
          <a:lstStyle/>
          <a:p>
            <a:pPr algn="l"/>
            <a:r>
              <a:rPr sz="2100" b="1" i="0">
                <a:solidFill>
                  <a:srgbClr val="F0F2E9"/>
                </a:solidFill>
                <a:latin typeface="Aptos Display"/>
              </a:rPr>
              <a:t>148 retained evidence images</a:t>
            </a:r>
          </a:p>
        </p:txBody>
      </p:sp>
      <p:sp>
        <p:nvSpPr>
          <p:cNvPr id="208" name="TextBox 207"/>
          <p:cNvSpPr txBox="1"/>
          <p:nvPr/>
        </p:nvSpPr>
        <p:spPr>
          <a:xfrm>
            <a:off x="640080" y="1463040"/>
            <a:ext cx="7863840" cy="228600"/>
          </a:xfrm>
          <a:prstGeom prst="rect">
            <a:avLst/>
          </a:prstGeom>
          <a:noFill/>
        </p:spPr>
        <p:txBody>
          <a:bodyPr wrap="square" anchor="t" lIns="0" rIns="0" tIns="18288" bIns="18288">
            <a:spAutoFit/>
          </a:bodyPr>
          <a:lstStyle/>
          <a:p>
            <a:pPr algn="l"/>
            <a:r>
              <a:rPr sz="1000" b="0" i="0">
                <a:solidFill>
                  <a:srgbClr val="9BA99F"/>
                </a:solidFill>
                <a:latin typeface="Aptos"/>
              </a:rPr>
              <a:t>One recorded prototype session · numbers classified below</a:t>
            </a:r>
          </a:p>
        </p:txBody>
      </p:sp>
      <p:cxnSp>
        <p:nvCxnSpPr>
          <p:cNvPr id="209" name="Connector 208"/>
          <p:cNvCxnSpPr/>
          <p:nvPr/>
        </p:nvCxnSpPr>
        <p:spPr>
          <a:xfrm>
            <a:off x="640080" y="1737360"/>
            <a:ext cx="7818120" cy="0"/>
          </a:xfrm>
          <a:prstGeom prst="line">
            <a:avLst/>
          </a:prstGeom>
          <a:ln w="9525">
            <a:solidFill>
              <a:srgbClr val="2E3B33"/>
            </a:solidFill>
          </a:ln>
        </p:spPr>
        <p:style>
          <a:lnRef idx="2">
            <a:schemeClr val="accent1"/>
          </a:lnRef>
          <a:fillRef idx="0">
            <a:schemeClr val="accent1"/>
          </a:fillRef>
          <a:effectRef idx="1">
            <a:schemeClr val="accent1"/>
          </a:effectRef>
          <a:fontRef idx="minor">
            <a:schemeClr val="tx1"/>
          </a:fontRef>
        </p:style>
      </p:cxnSp>
      <p:sp>
        <p:nvSpPr>
          <p:cNvPr id="210" name="TextBox 209"/>
          <p:cNvSpPr txBox="1"/>
          <p:nvPr/>
        </p:nvSpPr>
        <p:spPr>
          <a:xfrm>
            <a:off x="640080" y="1783080"/>
            <a:ext cx="4206240" cy="1463040"/>
          </a:xfrm>
          <a:prstGeom prst="rect">
            <a:avLst/>
          </a:prstGeom>
          <a:noFill/>
        </p:spPr>
        <p:txBody>
          <a:bodyPr wrap="square" anchor="t" lIns="0" rIns="0" tIns="18288" bIns="18288">
            <a:spAutoFit/>
          </a:bodyPr>
          <a:lstStyle/>
          <a:p>
            <a:pPr algn="l"/>
            <a:r>
              <a:rPr sz="9600" b="1" i="0">
                <a:solidFill>
                  <a:srgbClr val="D6F28C"/>
                </a:solidFill>
                <a:latin typeface="Aptos Display"/>
              </a:rPr>
              <a:t>148</a:t>
            </a:r>
          </a:p>
        </p:txBody>
      </p:sp>
      <p:sp>
        <p:nvSpPr>
          <p:cNvPr id="211" name="TextBox 210"/>
          <p:cNvSpPr txBox="1"/>
          <p:nvPr/>
        </p:nvSpPr>
        <p:spPr>
          <a:xfrm>
            <a:off x="640080" y="3200400"/>
            <a:ext cx="4206240" cy="274320"/>
          </a:xfrm>
          <a:prstGeom prst="rect">
            <a:avLst/>
          </a:prstGeom>
          <a:noFill/>
        </p:spPr>
        <p:txBody>
          <a:bodyPr wrap="square" anchor="t" lIns="0" rIns="0" tIns="18288" bIns="18288">
            <a:spAutoFit/>
          </a:bodyPr>
          <a:lstStyle/>
          <a:p>
            <a:pPr algn="l"/>
            <a:r>
              <a:rPr sz="900" b="1" i="0">
                <a:solidFill>
                  <a:srgbClr val="D6F28C"/>
                </a:solidFill>
                <a:latin typeface="Consolas"/>
              </a:rPr>
              <a:t>VERIFIED</a:t>
            </a:r>
            <a:r>
              <a:rPr sz="1000" b="0" i="0">
                <a:solidFill>
                  <a:srgbClr val="9BA99F"/>
                </a:solidFill>
                <a:latin typeface="Aptos"/>
              </a:rPr>
              <a:t>  ·  one recorded prototype session</a:t>
            </a:r>
          </a:p>
        </p:txBody>
      </p:sp>
      <p:sp>
        <p:nvSpPr>
          <p:cNvPr id="212" name="TextBox 211"/>
          <p:cNvSpPr txBox="1"/>
          <p:nvPr/>
        </p:nvSpPr>
        <p:spPr>
          <a:xfrm>
            <a:off x="640080" y="3520440"/>
            <a:ext cx="4206240" cy="548640"/>
          </a:xfrm>
          <a:prstGeom prst="rect">
            <a:avLst/>
          </a:prstGeom>
          <a:noFill/>
        </p:spPr>
        <p:txBody>
          <a:bodyPr wrap="square" anchor="t" lIns="0" rIns="0" tIns="18288" bIns="18288">
            <a:spAutoFit/>
          </a:bodyPr>
          <a:lstStyle/>
          <a:p>
            <a:pPr algn="l"/>
            <a:r>
              <a:rPr sz="1300" b="0" i="0">
                <a:solidFill>
                  <a:srgbClr val="F0F2E9"/>
                </a:solidFill>
                <a:latin typeface="Aptos"/>
              </a:rPr>
              <a:t>A record the agent can inspect after the moment has passed.</a:t>
            </a:r>
          </a:p>
        </p:txBody>
      </p:sp>
      <p:sp>
        <p:nvSpPr>
          <p:cNvPr id="213" name="TextBox 212"/>
          <p:cNvSpPr txBox="1"/>
          <p:nvPr/>
        </p:nvSpPr>
        <p:spPr>
          <a:xfrm>
            <a:off x="640080" y="4114800"/>
            <a:ext cx="4206240" cy="274320"/>
          </a:xfrm>
          <a:prstGeom prst="rect">
            <a:avLst/>
          </a:prstGeom>
          <a:noFill/>
        </p:spPr>
        <p:txBody>
          <a:bodyPr wrap="square" anchor="t" lIns="0" rIns="0" tIns="18288" bIns="18288">
            <a:spAutoFit/>
          </a:bodyPr>
          <a:lstStyle/>
          <a:p>
            <a:pPr algn="l"/>
            <a:r>
              <a:rPr sz="1000" b="0" i="0">
                <a:solidFill>
                  <a:srgbClr val="C9A24A"/>
                </a:solidFill>
                <a:latin typeface="Aptos"/>
              </a:rPr>
              <a:t>Productivity improvement has not yet been measured.</a:t>
            </a:r>
          </a:p>
        </p:txBody>
      </p:sp>
      <p:sp>
        <p:nvSpPr>
          <p:cNvPr id="214" name="Rectangle 213"/>
          <p:cNvSpPr/>
          <p:nvPr/>
        </p:nvSpPr>
        <p:spPr>
          <a:xfrm>
            <a:off x="5120640" y="1828800"/>
            <a:ext cx="1600200" cy="1188720"/>
          </a:xfrm>
          <a:prstGeom prst="rect">
            <a:avLst/>
          </a:prstGeom>
          <a:solidFill>
            <a:srgbClr val="19231D"/>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5" name="TextBox 214"/>
          <p:cNvSpPr txBox="1"/>
          <p:nvPr/>
        </p:nvSpPr>
        <p:spPr>
          <a:xfrm>
            <a:off x="5230368" y="1901952"/>
            <a:ext cx="1417320" cy="548640"/>
          </a:xfrm>
          <a:prstGeom prst="rect">
            <a:avLst/>
          </a:prstGeom>
          <a:noFill/>
        </p:spPr>
        <p:txBody>
          <a:bodyPr wrap="square" anchor="t" lIns="0" rIns="0" tIns="18288" bIns="18288">
            <a:spAutoFit/>
          </a:bodyPr>
          <a:lstStyle/>
          <a:p>
            <a:pPr algn="l"/>
            <a:r>
              <a:rPr sz="2600" b="1" i="0">
                <a:solidFill>
                  <a:srgbClr val="F0F2E9"/>
                </a:solidFill>
                <a:latin typeface="Aptos Display"/>
              </a:rPr>
              <a:t>712</a:t>
            </a:r>
          </a:p>
        </p:txBody>
      </p:sp>
      <p:sp>
        <p:nvSpPr>
          <p:cNvPr id="216" name="TextBox 215"/>
          <p:cNvSpPr txBox="1"/>
          <p:nvPr/>
        </p:nvSpPr>
        <p:spPr>
          <a:xfrm>
            <a:off x="5230368" y="2468880"/>
            <a:ext cx="1417320" cy="274320"/>
          </a:xfrm>
          <a:prstGeom prst="rect">
            <a:avLst/>
          </a:prstGeom>
          <a:noFill/>
        </p:spPr>
        <p:txBody>
          <a:bodyPr wrap="square" anchor="t" lIns="0" rIns="0" tIns="18288" bIns="18288">
            <a:spAutoFit/>
          </a:bodyPr>
          <a:lstStyle/>
          <a:p>
            <a:pPr algn="l"/>
            <a:r>
              <a:rPr sz="1000" b="0" i="0">
                <a:solidFill>
                  <a:srgbClr val="9BA99F"/>
                </a:solidFill>
                <a:latin typeface="Aptos"/>
              </a:rPr>
              <a:t>received frames</a:t>
            </a:r>
          </a:p>
        </p:txBody>
      </p:sp>
      <p:sp>
        <p:nvSpPr>
          <p:cNvPr id="217" name="TextBox 216"/>
          <p:cNvSpPr txBox="1"/>
          <p:nvPr/>
        </p:nvSpPr>
        <p:spPr>
          <a:xfrm>
            <a:off x="5230368" y="2743200"/>
            <a:ext cx="1417320" cy="228600"/>
          </a:xfrm>
          <a:prstGeom prst="rect">
            <a:avLst/>
          </a:prstGeom>
          <a:noFill/>
        </p:spPr>
        <p:txBody>
          <a:bodyPr wrap="square" anchor="t" lIns="0" rIns="0" tIns="18288" bIns="18288">
            <a:spAutoFit/>
          </a:bodyPr>
          <a:lstStyle/>
          <a:p>
            <a:pPr algn="l"/>
            <a:r>
              <a:rPr sz="800" b="1" i="0">
                <a:solidFill>
                  <a:srgbClr val="D6F28C"/>
                </a:solidFill>
                <a:latin typeface="Consolas"/>
              </a:rPr>
              <a:t>VERIFIED</a:t>
            </a:r>
          </a:p>
        </p:txBody>
      </p:sp>
      <p:sp>
        <p:nvSpPr>
          <p:cNvPr id="218" name="Rectangle 217"/>
          <p:cNvSpPr/>
          <p:nvPr/>
        </p:nvSpPr>
        <p:spPr>
          <a:xfrm>
            <a:off x="6858000" y="1828800"/>
            <a:ext cx="1600200" cy="1188720"/>
          </a:xfrm>
          <a:prstGeom prst="rect">
            <a:avLst/>
          </a:prstGeom>
          <a:solidFill>
            <a:srgbClr val="19231D"/>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9" name="TextBox 218"/>
          <p:cNvSpPr txBox="1"/>
          <p:nvPr/>
        </p:nvSpPr>
        <p:spPr>
          <a:xfrm>
            <a:off x="6967728" y="1901952"/>
            <a:ext cx="1417320" cy="548640"/>
          </a:xfrm>
          <a:prstGeom prst="rect">
            <a:avLst/>
          </a:prstGeom>
          <a:noFill/>
        </p:spPr>
        <p:txBody>
          <a:bodyPr wrap="square" anchor="t" lIns="0" rIns="0" tIns="18288" bIns="18288">
            <a:spAutoFit/>
          </a:bodyPr>
          <a:lstStyle/>
          <a:p>
            <a:pPr algn="l"/>
            <a:r>
              <a:rPr sz="2600" b="1" i="0">
                <a:solidFill>
                  <a:srgbClr val="F0F2E9"/>
                </a:solidFill>
                <a:latin typeface="Aptos Display"/>
              </a:rPr>
              <a:t>140.7 s</a:t>
            </a:r>
          </a:p>
        </p:txBody>
      </p:sp>
      <p:sp>
        <p:nvSpPr>
          <p:cNvPr id="220" name="TextBox 219"/>
          <p:cNvSpPr txBox="1"/>
          <p:nvPr/>
        </p:nvSpPr>
        <p:spPr>
          <a:xfrm>
            <a:off x="6967728" y="2468880"/>
            <a:ext cx="1417320" cy="274320"/>
          </a:xfrm>
          <a:prstGeom prst="rect">
            <a:avLst/>
          </a:prstGeom>
          <a:noFill/>
        </p:spPr>
        <p:txBody>
          <a:bodyPr wrap="square" anchor="t" lIns="0" rIns="0" tIns="18288" bIns="18288">
            <a:spAutoFit/>
          </a:bodyPr>
          <a:lstStyle/>
          <a:p>
            <a:pPr algn="l"/>
            <a:r>
              <a:rPr sz="1000" b="0" i="0">
                <a:solidFill>
                  <a:srgbClr val="9BA99F"/>
                </a:solidFill>
                <a:latin typeface="Aptos"/>
              </a:rPr>
              <a:t>of observed footage</a:t>
            </a:r>
          </a:p>
        </p:txBody>
      </p:sp>
      <p:sp>
        <p:nvSpPr>
          <p:cNvPr id="221" name="TextBox 220"/>
          <p:cNvSpPr txBox="1"/>
          <p:nvPr/>
        </p:nvSpPr>
        <p:spPr>
          <a:xfrm>
            <a:off x="6967728" y="2743200"/>
            <a:ext cx="1417320" cy="228600"/>
          </a:xfrm>
          <a:prstGeom prst="rect">
            <a:avLst/>
          </a:prstGeom>
          <a:noFill/>
        </p:spPr>
        <p:txBody>
          <a:bodyPr wrap="square" anchor="t" lIns="0" rIns="0" tIns="18288" bIns="18288">
            <a:spAutoFit/>
          </a:bodyPr>
          <a:lstStyle/>
          <a:p>
            <a:pPr algn="l"/>
            <a:r>
              <a:rPr sz="800" b="1" i="0">
                <a:solidFill>
                  <a:srgbClr val="C9A24A"/>
                </a:solidFill>
                <a:latin typeface="Consolas"/>
              </a:rPr>
              <a:t>CALCULATED</a:t>
            </a:r>
          </a:p>
        </p:txBody>
      </p:sp>
      <p:sp>
        <p:nvSpPr>
          <p:cNvPr id="222" name="Rectangle 221"/>
          <p:cNvSpPr/>
          <p:nvPr/>
        </p:nvSpPr>
        <p:spPr>
          <a:xfrm>
            <a:off x="5120640" y="3154680"/>
            <a:ext cx="310896" cy="201168"/>
          </a:xfrm>
          <a:prstGeom prst="rect">
            <a:avLst/>
          </a:prstGeom>
          <a:solidFill>
            <a:srgbClr val="D6F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3" name="Rectangle 222"/>
          <p:cNvSpPr/>
          <p:nvPr/>
        </p:nvSpPr>
        <p:spPr>
          <a:xfrm>
            <a:off x="5495544" y="3154680"/>
            <a:ext cx="310896" cy="201168"/>
          </a:xfrm>
          <a:prstGeom prst="rect">
            <a:avLst/>
          </a:prstGeom>
          <a:solidFill>
            <a:srgbClr val="22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4" name="Rectangle 223"/>
          <p:cNvSpPr/>
          <p:nvPr/>
        </p:nvSpPr>
        <p:spPr>
          <a:xfrm>
            <a:off x="5870448" y="3154680"/>
            <a:ext cx="310896" cy="201168"/>
          </a:xfrm>
          <a:prstGeom prst="rect">
            <a:avLst/>
          </a:prstGeom>
          <a:solidFill>
            <a:srgbClr val="22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5" name="Rectangle 224"/>
          <p:cNvSpPr/>
          <p:nvPr/>
        </p:nvSpPr>
        <p:spPr>
          <a:xfrm>
            <a:off x="6245352" y="3154680"/>
            <a:ext cx="310896" cy="201168"/>
          </a:xfrm>
          <a:prstGeom prst="rect">
            <a:avLst/>
          </a:prstGeom>
          <a:solidFill>
            <a:srgbClr val="22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6" name="Rectangle 225"/>
          <p:cNvSpPr/>
          <p:nvPr/>
        </p:nvSpPr>
        <p:spPr>
          <a:xfrm>
            <a:off x="6620255" y="3154680"/>
            <a:ext cx="310896" cy="201168"/>
          </a:xfrm>
          <a:prstGeom prst="rect">
            <a:avLst/>
          </a:prstGeom>
          <a:solidFill>
            <a:srgbClr val="22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7" name="Rectangle 226"/>
          <p:cNvSpPr/>
          <p:nvPr/>
        </p:nvSpPr>
        <p:spPr>
          <a:xfrm>
            <a:off x="6995159" y="3154680"/>
            <a:ext cx="310896" cy="201168"/>
          </a:xfrm>
          <a:prstGeom prst="rect">
            <a:avLst/>
          </a:prstGeom>
          <a:solidFill>
            <a:srgbClr val="D6F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8" name="Rectangle 227"/>
          <p:cNvSpPr/>
          <p:nvPr/>
        </p:nvSpPr>
        <p:spPr>
          <a:xfrm>
            <a:off x="7370063" y="3154680"/>
            <a:ext cx="310896" cy="201168"/>
          </a:xfrm>
          <a:prstGeom prst="rect">
            <a:avLst/>
          </a:prstGeom>
          <a:solidFill>
            <a:srgbClr val="22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9" name="Rectangle 228"/>
          <p:cNvSpPr/>
          <p:nvPr/>
        </p:nvSpPr>
        <p:spPr>
          <a:xfrm>
            <a:off x="7744967" y="3154680"/>
            <a:ext cx="310896" cy="201168"/>
          </a:xfrm>
          <a:prstGeom prst="rect">
            <a:avLst/>
          </a:prstGeom>
          <a:solidFill>
            <a:srgbClr val="22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0" name="Rectangle 229"/>
          <p:cNvSpPr/>
          <p:nvPr/>
        </p:nvSpPr>
        <p:spPr>
          <a:xfrm>
            <a:off x="8119871" y="3154680"/>
            <a:ext cx="310896" cy="201168"/>
          </a:xfrm>
          <a:prstGeom prst="rect">
            <a:avLst/>
          </a:prstGeom>
          <a:solidFill>
            <a:srgbClr val="22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1" name="TextBox 230"/>
          <p:cNvSpPr txBox="1"/>
          <p:nvPr/>
        </p:nvSpPr>
        <p:spPr>
          <a:xfrm>
            <a:off x="5120640" y="3383280"/>
            <a:ext cx="3383280" cy="182880"/>
          </a:xfrm>
          <a:prstGeom prst="rect">
            <a:avLst/>
          </a:prstGeom>
          <a:noFill/>
        </p:spPr>
        <p:txBody>
          <a:bodyPr wrap="square" anchor="t" lIns="0" rIns="0" tIns="18288" bIns="18288">
            <a:spAutoFit/>
          </a:bodyPr>
          <a:lstStyle/>
          <a:p>
            <a:pPr algn="l"/>
            <a:r>
              <a:rPr sz="700" b="0" i="0">
                <a:solidFill>
                  <a:srgbClr val="9BA99F"/>
                </a:solidFill>
                <a:latin typeface="Consolas"/>
              </a:rPr>
              <a:t>sampled frames retained as evidence (motif, not to scale)</a:t>
            </a:r>
          </a:p>
        </p:txBody>
      </p:sp>
      <p:sp>
        <p:nvSpPr>
          <p:cNvPr id="232" name="Rectangle 231"/>
          <p:cNvSpPr/>
          <p:nvPr/>
        </p:nvSpPr>
        <p:spPr>
          <a:xfrm>
            <a:off x="5120640" y="3611880"/>
            <a:ext cx="3383280" cy="914400"/>
          </a:xfrm>
          <a:prstGeom prst="rect">
            <a:avLst/>
          </a:prstGeom>
          <a:solidFill>
            <a:srgbClr val="19231D"/>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3" name="TextBox 232"/>
          <p:cNvSpPr txBox="1"/>
          <p:nvPr/>
        </p:nvSpPr>
        <p:spPr>
          <a:xfrm>
            <a:off x="5230368" y="3657600"/>
            <a:ext cx="3200400" cy="201168"/>
          </a:xfrm>
          <a:prstGeom prst="rect">
            <a:avLst/>
          </a:prstGeom>
          <a:noFill/>
        </p:spPr>
        <p:txBody>
          <a:bodyPr wrap="square" anchor="t" lIns="0" rIns="0" tIns="18288" bIns="18288">
            <a:spAutoFit/>
          </a:bodyPr>
          <a:lstStyle/>
          <a:p>
            <a:pPr algn="l"/>
            <a:r>
              <a:rPr sz="800" b="1" i="0">
                <a:solidFill>
                  <a:srgbClr val="9BA99F"/>
                </a:solidFill>
                <a:latin typeface="Consolas"/>
              </a:rPr>
              <a:t>HOW THE NUMBERS WERE CALCULATED</a:t>
            </a:r>
          </a:p>
        </p:txBody>
      </p:sp>
      <p:sp>
        <p:nvSpPr>
          <p:cNvPr id="234" name="TextBox 233"/>
          <p:cNvSpPr txBox="1"/>
          <p:nvPr/>
        </p:nvSpPr>
        <p:spPr>
          <a:xfrm>
            <a:off x="5230368" y="3858768"/>
            <a:ext cx="3200400" cy="640080"/>
          </a:xfrm>
          <a:prstGeom prst="rect">
            <a:avLst/>
          </a:prstGeom>
          <a:noFill/>
        </p:spPr>
        <p:txBody>
          <a:bodyPr wrap="square" anchor="t" lIns="0" rIns="0" tIns="18288" bIns="18288">
            <a:spAutoFit/>
          </a:bodyPr>
          <a:lstStyle/>
          <a:p>
            <a:pPr algn="l">
              <a:spcAft>
                <a:spcPts val="200"/>
              </a:spcAft>
            </a:pPr>
            <a:r>
              <a:rPr sz="700" b="0" i="0">
                <a:solidFill>
                  <a:srgbClr val="F0F2E9"/>
                </a:solidFill>
                <a:latin typeface="Consolas"/>
              </a:rPr>
              <a:t>session 80777bc1… · 27 Sep 2026 · memory.sqlite3 (read-only)</a:t>
            </a:r>
          </a:p>
          <a:p>
            <a:pPr algn="l">
              <a:spcAft>
                <a:spcPts val="200"/>
              </a:spcAft>
            </a:pPr>
            <a:r>
              <a:rPr sz="800" b="0" i="0">
                <a:solidFill>
                  <a:srgbClr val="9BA99F"/>
                </a:solidFill>
                <a:latin typeface="Aptos"/>
              </a:rPr>
              <a:t>Counts: rows of received frames and retained evidence.</a:t>
            </a:r>
          </a:p>
          <a:p>
            <a:pPr algn="l">
              <a:spcAft>
                <a:spcPts val="200"/>
              </a:spcAft>
            </a:pPr>
            <a:r>
              <a:rPr sz="800" b="0" i="0">
                <a:solidFill>
                  <a:srgbClr val="9BA99F"/>
                </a:solidFill>
                <a:latin typeface="Aptos"/>
              </a:rPr>
              <a:t>Duration: last receipt − first receipt = 140.707 s.</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descr="image.gif" id="224" name="Google Shape;224;p7"/>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231" name="Google Shape;231;p7"/>
          <p:cNvPicPr preferRelativeResize="0"/>
          <p:nvPr/>
        </p:nvPicPr>
        <p:blipFill rotWithShape="1">
          <a:blip r:embed="rId4">
            <a:alphaModFix/>
          </a:blip>
          <a:srcRect b="0" l="0" r="0" t="0"/>
          <a:stretch/>
        </p:blipFill>
        <p:spPr>
          <a:xfrm>
            <a:off x="7708392" y="4882896"/>
            <a:ext cx="1024128" cy="155448"/>
          </a:xfrm>
          <a:prstGeom prst="rect">
            <a:avLst/>
          </a:prstGeom>
          <a:noFill/>
          <a:ln>
            <a:noFill/>
          </a:ln>
        </p:spPr>
      </p:pic>
      <p:sp>
        <p:nvSpPr>
          <p:cNvPr id="232" name="Rectangle 231"/>
          <p:cNvSpPr/>
          <p:nvPr/>
        </p:nvSpPr>
        <p:spPr>
          <a:xfrm>
            <a:off x="429768" y="393192"/>
            <a:ext cx="8275320" cy="4352544"/>
          </a:xfrm>
          <a:prstGeom prst="rect">
            <a:avLst/>
          </a:prstGeom>
          <a:solidFill>
            <a:srgbClr val="0D1411"/>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3" name="TextBox 232"/>
          <p:cNvSpPr txBox="1"/>
          <p:nvPr/>
        </p:nvSpPr>
        <p:spPr>
          <a:xfrm>
            <a:off x="640080" y="502920"/>
            <a:ext cx="5943600" cy="201168"/>
          </a:xfrm>
          <a:prstGeom prst="rect">
            <a:avLst/>
          </a:prstGeom>
          <a:noFill/>
        </p:spPr>
        <p:txBody>
          <a:bodyPr wrap="square" anchor="t" lIns="0" rIns="0" tIns="18288" bIns="18288">
            <a:spAutoFit/>
          </a:bodyPr>
          <a:lstStyle/>
          <a:p>
            <a:pPr algn="l"/>
            <a:r>
              <a:rPr sz="900" b="1" i="0">
                <a:solidFill>
                  <a:srgbClr val="D6F28C"/>
                </a:solidFill>
                <a:latin typeface="Consolas"/>
              </a:rPr>
              <a:t>FIELDNOTES</a:t>
            </a:r>
            <a:r>
              <a:rPr sz="900" b="0" i="0">
                <a:solidFill>
                  <a:srgbClr val="9BA99F"/>
                </a:solidFill>
                <a:latin typeface="Consolas"/>
              </a:rPr>
              <a:t>   /   06  WHAT MAKES THIS DIFFERENT?</a:t>
            </a:r>
          </a:p>
        </p:txBody>
      </p:sp>
      <p:sp>
        <p:nvSpPr>
          <p:cNvPr id="234" name="TextBox 233"/>
          <p:cNvSpPr txBox="1"/>
          <p:nvPr/>
        </p:nvSpPr>
        <p:spPr>
          <a:xfrm>
            <a:off x="7726679" y="521207"/>
            <a:ext cx="731520" cy="228600"/>
          </a:xfrm>
          <a:prstGeom prst="rect">
            <a:avLst/>
          </a:prstGeom>
          <a:noFill/>
        </p:spPr>
        <p:txBody>
          <a:bodyPr wrap="square" anchor="t" lIns="0" rIns="0" tIns="18288" bIns="18288">
            <a:spAutoFit/>
          </a:bodyPr>
          <a:lstStyle/>
          <a:p>
            <a:pPr algn="r"/>
            <a:r>
              <a:rPr sz="1000" b="0" i="0">
                <a:solidFill>
                  <a:srgbClr val="9BA99F"/>
                </a:solidFill>
                <a:latin typeface="Consolas"/>
              </a:rPr>
              <a:t>06</a:t>
            </a:r>
          </a:p>
        </p:txBody>
      </p:sp>
      <p:sp>
        <p:nvSpPr>
          <p:cNvPr id="235" name="TextBox 234"/>
          <p:cNvSpPr txBox="1"/>
          <p:nvPr/>
        </p:nvSpPr>
        <p:spPr>
          <a:xfrm>
            <a:off x="429768" y="4846320"/>
            <a:ext cx="5486400" cy="182880"/>
          </a:xfrm>
          <a:prstGeom prst="rect">
            <a:avLst/>
          </a:prstGeom>
          <a:noFill/>
        </p:spPr>
        <p:txBody>
          <a:bodyPr wrap="square" anchor="t" lIns="0" rIns="0" tIns="18288" bIns="18288">
            <a:spAutoFit/>
          </a:bodyPr>
          <a:lstStyle/>
          <a:p>
            <a:pPr algn="l"/>
            <a:r>
              <a:rPr sz="700" b="0" i="0">
                <a:solidFill>
                  <a:srgbClr val="9BA99F"/>
                </a:solidFill>
                <a:latin typeface="Consolas"/>
              </a:rPr>
              <a:t>FIELDNOTES  /  HACKATHON PROTOTYPE  /  INNOVATION CUP 2026</a:t>
            </a:r>
          </a:p>
        </p:txBody>
      </p:sp>
      <p:sp>
        <p:nvSpPr>
          <p:cNvPr id="236" name="TextBox 235"/>
          <p:cNvSpPr txBox="1"/>
          <p:nvPr/>
        </p:nvSpPr>
        <p:spPr>
          <a:xfrm>
            <a:off x="640080" y="786384"/>
            <a:ext cx="7863840" cy="658368"/>
          </a:xfrm>
          <a:prstGeom prst="rect">
            <a:avLst/>
          </a:prstGeom>
          <a:noFill/>
        </p:spPr>
        <p:txBody>
          <a:bodyPr wrap="square" anchor="b" lIns="0" rIns="0" tIns="18288" bIns="18288">
            <a:spAutoFit/>
          </a:bodyPr>
          <a:lstStyle/>
          <a:p>
            <a:pPr algn="l"/>
            <a:r>
              <a:rPr sz="2100" b="1" i="0">
                <a:solidFill>
                  <a:srgbClr val="F0F2E9"/>
                </a:solidFill>
                <a:latin typeface="Aptos Display"/>
              </a:rPr>
              <a:t>The agent retrieves context when it needs it</a:t>
            </a:r>
          </a:p>
        </p:txBody>
      </p:sp>
      <p:sp>
        <p:nvSpPr>
          <p:cNvPr id="237" name="TextBox 236"/>
          <p:cNvSpPr txBox="1"/>
          <p:nvPr/>
        </p:nvSpPr>
        <p:spPr>
          <a:xfrm>
            <a:off x="640080" y="1463040"/>
            <a:ext cx="7863840" cy="228600"/>
          </a:xfrm>
          <a:prstGeom prst="rect">
            <a:avLst/>
          </a:prstGeom>
          <a:noFill/>
        </p:spPr>
        <p:txBody>
          <a:bodyPr wrap="square" anchor="t" lIns="0" rIns="0" tIns="18288" bIns="18288">
            <a:spAutoFit/>
          </a:bodyPr>
          <a:lstStyle/>
          <a:p>
            <a:pPr algn="l"/>
            <a:r>
              <a:rPr sz="1000" b="0" i="0">
                <a:solidFill>
                  <a:srgbClr val="9BA99F"/>
                </a:solidFill>
                <a:latin typeface="Aptos"/>
              </a:rPr>
              <a:t>Maximum 100 words · workflows compared, not vendors</a:t>
            </a:r>
          </a:p>
        </p:txBody>
      </p:sp>
      <p:cxnSp>
        <p:nvCxnSpPr>
          <p:cNvPr id="238" name="Connector 237"/>
          <p:cNvCxnSpPr/>
          <p:nvPr/>
        </p:nvCxnSpPr>
        <p:spPr>
          <a:xfrm>
            <a:off x="640080" y="1737360"/>
            <a:ext cx="7818120" cy="0"/>
          </a:xfrm>
          <a:prstGeom prst="line">
            <a:avLst/>
          </a:prstGeom>
          <a:ln w="9525">
            <a:solidFill>
              <a:srgbClr val="2E3B33"/>
            </a:solidFill>
          </a:ln>
        </p:spPr>
        <p:style>
          <a:lnRef idx="2">
            <a:schemeClr val="accent1"/>
          </a:lnRef>
          <a:fillRef idx="0">
            <a:schemeClr val="accent1"/>
          </a:fillRef>
          <a:effectRef idx="1">
            <a:schemeClr val="accent1"/>
          </a:effectRef>
          <a:fontRef idx="minor">
            <a:schemeClr val="tx1"/>
          </a:fontRef>
        </p:style>
      </p:cxnSp>
      <p:sp>
        <p:nvSpPr>
          <p:cNvPr id="239" name="TextBox 238"/>
          <p:cNvSpPr txBox="1"/>
          <p:nvPr/>
        </p:nvSpPr>
        <p:spPr>
          <a:xfrm>
            <a:off x="640080" y="1828800"/>
            <a:ext cx="2743200" cy="201168"/>
          </a:xfrm>
          <a:prstGeom prst="rect">
            <a:avLst/>
          </a:prstGeom>
          <a:noFill/>
        </p:spPr>
        <p:txBody>
          <a:bodyPr wrap="square" anchor="t" lIns="0" rIns="0" tIns="18288" bIns="18288">
            <a:spAutoFit/>
          </a:bodyPr>
          <a:lstStyle/>
          <a:p>
            <a:pPr algn="l"/>
            <a:r>
              <a:rPr sz="800" b="1" i="0">
                <a:solidFill>
                  <a:srgbClr val="D6F28C"/>
                </a:solidFill>
                <a:latin typeface="Consolas"/>
              </a:rPr>
              <a:t>HOW IT IS DIFFERENT</a:t>
            </a:r>
          </a:p>
        </p:txBody>
      </p:sp>
      <p:sp>
        <p:nvSpPr>
          <p:cNvPr id="240" name="TextBox 239"/>
          <p:cNvSpPr txBox="1"/>
          <p:nvPr/>
        </p:nvSpPr>
        <p:spPr>
          <a:xfrm>
            <a:off x="777240" y="2103120"/>
            <a:ext cx="1463040" cy="411480"/>
          </a:xfrm>
          <a:prstGeom prst="rect">
            <a:avLst/>
          </a:prstGeom>
          <a:noFill/>
        </p:spPr>
        <p:txBody>
          <a:bodyPr wrap="square" anchor="ctr" lIns="0" rIns="0" tIns="18288" bIns="18288">
            <a:spAutoFit/>
          </a:bodyPr>
          <a:lstStyle/>
          <a:p>
            <a:pPr algn="l"/>
            <a:r>
              <a:rPr sz="1300" b="1" i="0">
                <a:solidFill>
                  <a:srgbClr val="F0F2E9"/>
                </a:solidFill>
                <a:latin typeface="Aptos Display"/>
              </a:rPr>
              <a:t>Manual review</a:t>
            </a:r>
          </a:p>
        </p:txBody>
      </p:sp>
      <p:sp>
        <p:nvSpPr>
          <p:cNvPr id="241" name="TextBox 240"/>
          <p:cNvSpPr txBox="1"/>
          <p:nvPr/>
        </p:nvSpPr>
        <p:spPr>
          <a:xfrm>
            <a:off x="2286000" y="2103120"/>
            <a:ext cx="3200400" cy="411480"/>
          </a:xfrm>
          <a:prstGeom prst="rect">
            <a:avLst/>
          </a:prstGeom>
          <a:noFill/>
        </p:spPr>
        <p:txBody>
          <a:bodyPr wrap="square" anchor="ctr" lIns="0" rIns="0" tIns="18288" bIns="18288">
            <a:spAutoFit/>
          </a:bodyPr>
          <a:lstStyle/>
          <a:p>
            <a:pPr algn="l"/>
            <a:r>
              <a:rPr sz="1100" b="0" i="0">
                <a:solidFill>
                  <a:srgbClr val="9BA99F"/>
                </a:solidFill>
                <a:latin typeface="Aptos"/>
              </a:rPr>
              <a:t>a person reconstructs the sequence</a:t>
            </a:r>
          </a:p>
        </p:txBody>
      </p:sp>
      <p:cxnSp>
        <p:nvCxnSpPr>
          <p:cNvPr id="242" name="Connector 241"/>
          <p:cNvCxnSpPr/>
          <p:nvPr/>
        </p:nvCxnSpPr>
        <p:spPr>
          <a:xfrm>
            <a:off x="640080" y="2578608"/>
            <a:ext cx="4937760" cy="0"/>
          </a:xfrm>
          <a:prstGeom prst="line">
            <a:avLst/>
          </a:prstGeom>
          <a:ln w="9525">
            <a:solidFill>
              <a:srgbClr val="2E3B33"/>
            </a:solidFill>
          </a:ln>
        </p:spPr>
        <p:style>
          <a:lnRef idx="2">
            <a:schemeClr val="accent1"/>
          </a:lnRef>
          <a:fillRef idx="0">
            <a:schemeClr val="accent1"/>
          </a:fillRef>
          <a:effectRef idx="1">
            <a:schemeClr val="accent1"/>
          </a:effectRef>
          <a:fontRef idx="minor">
            <a:schemeClr val="tx1"/>
          </a:fontRef>
        </p:style>
      </p:cxnSp>
      <p:sp>
        <p:nvSpPr>
          <p:cNvPr id="243" name="TextBox 242"/>
          <p:cNvSpPr txBox="1"/>
          <p:nvPr/>
        </p:nvSpPr>
        <p:spPr>
          <a:xfrm>
            <a:off x="777240" y="2670048"/>
            <a:ext cx="1463040" cy="411480"/>
          </a:xfrm>
          <a:prstGeom prst="rect">
            <a:avLst/>
          </a:prstGeom>
          <a:noFill/>
        </p:spPr>
        <p:txBody>
          <a:bodyPr wrap="square" anchor="ctr" lIns="0" rIns="0" tIns="18288" bIns="18288">
            <a:spAutoFit/>
          </a:bodyPr>
          <a:lstStyle/>
          <a:p>
            <a:pPr algn="l"/>
            <a:r>
              <a:rPr sz="1300" b="1" i="0">
                <a:solidFill>
                  <a:srgbClr val="F0F2E9"/>
                </a:solidFill>
                <a:latin typeface="Aptos Display"/>
              </a:rPr>
              <a:t>Summary alone</a:t>
            </a:r>
          </a:p>
        </p:txBody>
      </p:sp>
      <p:sp>
        <p:nvSpPr>
          <p:cNvPr id="244" name="TextBox 243"/>
          <p:cNvSpPr txBox="1"/>
          <p:nvPr/>
        </p:nvSpPr>
        <p:spPr>
          <a:xfrm>
            <a:off x="2286000" y="2670048"/>
            <a:ext cx="3200400" cy="411480"/>
          </a:xfrm>
          <a:prstGeom prst="rect">
            <a:avLst/>
          </a:prstGeom>
          <a:noFill/>
        </p:spPr>
        <p:txBody>
          <a:bodyPr wrap="square" anchor="ctr" lIns="0" rIns="0" tIns="18288" bIns="18288">
            <a:spAutoFit/>
          </a:bodyPr>
          <a:lstStyle/>
          <a:p>
            <a:pPr algn="l"/>
            <a:r>
              <a:rPr sz="1100" b="0" i="0">
                <a:solidFill>
                  <a:srgbClr val="9BA99F"/>
                </a:solidFill>
                <a:latin typeface="Aptos"/>
              </a:rPr>
              <a:t>an interpretation without the full visual context</a:t>
            </a:r>
          </a:p>
        </p:txBody>
      </p:sp>
      <p:cxnSp>
        <p:nvCxnSpPr>
          <p:cNvPr id="245" name="Connector 244"/>
          <p:cNvCxnSpPr/>
          <p:nvPr/>
        </p:nvCxnSpPr>
        <p:spPr>
          <a:xfrm>
            <a:off x="640080" y="3145536"/>
            <a:ext cx="4937760" cy="0"/>
          </a:xfrm>
          <a:prstGeom prst="line">
            <a:avLst/>
          </a:prstGeom>
          <a:ln w="9525">
            <a:solidFill>
              <a:srgbClr val="2E3B33"/>
            </a:solidFill>
          </a:ln>
        </p:spPr>
        <p:style>
          <a:lnRef idx="2">
            <a:schemeClr val="accent1"/>
          </a:lnRef>
          <a:fillRef idx="0">
            <a:schemeClr val="accent1"/>
          </a:fillRef>
          <a:effectRef idx="1">
            <a:schemeClr val="accent1"/>
          </a:effectRef>
          <a:fontRef idx="minor">
            <a:schemeClr val="tx1"/>
          </a:fontRef>
        </p:style>
      </p:cxnSp>
      <p:sp>
        <p:nvSpPr>
          <p:cNvPr id="246" name="Rectangle 245"/>
          <p:cNvSpPr/>
          <p:nvPr/>
        </p:nvSpPr>
        <p:spPr>
          <a:xfrm>
            <a:off x="640080" y="3182112"/>
            <a:ext cx="4937760" cy="530352"/>
          </a:xfrm>
          <a:prstGeom prst="rect">
            <a:avLst/>
          </a:prstGeom>
          <a:solidFill>
            <a:srgbClr val="222E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7" name="Rectangle 246"/>
          <p:cNvSpPr/>
          <p:nvPr/>
        </p:nvSpPr>
        <p:spPr>
          <a:xfrm>
            <a:off x="640080" y="3182112"/>
            <a:ext cx="45720" cy="530352"/>
          </a:xfrm>
          <a:prstGeom prst="rect">
            <a:avLst/>
          </a:prstGeom>
          <a:solidFill>
            <a:srgbClr val="D6F2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8" name="TextBox 247"/>
          <p:cNvSpPr txBox="1"/>
          <p:nvPr/>
        </p:nvSpPr>
        <p:spPr>
          <a:xfrm>
            <a:off x="777240" y="3236976"/>
            <a:ext cx="1463040" cy="411480"/>
          </a:xfrm>
          <a:prstGeom prst="rect">
            <a:avLst/>
          </a:prstGeom>
          <a:noFill/>
        </p:spPr>
        <p:txBody>
          <a:bodyPr wrap="square" anchor="ctr" lIns="0" rIns="0" tIns="18288" bIns="18288">
            <a:spAutoFit/>
          </a:bodyPr>
          <a:lstStyle/>
          <a:p>
            <a:pPr algn="l"/>
            <a:r>
              <a:rPr sz="1300" b="1" i="0">
                <a:solidFill>
                  <a:srgbClr val="D6F28C"/>
                </a:solidFill>
                <a:latin typeface="Aptos Display"/>
              </a:rPr>
              <a:t>FieldNotes</a:t>
            </a:r>
          </a:p>
        </p:txBody>
      </p:sp>
      <p:sp>
        <p:nvSpPr>
          <p:cNvPr id="249" name="TextBox 248"/>
          <p:cNvSpPr txBox="1"/>
          <p:nvPr/>
        </p:nvSpPr>
        <p:spPr>
          <a:xfrm>
            <a:off x="2286000" y="3236976"/>
            <a:ext cx="3200400" cy="411480"/>
          </a:xfrm>
          <a:prstGeom prst="rect">
            <a:avLst/>
          </a:prstGeom>
          <a:noFill/>
        </p:spPr>
        <p:txBody>
          <a:bodyPr wrap="square" anchor="ctr" lIns="0" rIns="0" tIns="18288" bIns="18288">
            <a:spAutoFit/>
          </a:bodyPr>
          <a:lstStyle/>
          <a:p>
            <a:pPr algn="l"/>
            <a:r>
              <a:rPr sz="1100" b="0" i="0">
                <a:solidFill>
                  <a:srgbClr val="F0F2E9"/>
                </a:solidFill>
                <a:latin typeface="Aptos"/>
              </a:rPr>
              <a:t>MCP access to earlier originals, timestamps, and temporal records</a:t>
            </a:r>
          </a:p>
        </p:txBody>
      </p:sp>
      <p:sp>
        <p:nvSpPr>
          <p:cNvPr id="250" name="TextBox 249"/>
          <p:cNvSpPr txBox="1"/>
          <p:nvPr/>
        </p:nvSpPr>
        <p:spPr>
          <a:xfrm>
            <a:off x="640080" y="3886200"/>
            <a:ext cx="4937760" cy="274320"/>
          </a:xfrm>
          <a:prstGeom prst="rect">
            <a:avLst/>
          </a:prstGeom>
          <a:noFill/>
        </p:spPr>
        <p:txBody>
          <a:bodyPr wrap="square" anchor="t" lIns="0" rIns="0" tIns="18288" bIns="18288">
            <a:spAutoFit/>
          </a:bodyPr>
          <a:lstStyle/>
          <a:p>
            <a:pPr algn="l"/>
            <a:r>
              <a:rPr sz="900" b="1" i="0">
                <a:solidFill>
                  <a:srgbClr val="D6F28C"/>
                </a:solidFill>
                <a:latin typeface="Consolas"/>
              </a:rPr>
              <a:t>Built today  </a:t>
            </a:r>
            <a:r>
              <a:rPr sz="1100" b="0" i="0">
                <a:solidFill>
                  <a:srgbClr val="F0F2E9"/>
                </a:solidFill>
                <a:latin typeface="Aptos"/>
              </a:rPr>
              <a:t>an integrated evidence workflow</a:t>
            </a:r>
          </a:p>
        </p:txBody>
      </p:sp>
      <p:sp>
        <p:nvSpPr>
          <p:cNvPr id="251" name="TextBox 250"/>
          <p:cNvSpPr txBox="1"/>
          <p:nvPr/>
        </p:nvSpPr>
        <p:spPr>
          <a:xfrm>
            <a:off x="640080" y="4160520"/>
            <a:ext cx="4937760" cy="274320"/>
          </a:xfrm>
          <a:prstGeom prst="rect">
            <a:avLst/>
          </a:prstGeom>
          <a:noFill/>
        </p:spPr>
        <p:txBody>
          <a:bodyPr wrap="square" anchor="t" lIns="0" rIns="0" tIns="18288" bIns="18288">
            <a:spAutoFit/>
          </a:bodyPr>
          <a:lstStyle/>
          <a:p>
            <a:pPr algn="l"/>
            <a:r>
              <a:rPr sz="900" b="1" i="0">
                <a:solidFill>
                  <a:srgbClr val="C9A24A"/>
                </a:solidFill>
                <a:latin typeface="Consolas"/>
              </a:rPr>
              <a:t>Still to prove  </a:t>
            </a:r>
            <a:r>
              <a:rPr sz="1100" b="0" i="0">
                <a:solidFill>
                  <a:srgbClr val="F0F2E9"/>
                </a:solidFill>
                <a:latin typeface="Aptos"/>
              </a:rPr>
              <a:t>reliability across varied physical jobs</a:t>
            </a:r>
          </a:p>
        </p:txBody>
      </p:sp>
      <p:sp>
        <p:nvSpPr>
          <p:cNvPr id="252" name="Rectangle 251"/>
          <p:cNvSpPr/>
          <p:nvPr/>
        </p:nvSpPr>
        <p:spPr>
          <a:xfrm>
            <a:off x="5897880" y="1828800"/>
            <a:ext cx="2606040" cy="1508760"/>
          </a:xfrm>
          <a:prstGeom prst="rect">
            <a:avLst/>
          </a:prstGeom>
          <a:solidFill>
            <a:srgbClr val="19231D"/>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TextBox 252"/>
          <p:cNvSpPr txBox="1"/>
          <p:nvPr/>
        </p:nvSpPr>
        <p:spPr>
          <a:xfrm>
            <a:off x="6035040" y="1901952"/>
            <a:ext cx="2377440" cy="201168"/>
          </a:xfrm>
          <a:prstGeom prst="rect">
            <a:avLst/>
          </a:prstGeom>
          <a:noFill/>
        </p:spPr>
        <p:txBody>
          <a:bodyPr wrap="square" anchor="t" lIns="0" rIns="0" tIns="18288" bIns="18288">
            <a:spAutoFit/>
          </a:bodyPr>
          <a:lstStyle/>
          <a:p>
            <a:pPr algn="l"/>
            <a:r>
              <a:rPr sz="800" b="1" i="0">
                <a:solidFill>
                  <a:srgbClr val="9BA99F"/>
                </a:solidFill>
                <a:latin typeface="Consolas"/>
              </a:rPr>
              <a:t>WHY IT IS POSSIBLE — AND HARD TO COPY</a:t>
            </a:r>
          </a:p>
        </p:txBody>
      </p:sp>
      <p:sp>
        <p:nvSpPr>
          <p:cNvPr id="254" name="TextBox 253"/>
          <p:cNvSpPr txBox="1"/>
          <p:nvPr/>
        </p:nvSpPr>
        <p:spPr>
          <a:xfrm>
            <a:off x="6035040" y="2148840"/>
            <a:ext cx="2377440" cy="1188720"/>
          </a:xfrm>
          <a:prstGeom prst="rect">
            <a:avLst/>
          </a:prstGeom>
          <a:noFill/>
        </p:spPr>
        <p:txBody>
          <a:bodyPr wrap="square" anchor="t" lIns="0" rIns="0" tIns="18288" bIns="18288">
            <a:spAutoFit/>
          </a:bodyPr>
          <a:lstStyle/>
          <a:p>
            <a:pPr algn="l">
              <a:spcAft>
                <a:spcPts val="400"/>
              </a:spcAft>
            </a:pPr>
            <a:r>
              <a:rPr sz="900" b="0" i="0">
                <a:solidFill>
                  <a:srgbClr val="F0F2E9"/>
                </a:solidFill>
                <a:latin typeface="Aptos"/>
              </a:rPr>
              <a:t>Originals, receipt timestamps, and temporal records are stored together and served through one MCP interface, so the agent can cite evidence rather than a summary.</a:t>
            </a:r>
          </a:p>
          <a:p>
            <a:pPr algn="l">
              <a:spcAft>
                <a:spcPts val="400"/>
              </a:spcAft>
            </a:pPr>
            <a:r>
              <a:rPr sz="800" b="0" i="0">
                <a:solidFill>
                  <a:srgbClr val="9BA99F"/>
                </a:solidFill>
                <a:latin typeface="Aptos"/>
              </a:rPr>
              <a:t>Defensibility is not a moat yet; it is accumulated workflow evaluation.</a:t>
            </a:r>
          </a:p>
        </p:txBody>
      </p:sp>
      <p:sp>
        <p:nvSpPr>
          <p:cNvPr id="255" name="Rectangle 254"/>
          <p:cNvSpPr/>
          <p:nvPr/>
        </p:nvSpPr>
        <p:spPr>
          <a:xfrm>
            <a:off x="5897880" y="3520440"/>
            <a:ext cx="2606040" cy="1005840"/>
          </a:xfrm>
          <a:prstGeom prst="rect">
            <a:avLst/>
          </a:prstGeom>
          <a:noFill/>
          <a:ln w="9525">
            <a:solidFill>
              <a:srgbClr val="D6F2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6" name="TextBox 255"/>
          <p:cNvSpPr txBox="1"/>
          <p:nvPr/>
        </p:nvSpPr>
        <p:spPr>
          <a:xfrm>
            <a:off x="6035040" y="3593592"/>
            <a:ext cx="2377440" cy="868680"/>
          </a:xfrm>
          <a:prstGeom prst="rect">
            <a:avLst/>
          </a:prstGeom>
          <a:noFill/>
        </p:spPr>
        <p:txBody>
          <a:bodyPr wrap="square" anchor="ctr" lIns="0" rIns="0" tIns="18288" bIns="18288">
            <a:spAutoFit/>
          </a:bodyPr>
          <a:lstStyle/>
          <a:p>
            <a:pPr algn="l">
              <a:spcAft>
                <a:spcPts val="300"/>
              </a:spcAft>
            </a:pPr>
            <a:r>
              <a:rPr sz="1200" b="1" i="0">
                <a:solidFill>
                  <a:srgbClr val="D6F28C"/>
                </a:solidFill>
                <a:latin typeface="Aptos Display"/>
              </a:rPr>
              <a:t>A decision can require another observation.</a:t>
            </a:r>
          </a:p>
          <a:p>
            <a:pPr algn="l">
              <a:spcAft>
                <a:spcPts val="300"/>
              </a:spcAft>
            </a:pPr>
            <a:r>
              <a:rPr sz="800" b="0" i="0">
                <a:solidFill>
                  <a:srgbClr val="9BA99F"/>
                </a:solidFill>
                <a:latin typeface="Aptos"/>
              </a:rPr>
              <a:t>Requesting it through a robot tool is future work.</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descr="image.gif" id="244" name="Google Shape;244;p8"/>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251" name="Google Shape;251;p8"/>
          <p:cNvPicPr preferRelativeResize="0"/>
          <p:nvPr/>
        </p:nvPicPr>
        <p:blipFill rotWithShape="1">
          <a:blip r:embed="rId4">
            <a:alphaModFix/>
          </a:blip>
          <a:srcRect b="0" l="0" r="0" t="0"/>
          <a:stretch/>
        </p:blipFill>
        <p:spPr>
          <a:xfrm>
            <a:off x="7708392" y="4882896"/>
            <a:ext cx="1024128" cy="155448"/>
          </a:xfrm>
          <a:prstGeom prst="rect">
            <a:avLst/>
          </a:prstGeom>
          <a:noFill/>
          <a:ln>
            <a:noFill/>
          </a:ln>
        </p:spPr>
      </p:pic>
      <p:sp>
        <p:nvSpPr>
          <p:cNvPr id="252" name="Rectangle 251"/>
          <p:cNvSpPr/>
          <p:nvPr/>
        </p:nvSpPr>
        <p:spPr>
          <a:xfrm>
            <a:off x="429768" y="393192"/>
            <a:ext cx="8275320" cy="4352544"/>
          </a:xfrm>
          <a:prstGeom prst="rect">
            <a:avLst/>
          </a:prstGeom>
          <a:solidFill>
            <a:srgbClr val="0D1411"/>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3" name="TextBox 252"/>
          <p:cNvSpPr txBox="1"/>
          <p:nvPr/>
        </p:nvSpPr>
        <p:spPr>
          <a:xfrm>
            <a:off x="640080" y="502920"/>
            <a:ext cx="5943600" cy="201168"/>
          </a:xfrm>
          <a:prstGeom prst="rect">
            <a:avLst/>
          </a:prstGeom>
          <a:noFill/>
        </p:spPr>
        <p:txBody>
          <a:bodyPr wrap="square" anchor="t" lIns="0" rIns="0" tIns="18288" bIns="18288">
            <a:spAutoFit/>
          </a:bodyPr>
          <a:lstStyle/>
          <a:p>
            <a:pPr algn="l"/>
            <a:r>
              <a:rPr sz="900" b="1" i="0">
                <a:solidFill>
                  <a:srgbClr val="D6F28C"/>
                </a:solidFill>
                <a:latin typeface="Consolas"/>
              </a:rPr>
              <a:t>FIELDNOTES</a:t>
            </a:r>
            <a:r>
              <a:rPr sz="900" b="0" i="0">
                <a:solidFill>
                  <a:srgbClr val="9BA99F"/>
                </a:solidFill>
                <a:latin typeface="Consolas"/>
              </a:rPr>
              <a:t>   /   07  TECHNICAL DESIGN</a:t>
            </a:r>
          </a:p>
        </p:txBody>
      </p:sp>
      <p:sp>
        <p:nvSpPr>
          <p:cNvPr id="254" name="TextBox 253"/>
          <p:cNvSpPr txBox="1"/>
          <p:nvPr/>
        </p:nvSpPr>
        <p:spPr>
          <a:xfrm>
            <a:off x="7726679" y="521207"/>
            <a:ext cx="731520" cy="228600"/>
          </a:xfrm>
          <a:prstGeom prst="rect">
            <a:avLst/>
          </a:prstGeom>
          <a:noFill/>
        </p:spPr>
        <p:txBody>
          <a:bodyPr wrap="square" anchor="t" lIns="0" rIns="0" tIns="18288" bIns="18288">
            <a:spAutoFit/>
          </a:bodyPr>
          <a:lstStyle/>
          <a:p>
            <a:pPr algn="r"/>
            <a:r>
              <a:rPr sz="1000" b="0" i="0">
                <a:solidFill>
                  <a:srgbClr val="9BA99F"/>
                </a:solidFill>
                <a:latin typeface="Consolas"/>
              </a:rPr>
              <a:t>07</a:t>
            </a:r>
          </a:p>
        </p:txBody>
      </p:sp>
      <p:sp>
        <p:nvSpPr>
          <p:cNvPr id="255" name="TextBox 254"/>
          <p:cNvSpPr txBox="1"/>
          <p:nvPr/>
        </p:nvSpPr>
        <p:spPr>
          <a:xfrm>
            <a:off x="429768" y="4846320"/>
            <a:ext cx="5486400" cy="182880"/>
          </a:xfrm>
          <a:prstGeom prst="rect">
            <a:avLst/>
          </a:prstGeom>
          <a:noFill/>
        </p:spPr>
        <p:txBody>
          <a:bodyPr wrap="square" anchor="t" lIns="0" rIns="0" tIns="18288" bIns="18288">
            <a:spAutoFit/>
          </a:bodyPr>
          <a:lstStyle/>
          <a:p>
            <a:pPr algn="l"/>
            <a:r>
              <a:rPr sz="700" b="0" i="0">
                <a:solidFill>
                  <a:srgbClr val="9BA99F"/>
                </a:solidFill>
                <a:latin typeface="Consolas"/>
              </a:rPr>
              <a:t>FIELDNOTES  /  HACKATHON PROTOTYPE  /  INNOVATION CUP 2026</a:t>
            </a:r>
          </a:p>
        </p:txBody>
      </p:sp>
      <p:sp>
        <p:nvSpPr>
          <p:cNvPr id="256" name="TextBox 255"/>
          <p:cNvSpPr txBox="1"/>
          <p:nvPr/>
        </p:nvSpPr>
        <p:spPr>
          <a:xfrm>
            <a:off x="640080" y="786384"/>
            <a:ext cx="7863840" cy="658368"/>
          </a:xfrm>
          <a:prstGeom prst="rect">
            <a:avLst/>
          </a:prstGeom>
          <a:noFill/>
        </p:spPr>
        <p:txBody>
          <a:bodyPr wrap="square" anchor="b" lIns="0" rIns="0" tIns="18288" bIns="18288">
            <a:spAutoFit/>
          </a:bodyPr>
          <a:lstStyle/>
          <a:p>
            <a:pPr algn="l"/>
            <a:r>
              <a:rPr sz="2100" b="1" i="0">
                <a:solidFill>
                  <a:srgbClr val="F0F2E9"/>
                </a:solidFill>
                <a:latin typeface="Aptos Display"/>
              </a:rPr>
              <a:t>Observation becomes agent-accessible memory</a:t>
            </a:r>
          </a:p>
        </p:txBody>
      </p:sp>
      <p:sp>
        <p:nvSpPr>
          <p:cNvPr id="257" name="TextBox 256"/>
          <p:cNvSpPr txBox="1"/>
          <p:nvPr/>
        </p:nvSpPr>
        <p:spPr>
          <a:xfrm>
            <a:off x="640080" y="1463040"/>
            <a:ext cx="7863840" cy="228600"/>
          </a:xfrm>
          <a:prstGeom prst="rect">
            <a:avLst/>
          </a:prstGeom>
          <a:noFill/>
        </p:spPr>
        <p:txBody>
          <a:bodyPr wrap="square" anchor="t" lIns="0" rIns="0" tIns="18288" bIns="18288">
            <a:spAutoFit/>
          </a:bodyPr>
          <a:lstStyle/>
          <a:p>
            <a:pPr algn="l"/>
            <a:r>
              <a:rPr sz="1000" b="0" i="0">
                <a:solidFill>
                  <a:srgbClr val="9BA99F"/>
                </a:solidFill>
                <a:latin typeface="Aptos"/>
              </a:rPr>
              <a:t>Maximum 150 words · solid = implemented · dotted = future boundary</a:t>
            </a:r>
          </a:p>
        </p:txBody>
      </p:sp>
      <p:cxnSp>
        <p:nvCxnSpPr>
          <p:cNvPr id="258" name="Connector 257"/>
          <p:cNvCxnSpPr/>
          <p:nvPr/>
        </p:nvCxnSpPr>
        <p:spPr>
          <a:xfrm>
            <a:off x="640080" y="1737360"/>
            <a:ext cx="7818120" cy="0"/>
          </a:xfrm>
          <a:prstGeom prst="line">
            <a:avLst/>
          </a:prstGeom>
          <a:ln w="9525">
            <a:solidFill>
              <a:srgbClr val="2E3B33"/>
            </a:solidFill>
          </a:ln>
        </p:spPr>
        <p:style>
          <a:lnRef idx="2">
            <a:schemeClr val="accent1"/>
          </a:lnRef>
          <a:fillRef idx="0">
            <a:schemeClr val="accent1"/>
          </a:fillRef>
          <a:effectRef idx="1">
            <a:schemeClr val="accent1"/>
          </a:effectRef>
          <a:fontRef idx="minor">
            <a:schemeClr val="tx1"/>
          </a:fontRef>
        </p:style>
      </p:cxnSp>
      <p:sp>
        <p:nvSpPr>
          <p:cNvPr id="259" name="Rectangle 258"/>
          <p:cNvSpPr/>
          <p:nvPr/>
        </p:nvSpPr>
        <p:spPr>
          <a:xfrm>
            <a:off x="640080" y="1874519"/>
            <a:ext cx="4617720" cy="2240280"/>
          </a:xfrm>
          <a:prstGeom prst="rect">
            <a:avLst/>
          </a:prstGeom>
          <a:solidFill>
            <a:srgbClr val="19231D"/>
          </a:solidFill>
          <a:ln w="9525">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0" name="TextBox 259"/>
          <p:cNvSpPr txBox="1"/>
          <p:nvPr/>
        </p:nvSpPr>
        <p:spPr>
          <a:xfrm>
            <a:off x="731520" y="1901952"/>
            <a:ext cx="2743200" cy="182880"/>
          </a:xfrm>
          <a:prstGeom prst="rect">
            <a:avLst/>
          </a:prstGeom>
          <a:noFill/>
        </p:spPr>
        <p:txBody>
          <a:bodyPr wrap="square" anchor="t" lIns="0" rIns="0" tIns="18288" bIns="18288">
            <a:spAutoFit/>
          </a:bodyPr>
          <a:lstStyle/>
          <a:p>
            <a:pPr algn="l"/>
            <a:r>
              <a:rPr sz="700" b="1" i="0">
                <a:solidFill>
                  <a:srgbClr val="9BA99F"/>
                </a:solidFill>
                <a:latin typeface="Consolas"/>
              </a:rPr>
              <a:t>LOCAL MAC</a:t>
            </a:r>
          </a:p>
        </p:txBody>
      </p:sp>
      <p:sp>
        <p:nvSpPr>
          <p:cNvPr id="261" name="TextBox 260"/>
          <p:cNvSpPr txBox="1"/>
          <p:nvPr/>
        </p:nvSpPr>
        <p:spPr>
          <a:xfrm>
            <a:off x="5486400" y="1901952"/>
            <a:ext cx="3017520" cy="182880"/>
          </a:xfrm>
          <a:prstGeom prst="rect">
            <a:avLst/>
          </a:prstGeom>
          <a:noFill/>
        </p:spPr>
        <p:txBody>
          <a:bodyPr wrap="square" anchor="t" lIns="0" rIns="0" tIns="18288" bIns="18288">
            <a:spAutoFit/>
          </a:bodyPr>
          <a:lstStyle/>
          <a:p>
            <a:pPr algn="l"/>
            <a:r>
              <a:rPr sz="700" b="1" i="0">
                <a:solidFill>
                  <a:srgbClr val="C9A24A"/>
                </a:solidFill>
                <a:latin typeface="Consolas"/>
              </a:rPr>
              <a:t>OUTSIDE THE LOCAL BOUNDARY</a:t>
            </a:r>
          </a:p>
        </p:txBody>
      </p:sp>
      <p:sp>
        <p:nvSpPr>
          <p:cNvPr id="262" name="Rectangle 261"/>
          <p:cNvSpPr/>
          <p:nvPr/>
        </p:nvSpPr>
        <p:spPr>
          <a:xfrm>
            <a:off x="777240" y="2148840"/>
            <a:ext cx="868680" cy="502920"/>
          </a:xfrm>
          <a:prstGeom prst="rect">
            <a:avLst/>
          </a:prstGeom>
          <a:solidFill>
            <a:srgbClr val="222E27"/>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3" name="TextBox 262"/>
          <p:cNvSpPr txBox="1"/>
          <p:nvPr/>
        </p:nvSpPr>
        <p:spPr>
          <a:xfrm>
            <a:off x="822960" y="2176272"/>
            <a:ext cx="777240" cy="448056"/>
          </a:xfrm>
          <a:prstGeom prst="rect">
            <a:avLst/>
          </a:prstGeom>
          <a:noFill/>
        </p:spPr>
        <p:txBody>
          <a:bodyPr wrap="square" anchor="ctr" lIns="0" rIns="0" tIns="18288" bIns="18288">
            <a:spAutoFit/>
          </a:bodyPr>
          <a:lstStyle/>
          <a:p>
            <a:pPr algn="ctr"/>
            <a:r>
              <a:rPr sz="900" b="1" i="0">
                <a:solidFill>
                  <a:srgbClr val="F0F2E9"/>
                </a:solidFill>
                <a:latin typeface="Aptos"/>
              </a:rPr>
              <a:t>DJI + phone</a:t>
            </a:r>
          </a:p>
          <a:p>
            <a:pPr algn="ctr"/>
            <a:r>
              <a:rPr sz="700" b="0" i="0">
                <a:solidFill>
                  <a:srgbClr val="9BA99F"/>
                </a:solidFill>
                <a:latin typeface="Aptos"/>
              </a:rPr>
              <a:t>RTMP publish</a:t>
            </a:r>
          </a:p>
        </p:txBody>
      </p:sp>
      <p:cxnSp>
        <p:nvCxnSpPr>
          <p:cNvPr id="264" name="Connector 263"/>
          <p:cNvCxnSpPr/>
          <p:nvPr/>
        </p:nvCxnSpPr>
        <p:spPr>
          <a:xfrm>
            <a:off x="1645920" y="2395728"/>
            <a:ext cx="137160" cy="0"/>
          </a:xfrm>
          <a:prstGeom prst="line">
            <a:avLst/>
          </a:prstGeom>
          <a:ln w="12700">
            <a:solidFill>
              <a:srgbClr val="9BA99F"/>
            </a:solidFill>
            <a:tailEnd type="triangle" w="sm" len="sm"/>
          </a:ln>
        </p:spPr>
        <p:style>
          <a:lnRef idx="2">
            <a:schemeClr val="accent1"/>
          </a:lnRef>
          <a:fillRef idx="0">
            <a:schemeClr val="accent1"/>
          </a:fillRef>
          <a:effectRef idx="1">
            <a:schemeClr val="accent1"/>
          </a:effectRef>
          <a:fontRef idx="minor">
            <a:schemeClr val="tx1"/>
          </a:fontRef>
        </p:style>
      </p:cxnSp>
      <p:sp>
        <p:nvSpPr>
          <p:cNvPr id="265" name="Rectangle 264"/>
          <p:cNvSpPr/>
          <p:nvPr/>
        </p:nvSpPr>
        <p:spPr>
          <a:xfrm>
            <a:off x="1783080" y="2148840"/>
            <a:ext cx="960120" cy="502920"/>
          </a:xfrm>
          <a:prstGeom prst="rect">
            <a:avLst/>
          </a:prstGeom>
          <a:solidFill>
            <a:srgbClr val="222E27"/>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6" name="TextBox 265"/>
          <p:cNvSpPr txBox="1"/>
          <p:nvPr/>
        </p:nvSpPr>
        <p:spPr>
          <a:xfrm>
            <a:off x="1828800" y="2176272"/>
            <a:ext cx="868680" cy="448056"/>
          </a:xfrm>
          <a:prstGeom prst="rect">
            <a:avLst/>
          </a:prstGeom>
          <a:noFill/>
        </p:spPr>
        <p:txBody>
          <a:bodyPr wrap="square" anchor="ctr" lIns="0" rIns="0" tIns="18288" bIns="18288">
            <a:spAutoFit/>
          </a:bodyPr>
          <a:lstStyle/>
          <a:p>
            <a:pPr algn="ctr"/>
            <a:r>
              <a:rPr sz="900" b="1" i="0">
                <a:solidFill>
                  <a:srgbClr val="F0F2E9"/>
                </a:solidFill>
                <a:latin typeface="Aptos"/>
              </a:rPr>
              <a:t>MediaMTX + FFmpeg</a:t>
            </a:r>
          </a:p>
          <a:p>
            <a:pPr algn="ctr"/>
            <a:r>
              <a:rPr sz="700" b="0" i="0">
                <a:solidFill>
                  <a:srgbClr val="9BA99F"/>
                </a:solidFill>
                <a:latin typeface="Aptos"/>
              </a:rPr>
              <a:t>ingest · decode</a:t>
            </a:r>
          </a:p>
        </p:txBody>
      </p:sp>
      <p:cxnSp>
        <p:nvCxnSpPr>
          <p:cNvPr id="267" name="Connector 266"/>
          <p:cNvCxnSpPr/>
          <p:nvPr/>
        </p:nvCxnSpPr>
        <p:spPr>
          <a:xfrm>
            <a:off x="2743200" y="2395728"/>
            <a:ext cx="137160" cy="0"/>
          </a:xfrm>
          <a:prstGeom prst="line">
            <a:avLst/>
          </a:prstGeom>
          <a:ln w="12700">
            <a:solidFill>
              <a:srgbClr val="9BA99F"/>
            </a:solidFill>
            <a:tailEnd type="triangle" w="sm" len="sm"/>
          </a:ln>
        </p:spPr>
        <p:style>
          <a:lnRef idx="2">
            <a:schemeClr val="accent1"/>
          </a:lnRef>
          <a:fillRef idx="0">
            <a:schemeClr val="accent1"/>
          </a:fillRef>
          <a:effectRef idx="1">
            <a:schemeClr val="accent1"/>
          </a:effectRef>
          <a:fontRef idx="minor">
            <a:schemeClr val="tx1"/>
          </a:fontRef>
        </p:style>
      </p:cxnSp>
      <p:sp>
        <p:nvSpPr>
          <p:cNvPr id="268" name="Rectangle 267"/>
          <p:cNvSpPr/>
          <p:nvPr/>
        </p:nvSpPr>
        <p:spPr>
          <a:xfrm>
            <a:off x="2880360" y="2148840"/>
            <a:ext cx="868680" cy="502920"/>
          </a:xfrm>
          <a:prstGeom prst="rect">
            <a:avLst/>
          </a:prstGeom>
          <a:solidFill>
            <a:srgbClr val="222E27"/>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9" name="TextBox 268"/>
          <p:cNvSpPr txBox="1"/>
          <p:nvPr/>
        </p:nvSpPr>
        <p:spPr>
          <a:xfrm>
            <a:off x="2926079" y="2176272"/>
            <a:ext cx="777240" cy="448056"/>
          </a:xfrm>
          <a:prstGeom prst="rect">
            <a:avLst/>
          </a:prstGeom>
          <a:noFill/>
        </p:spPr>
        <p:txBody>
          <a:bodyPr wrap="square" anchor="ctr" lIns="0" rIns="0" tIns="18288" bIns="18288">
            <a:spAutoFit/>
          </a:bodyPr>
          <a:lstStyle/>
          <a:p>
            <a:pPr algn="ctr"/>
            <a:r>
              <a:rPr sz="900" b="1" i="0">
                <a:solidFill>
                  <a:srgbClr val="F0F2E9"/>
                </a:solidFill>
                <a:latin typeface="Aptos"/>
              </a:rPr>
              <a:t>Frame buffer</a:t>
            </a:r>
          </a:p>
          <a:p>
            <a:pPr algn="ctr"/>
            <a:r>
              <a:rPr sz="700" b="0" i="0">
                <a:solidFill>
                  <a:srgbClr val="9BA99F"/>
                </a:solidFill>
                <a:latin typeface="Aptos"/>
              </a:rPr>
              <a:t>timestamped</a:t>
            </a:r>
          </a:p>
        </p:txBody>
      </p:sp>
      <p:cxnSp>
        <p:nvCxnSpPr>
          <p:cNvPr id="270" name="Connector 269"/>
          <p:cNvCxnSpPr/>
          <p:nvPr/>
        </p:nvCxnSpPr>
        <p:spPr>
          <a:xfrm>
            <a:off x="3749039" y="2395728"/>
            <a:ext cx="137161" cy="0"/>
          </a:xfrm>
          <a:prstGeom prst="line">
            <a:avLst/>
          </a:prstGeom>
          <a:ln w="12700">
            <a:solidFill>
              <a:srgbClr val="9BA99F"/>
            </a:solidFill>
            <a:tailEnd type="triangle" w="sm" len="sm"/>
          </a:ln>
        </p:spPr>
        <p:style>
          <a:lnRef idx="2">
            <a:schemeClr val="accent1"/>
          </a:lnRef>
          <a:fillRef idx="0">
            <a:schemeClr val="accent1"/>
          </a:fillRef>
          <a:effectRef idx="1">
            <a:schemeClr val="accent1"/>
          </a:effectRef>
          <a:fontRef idx="minor">
            <a:schemeClr val="tx1"/>
          </a:fontRef>
        </p:style>
      </p:cxnSp>
      <p:sp>
        <p:nvSpPr>
          <p:cNvPr id="271" name="Rectangle 270"/>
          <p:cNvSpPr/>
          <p:nvPr/>
        </p:nvSpPr>
        <p:spPr>
          <a:xfrm>
            <a:off x="3886200" y="2148840"/>
            <a:ext cx="1234440" cy="502920"/>
          </a:xfrm>
          <a:prstGeom prst="rect">
            <a:avLst/>
          </a:prstGeom>
          <a:solidFill>
            <a:srgbClr val="222E27"/>
          </a:solidFill>
          <a:ln w="12700">
            <a:solidFill>
              <a:srgbClr val="D6F2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2" name="TextBox 271"/>
          <p:cNvSpPr txBox="1"/>
          <p:nvPr/>
        </p:nvSpPr>
        <p:spPr>
          <a:xfrm>
            <a:off x="3931920" y="2176272"/>
            <a:ext cx="1143000" cy="448056"/>
          </a:xfrm>
          <a:prstGeom prst="rect">
            <a:avLst/>
          </a:prstGeom>
          <a:noFill/>
        </p:spPr>
        <p:txBody>
          <a:bodyPr wrap="square" anchor="ctr" lIns="0" rIns="0" tIns="18288" bIns="18288">
            <a:spAutoFit/>
          </a:bodyPr>
          <a:lstStyle/>
          <a:p>
            <a:pPr algn="ctr"/>
            <a:r>
              <a:rPr sz="800" b="1" i="0">
                <a:solidFill>
                  <a:srgbClr val="D6F28C"/>
                </a:solidFill>
                <a:latin typeface="Aptos"/>
              </a:rPr>
              <a:t>Original JPEG evidence + SQLite records</a:t>
            </a:r>
          </a:p>
        </p:txBody>
      </p:sp>
      <p:cxnSp>
        <p:nvCxnSpPr>
          <p:cNvPr id="273" name="Connector 272"/>
          <p:cNvCxnSpPr/>
          <p:nvPr/>
        </p:nvCxnSpPr>
        <p:spPr>
          <a:xfrm>
            <a:off x="4498848" y="2651760"/>
            <a:ext cx="0" cy="137160"/>
          </a:xfrm>
          <a:prstGeom prst="line">
            <a:avLst/>
          </a:prstGeom>
          <a:ln w="12700">
            <a:solidFill>
              <a:srgbClr val="9BA99F"/>
            </a:solidFill>
            <a:tailEnd type="triangle" w="sm" len="sm"/>
          </a:ln>
        </p:spPr>
        <p:style>
          <a:lnRef idx="2">
            <a:schemeClr val="accent1"/>
          </a:lnRef>
          <a:fillRef idx="0">
            <a:schemeClr val="accent1"/>
          </a:fillRef>
          <a:effectRef idx="1">
            <a:schemeClr val="accent1"/>
          </a:effectRef>
          <a:fontRef idx="minor">
            <a:schemeClr val="tx1"/>
          </a:fontRef>
        </p:style>
      </p:cxnSp>
      <p:sp>
        <p:nvSpPr>
          <p:cNvPr id="274" name="Rectangle 273"/>
          <p:cNvSpPr/>
          <p:nvPr/>
        </p:nvSpPr>
        <p:spPr>
          <a:xfrm>
            <a:off x="3886200" y="2788920"/>
            <a:ext cx="1234440" cy="457200"/>
          </a:xfrm>
          <a:prstGeom prst="rect">
            <a:avLst/>
          </a:prstGeom>
          <a:solidFill>
            <a:srgbClr val="222E27"/>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5" name="TextBox 274"/>
          <p:cNvSpPr txBox="1"/>
          <p:nvPr/>
        </p:nvSpPr>
        <p:spPr>
          <a:xfrm>
            <a:off x="3931920" y="2816351"/>
            <a:ext cx="1143000" cy="402336"/>
          </a:xfrm>
          <a:prstGeom prst="rect">
            <a:avLst/>
          </a:prstGeom>
          <a:noFill/>
        </p:spPr>
        <p:txBody>
          <a:bodyPr wrap="square" anchor="ctr" lIns="0" rIns="0" tIns="18288" bIns="18288">
            <a:spAutoFit/>
          </a:bodyPr>
          <a:lstStyle/>
          <a:p>
            <a:pPr algn="ctr"/>
            <a:r>
              <a:rPr sz="900" b="1" i="0">
                <a:solidFill>
                  <a:srgbClr val="F0F2E9"/>
                </a:solidFill>
                <a:latin typeface="Aptos"/>
              </a:rPr>
              <a:t>MobileCLIP2 retrieval</a:t>
            </a:r>
          </a:p>
          <a:p>
            <a:pPr algn="ctr"/>
            <a:r>
              <a:rPr sz="700" b="0" i="0">
                <a:solidFill>
                  <a:srgbClr val="9BA99F"/>
                </a:solidFill>
                <a:latin typeface="Aptos"/>
              </a:rPr>
              <a:t>local visual search</a:t>
            </a:r>
          </a:p>
        </p:txBody>
      </p:sp>
      <p:sp>
        <p:nvSpPr>
          <p:cNvPr id="276" name="Rectangle 275"/>
          <p:cNvSpPr/>
          <p:nvPr/>
        </p:nvSpPr>
        <p:spPr>
          <a:xfrm>
            <a:off x="777240" y="3474720"/>
            <a:ext cx="868680" cy="457200"/>
          </a:xfrm>
          <a:prstGeom prst="rect">
            <a:avLst/>
          </a:prstGeom>
          <a:solidFill>
            <a:srgbClr val="222E27"/>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7" name="TextBox 276"/>
          <p:cNvSpPr txBox="1"/>
          <p:nvPr/>
        </p:nvSpPr>
        <p:spPr>
          <a:xfrm>
            <a:off x="822960" y="3502151"/>
            <a:ext cx="777240" cy="402336"/>
          </a:xfrm>
          <a:prstGeom prst="rect">
            <a:avLst/>
          </a:prstGeom>
          <a:noFill/>
        </p:spPr>
        <p:txBody>
          <a:bodyPr wrap="square" anchor="ctr" lIns="0" rIns="0" tIns="18288" bIns="18288">
            <a:spAutoFit/>
          </a:bodyPr>
          <a:lstStyle/>
          <a:p>
            <a:pPr algn="ctr"/>
            <a:r>
              <a:rPr sz="900" b="1" i="0">
                <a:solidFill>
                  <a:srgbClr val="F0F2E9"/>
                </a:solidFill>
                <a:latin typeface="Aptos"/>
              </a:rPr>
              <a:t>Portal</a:t>
            </a:r>
          </a:p>
          <a:p>
            <a:pPr algn="ctr"/>
            <a:r>
              <a:rPr sz="700" b="0" i="0">
                <a:solidFill>
                  <a:srgbClr val="9BA99F"/>
                </a:solidFill>
                <a:latin typeface="Aptos"/>
              </a:rPr>
              <a:t>same backend</a:t>
            </a:r>
          </a:p>
        </p:txBody>
      </p:sp>
      <p:cxnSp>
        <p:nvCxnSpPr>
          <p:cNvPr id="278" name="Connector 277"/>
          <p:cNvCxnSpPr/>
          <p:nvPr/>
        </p:nvCxnSpPr>
        <p:spPr>
          <a:xfrm>
            <a:off x="1645920" y="3703320"/>
            <a:ext cx="137160" cy="0"/>
          </a:xfrm>
          <a:prstGeom prst="line">
            <a:avLst/>
          </a:prstGeom>
          <a:ln w="12700">
            <a:solidFill>
              <a:srgbClr val="9BA99F"/>
            </a:solidFill>
            <a:tailEnd type="triangle" w="sm" len="sm"/>
          </a:ln>
        </p:spPr>
        <p:style>
          <a:lnRef idx="2">
            <a:schemeClr val="accent1"/>
          </a:lnRef>
          <a:fillRef idx="0">
            <a:schemeClr val="accent1"/>
          </a:fillRef>
          <a:effectRef idx="1">
            <a:schemeClr val="accent1"/>
          </a:effectRef>
          <a:fontRef idx="minor">
            <a:schemeClr val="tx1"/>
          </a:fontRef>
        </p:style>
      </p:cxnSp>
      <p:sp>
        <p:nvSpPr>
          <p:cNvPr id="279" name="Rectangle 278"/>
          <p:cNvSpPr/>
          <p:nvPr/>
        </p:nvSpPr>
        <p:spPr>
          <a:xfrm>
            <a:off x="1783080" y="3474720"/>
            <a:ext cx="3337560" cy="457200"/>
          </a:xfrm>
          <a:prstGeom prst="rect">
            <a:avLst/>
          </a:prstGeom>
          <a:solidFill>
            <a:srgbClr val="222E27"/>
          </a:solidFill>
          <a:ln w="12700">
            <a:solidFill>
              <a:srgbClr val="D6F2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0" name="TextBox 279"/>
          <p:cNvSpPr txBox="1"/>
          <p:nvPr/>
        </p:nvSpPr>
        <p:spPr>
          <a:xfrm>
            <a:off x="1828800" y="3502151"/>
            <a:ext cx="3246120" cy="402336"/>
          </a:xfrm>
          <a:prstGeom prst="rect">
            <a:avLst/>
          </a:prstGeom>
          <a:noFill/>
        </p:spPr>
        <p:txBody>
          <a:bodyPr wrap="square" anchor="ctr" lIns="0" rIns="0" tIns="18288" bIns="18288">
            <a:spAutoFit/>
          </a:bodyPr>
          <a:lstStyle/>
          <a:p>
            <a:pPr algn="ctr"/>
            <a:r>
              <a:rPr sz="900" b="1" i="0">
                <a:solidFill>
                  <a:srgbClr val="D6F28C"/>
                </a:solidFill>
                <a:latin typeface="Aptos"/>
              </a:rPr>
              <a:t>FieldNotes MCP</a:t>
            </a:r>
          </a:p>
          <a:p>
            <a:pPr algn="ctr"/>
            <a:r>
              <a:rPr sz="700" b="0" i="0">
                <a:solidFill>
                  <a:srgbClr val="9BA99F"/>
                </a:solidFill>
                <a:latin typeface="Aptos"/>
              </a:rPr>
              <a:t>status · sessions · evidence · search · memory · tracking</a:t>
            </a:r>
          </a:p>
        </p:txBody>
      </p:sp>
      <p:cxnSp>
        <p:nvCxnSpPr>
          <p:cNvPr id="281" name="Connector 280"/>
          <p:cNvCxnSpPr/>
          <p:nvPr/>
        </p:nvCxnSpPr>
        <p:spPr>
          <a:xfrm>
            <a:off x="4498848" y="3246120"/>
            <a:ext cx="0" cy="228600"/>
          </a:xfrm>
          <a:prstGeom prst="line">
            <a:avLst/>
          </a:prstGeom>
          <a:ln w="12700">
            <a:solidFill>
              <a:srgbClr val="D6F28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a:off x="3291840" y="2788920"/>
            <a:ext cx="0" cy="685800"/>
          </a:xfrm>
          <a:prstGeom prst="line">
            <a:avLst/>
          </a:prstGeom>
          <a:ln w="12700">
            <a:solidFill>
              <a:srgbClr val="D6F28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H="1">
            <a:off x="3291840" y="2788920"/>
            <a:ext cx="594360" cy="0"/>
          </a:xfrm>
          <a:prstGeom prst="line">
            <a:avLst/>
          </a:prstGeom>
          <a:ln w="12700">
            <a:solidFill>
              <a:srgbClr val="D6F28C"/>
            </a:solidFill>
          </a:ln>
        </p:spPr>
        <p:style>
          <a:lnRef idx="2">
            <a:schemeClr val="accent1"/>
          </a:lnRef>
          <a:fillRef idx="0">
            <a:schemeClr val="accent1"/>
          </a:fillRef>
          <a:effectRef idx="1">
            <a:schemeClr val="accent1"/>
          </a:effectRef>
          <a:fontRef idx="minor">
            <a:schemeClr val="tx1"/>
          </a:fontRef>
        </p:style>
      </p:cxnSp>
      <p:sp>
        <p:nvSpPr>
          <p:cNvPr id="284" name="TextBox 283"/>
          <p:cNvSpPr txBox="1"/>
          <p:nvPr/>
        </p:nvSpPr>
        <p:spPr>
          <a:xfrm>
            <a:off x="1828800" y="3063240"/>
            <a:ext cx="1371600" cy="365760"/>
          </a:xfrm>
          <a:prstGeom prst="rect">
            <a:avLst/>
          </a:prstGeom>
          <a:noFill/>
        </p:spPr>
        <p:txBody>
          <a:bodyPr wrap="square" anchor="t" lIns="0" rIns="0" tIns="18288" bIns="18288">
            <a:spAutoFit/>
          </a:bodyPr>
          <a:lstStyle/>
          <a:p>
            <a:pPr algn="l"/>
            <a:r>
              <a:rPr sz="700" b="0" i="0">
                <a:solidFill>
                  <a:srgbClr val="9BA99F"/>
                </a:solidFill>
                <a:latin typeface="Consolas"/>
              </a:rPr>
              <a:t>originals · timestamps · temporal records</a:t>
            </a:r>
          </a:p>
        </p:txBody>
      </p:sp>
      <p:sp>
        <p:nvSpPr>
          <p:cNvPr id="285" name="Rectangle 284"/>
          <p:cNvSpPr/>
          <p:nvPr/>
        </p:nvSpPr>
        <p:spPr>
          <a:xfrm>
            <a:off x="5486400" y="2148840"/>
            <a:ext cx="1554480" cy="502920"/>
          </a:xfrm>
          <a:prstGeom prst="rect">
            <a:avLst/>
          </a:prstGeom>
          <a:solidFill>
            <a:srgbClr val="0D1411"/>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6" name="TextBox 285"/>
          <p:cNvSpPr txBox="1"/>
          <p:nvPr/>
        </p:nvSpPr>
        <p:spPr>
          <a:xfrm>
            <a:off x="5532120" y="2176272"/>
            <a:ext cx="1463039" cy="448056"/>
          </a:xfrm>
          <a:prstGeom prst="rect">
            <a:avLst/>
          </a:prstGeom>
          <a:noFill/>
        </p:spPr>
        <p:txBody>
          <a:bodyPr wrap="square" anchor="ctr" lIns="0" rIns="0" tIns="18288" bIns="18288">
            <a:spAutoFit/>
          </a:bodyPr>
          <a:lstStyle/>
          <a:p>
            <a:pPr algn="ctr"/>
            <a:r>
              <a:rPr sz="900" b="1" i="0">
                <a:solidFill>
                  <a:srgbClr val="F0F2E9"/>
                </a:solidFill>
                <a:latin typeface="Aptos"/>
              </a:rPr>
              <a:t>OpenAI API</a:t>
            </a:r>
          </a:p>
          <a:p>
            <a:pPr algn="ctr"/>
            <a:r>
              <a:rPr sz="700" b="0" i="0">
                <a:solidFill>
                  <a:srgbClr val="9BA99F"/>
                </a:solidFill>
                <a:latin typeface="Aptos"/>
              </a:rPr>
              <a:t>vision summaries</a:t>
            </a:r>
          </a:p>
        </p:txBody>
      </p:sp>
      <p:cxnSp>
        <p:nvCxnSpPr>
          <p:cNvPr id="287" name="Connector 286"/>
          <p:cNvCxnSpPr/>
          <p:nvPr/>
        </p:nvCxnSpPr>
        <p:spPr>
          <a:xfrm>
            <a:off x="5120640" y="2286000"/>
            <a:ext cx="365760" cy="0"/>
          </a:xfrm>
          <a:prstGeom prst="line">
            <a:avLst/>
          </a:prstGeom>
          <a:ln w="12700">
            <a:solidFill>
              <a:srgbClr val="9BA9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flipH="1">
            <a:off x="5120640" y="2514600"/>
            <a:ext cx="365760" cy="0"/>
          </a:xfrm>
          <a:prstGeom prst="line">
            <a:avLst/>
          </a:prstGeom>
          <a:ln w="12700">
            <a:solidFill>
              <a:srgbClr val="9BA99F"/>
            </a:solidFill>
            <a:tailEnd type="triangle" w="sm" len="sm"/>
          </a:ln>
        </p:spPr>
        <p:style>
          <a:lnRef idx="2">
            <a:schemeClr val="accent1"/>
          </a:lnRef>
          <a:fillRef idx="0">
            <a:schemeClr val="accent1"/>
          </a:fillRef>
          <a:effectRef idx="1">
            <a:schemeClr val="accent1"/>
          </a:effectRef>
          <a:fontRef idx="minor">
            <a:schemeClr val="tx1"/>
          </a:fontRef>
        </p:style>
      </p:cxnSp>
      <p:sp>
        <p:nvSpPr>
          <p:cNvPr id="289" name="TextBox 288"/>
          <p:cNvSpPr txBox="1"/>
          <p:nvPr/>
        </p:nvSpPr>
        <p:spPr>
          <a:xfrm>
            <a:off x="5138928" y="2103120"/>
            <a:ext cx="365760" cy="182880"/>
          </a:xfrm>
          <a:prstGeom prst="rect">
            <a:avLst/>
          </a:prstGeom>
          <a:noFill/>
        </p:spPr>
        <p:txBody>
          <a:bodyPr wrap="square" anchor="t" lIns="0" rIns="0" tIns="18288" bIns="18288">
            <a:spAutoFit/>
          </a:bodyPr>
          <a:lstStyle/>
          <a:p>
            <a:pPr algn="l"/>
            <a:r>
              <a:rPr sz="600" b="0" i="0">
                <a:solidFill>
                  <a:srgbClr val="9BA99F"/>
                </a:solidFill>
                <a:latin typeface="Consolas"/>
              </a:rPr>
              <a:t>images</a:t>
            </a:r>
          </a:p>
        </p:txBody>
      </p:sp>
      <p:sp>
        <p:nvSpPr>
          <p:cNvPr id="290" name="TextBox 289"/>
          <p:cNvSpPr txBox="1"/>
          <p:nvPr/>
        </p:nvSpPr>
        <p:spPr>
          <a:xfrm>
            <a:off x="5074920" y="2542032"/>
            <a:ext cx="457200" cy="182880"/>
          </a:xfrm>
          <a:prstGeom prst="rect">
            <a:avLst/>
          </a:prstGeom>
          <a:noFill/>
        </p:spPr>
        <p:txBody>
          <a:bodyPr wrap="square" anchor="t" lIns="0" rIns="0" tIns="18288" bIns="18288">
            <a:spAutoFit/>
          </a:bodyPr>
          <a:lstStyle/>
          <a:p>
            <a:pPr algn="l"/>
            <a:r>
              <a:rPr sz="600" b="0" i="0">
                <a:solidFill>
                  <a:srgbClr val="9BA99F"/>
                </a:solidFill>
                <a:latin typeface="Consolas"/>
              </a:rPr>
              <a:t>summaries</a:t>
            </a:r>
          </a:p>
        </p:txBody>
      </p:sp>
      <p:sp>
        <p:nvSpPr>
          <p:cNvPr id="291" name="Rectangle 290"/>
          <p:cNvSpPr/>
          <p:nvPr/>
        </p:nvSpPr>
        <p:spPr>
          <a:xfrm>
            <a:off x="5486400" y="3474720"/>
            <a:ext cx="1234440" cy="457200"/>
          </a:xfrm>
          <a:prstGeom prst="rect">
            <a:avLst/>
          </a:prstGeom>
          <a:solidFill>
            <a:srgbClr val="0D1411"/>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2" name="TextBox 291"/>
          <p:cNvSpPr txBox="1"/>
          <p:nvPr/>
        </p:nvSpPr>
        <p:spPr>
          <a:xfrm>
            <a:off x="5532120" y="3502151"/>
            <a:ext cx="1143000" cy="402336"/>
          </a:xfrm>
          <a:prstGeom prst="rect">
            <a:avLst/>
          </a:prstGeom>
          <a:noFill/>
        </p:spPr>
        <p:txBody>
          <a:bodyPr wrap="square" anchor="ctr" lIns="0" rIns="0" tIns="18288" bIns="18288">
            <a:spAutoFit/>
          </a:bodyPr>
          <a:lstStyle/>
          <a:p>
            <a:pPr algn="ctr"/>
            <a:r>
              <a:rPr sz="900" b="1" i="0">
                <a:solidFill>
                  <a:srgbClr val="F0F2E9"/>
                </a:solidFill>
                <a:latin typeface="Aptos"/>
              </a:rPr>
              <a:t>Agent</a:t>
            </a:r>
          </a:p>
          <a:p>
            <a:pPr algn="ctr"/>
            <a:r>
              <a:rPr sz="700" b="0" i="0">
                <a:solidFill>
                  <a:srgbClr val="9BA99F"/>
                </a:solidFill>
                <a:latin typeface="Aptos"/>
              </a:rPr>
              <a:t>LLM reasoning</a:t>
            </a:r>
          </a:p>
        </p:txBody>
      </p:sp>
      <p:cxnSp>
        <p:nvCxnSpPr>
          <p:cNvPr id="293" name="Connector 292"/>
          <p:cNvCxnSpPr/>
          <p:nvPr/>
        </p:nvCxnSpPr>
        <p:spPr>
          <a:xfrm>
            <a:off x="5120640" y="3611880"/>
            <a:ext cx="365760" cy="0"/>
          </a:xfrm>
          <a:prstGeom prst="line">
            <a:avLst/>
          </a:prstGeom>
          <a:ln w="15875">
            <a:solidFill>
              <a:srgbClr val="D6F28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flipH="1">
            <a:off x="5120640" y="3794760"/>
            <a:ext cx="365760" cy="0"/>
          </a:xfrm>
          <a:prstGeom prst="line">
            <a:avLst/>
          </a:prstGeom>
          <a:ln w="15875">
            <a:solidFill>
              <a:srgbClr val="D6F28C"/>
            </a:solidFill>
            <a:tailEnd type="triangle" w="sm" len="sm"/>
          </a:ln>
        </p:spPr>
        <p:style>
          <a:lnRef idx="2">
            <a:schemeClr val="accent1"/>
          </a:lnRef>
          <a:fillRef idx="0">
            <a:schemeClr val="accent1"/>
          </a:fillRef>
          <a:effectRef idx="1">
            <a:schemeClr val="accent1"/>
          </a:effectRef>
          <a:fontRef idx="minor">
            <a:schemeClr val="tx1"/>
          </a:fontRef>
        </p:style>
      </p:cxnSp>
      <p:sp>
        <p:nvSpPr>
          <p:cNvPr id="295" name="TextBox 294"/>
          <p:cNvSpPr txBox="1"/>
          <p:nvPr/>
        </p:nvSpPr>
        <p:spPr>
          <a:xfrm>
            <a:off x="5120640" y="3950208"/>
            <a:ext cx="822960" cy="182880"/>
          </a:xfrm>
          <a:prstGeom prst="rect">
            <a:avLst/>
          </a:prstGeom>
          <a:noFill/>
        </p:spPr>
        <p:txBody>
          <a:bodyPr wrap="square" anchor="t" lIns="0" rIns="0" tIns="18288" bIns="18288">
            <a:spAutoFit/>
          </a:bodyPr>
          <a:lstStyle/>
          <a:p>
            <a:pPr algn="ctr"/>
            <a:r>
              <a:rPr sz="600" b="0" i="0">
                <a:solidFill>
                  <a:srgbClr val="D6F28C"/>
                </a:solidFill>
                <a:latin typeface="Consolas"/>
              </a:rPr>
              <a:t>MCP (interface)</a:t>
            </a:r>
          </a:p>
        </p:txBody>
      </p:sp>
      <p:sp>
        <p:nvSpPr>
          <p:cNvPr id="296" name="Rectangle 295"/>
          <p:cNvSpPr/>
          <p:nvPr/>
        </p:nvSpPr>
        <p:spPr>
          <a:xfrm>
            <a:off x="7178040" y="3246120"/>
            <a:ext cx="1325880" cy="685800"/>
          </a:xfrm>
          <a:prstGeom prst="rect">
            <a:avLst/>
          </a:prstGeom>
          <a:solidFill>
            <a:srgbClr val="0D1411"/>
          </a:solidFill>
          <a:ln w="12700">
            <a:solidFill>
              <a:srgbClr val="C9A24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7" name="TextBox 296"/>
          <p:cNvSpPr txBox="1"/>
          <p:nvPr/>
        </p:nvSpPr>
        <p:spPr>
          <a:xfrm>
            <a:off x="7223759" y="3273551"/>
            <a:ext cx="1234439" cy="630936"/>
          </a:xfrm>
          <a:prstGeom prst="rect">
            <a:avLst/>
          </a:prstGeom>
          <a:noFill/>
        </p:spPr>
        <p:txBody>
          <a:bodyPr wrap="square" anchor="ctr" lIns="0" rIns="0" tIns="18288" bIns="18288">
            <a:spAutoFit/>
          </a:bodyPr>
          <a:lstStyle/>
          <a:p>
            <a:pPr algn="ctr"/>
            <a:r>
              <a:rPr sz="900" b="1" i="0">
                <a:solidFill>
                  <a:srgbClr val="F0F2E9"/>
                </a:solidFill>
                <a:latin typeface="Aptos"/>
              </a:rPr>
              <a:t>Future robot MCP</a:t>
            </a:r>
          </a:p>
          <a:p>
            <a:pPr algn="ctr"/>
            <a:r>
              <a:rPr sz="700" b="0" i="0">
                <a:solidFill>
                  <a:srgbClr val="9BA99F"/>
                </a:solidFill>
                <a:latin typeface="Aptos"/>
              </a:rPr>
              <a:t>bounded observation / action tools</a:t>
            </a:r>
          </a:p>
        </p:txBody>
      </p:sp>
      <p:cxnSp>
        <p:nvCxnSpPr>
          <p:cNvPr id="298" name="Connector 297"/>
          <p:cNvCxnSpPr/>
          <p:nvPr/>
        </p:nvCxnSpPr>
        <p:spPr>
          <a:xfrm>
            <a:off x="6720840" y="3703320"/>
            <a:ext cx="457200" cy="0"/>
          </a:xfrm>
          <a:prstGeom prst="line">
            <a:avLst/>
          </a:prstGeom>
          <a:ln w="12700">
            <a:solidFill>
              <a:srgbClr val="C9A24A"/>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299" name="TextBox 298"/>
          <p:cNvSpPr txBox="1"/>
          <p:nvPr/>
        </p:nvSpPr>
        <p:spPr>
          <a:xfrm>
            <a:off x="7178040" y="3950208"/>
            <a:ext cx="1325880" cy="182880"/>
          </a:xfrm>
          <a:prstGeom prst="rect">
            <a:avLst/>
          </a:prstGeom>
          <a:noFill/>
        </p:spPr>
        <p:txBody>
          <a:bodyPr wrap="square" anchor="t" lIns="0" rIns="0" tIns="18288" bIns="18288">
            <a:spAutoFit/>
          </a:bodyPr>
          <a:lstStyle/>
          <a:p>
            <a:pPr algn="ctr"/>
            <a:r>
              <a:rPr sz="700" b="1" i="0">
                <a:solidFill>
                  <a:srgbClr val="C9A24A"/>
                </a:solidFill>
                <a:latin typeface="Consolas"/>
              </a:rPr>
              <a:t>NOT IMPLEMENTED</a:t>
            </a:r>
          </a:p>
        </p:txBody>
      </p:sp>
      <p:sp>
        <p:nvSpPr>
          <p:cNvPr id="300" name="TextBox 299"/>
          <p:cNvSpPr txBox="1"/>
          <p:nvPr/>
        </p:nvSpPr>
        <p:spPr>
          <a:xfrm>
            <a:off x="5486400" y="2743200"/>
            <a:ext cx="3017520" cy="457200"/>
          </a:xfrm>
          <a:prstGeom prst="rect">
            <a:avLst/>
          </a:prstGeom>
          <a:noFill/>
        </p:spPr>
        <p:txBody>
          <a:bodyPr wrap="square" anchor="t" lIns="0" rIns="0" tIns="18288" bIns="18288">
            <a:spAutoFit/>
          </a:bodyPr>
          <a:lstStyle/>
          <a:p>
            <a:pPr algn="l"/>
            <a:r>
              <a:rPr sz="900" b="0" i="0">
                <a:solidFill>
                  <a:srgbClr val="C9A24A"/>
                </a:solidFill>
                <a:latin typeface="Aptos"/>
              </a:rPr>
              <a:t>Human controls flight. Evidence is sampled. Interpretations can be wrong.</a:t>
            </a:r>
          </a:p>
        </p:txBody>
      </p:sp>
      <p:sp>
        <p:nvSpPr>
          <p:cNvPr id="301" name="TextBox 300"/>
          <p:cNvSpPr txBox="1"/>
          <p:nvPr/>
        </p:nvSpPr>
        <p:spPr>
          <a:xfrm>
            <a:off x="640080" y="4251960"/>
            <a:ext cx="548640" cy="201168"/>
          </a:xfrm>
          <a:prstGeom prst="rect">
            <a:avLst/>
          </a:prstGeom>
          <a:noFill/>
        </p:spPr>
        <p:txBody>
          <a:bodyPr wrap="square" anchor="t" lIns="0" rIns="0" tIns="18288" bIns="18288">
            <a:spAutoFit/>
          </a:bodyPr>
          <a:lstStyle/>
          <a:p>
            <a:pPr algn="l"/>
            <a:r>
              <a:rPr sz="800" b="1" i="0">
                <a:solidFill>
                  <a:srgbClr val="9BA99F"/>
                </a:solidFill>
                <a:latin typeface="Consolas"/>
              </a:rPr>
              <a:t>STACK</a:t>
            </a:r>
          </a:p>
        </p:txBody>
      </p:sp>
      <p:sp>
        <p:nvSpPr>
          <p:cNvPr id="302" name="TextBox 301"/>
          <p:cNvSpPr txBox="1"/>
          <p:nvPr/>
        </p:nvSpPr>
        <p:spPr>
          <a:xfrm>
            <a:off x="1188720" y="4224528"/>
            <a:ext cx="7315200" cy="274320"/>
          </a:xfrm>
          <a:prstGeom prst="rect">
            <a:avLst/>
          </a:prstGeom>
          <a:noFill/>
        </p:spPr>
        <p:txBody>
          <a:bodyPr wrap="square" anchor="t" lIns="0" rIns="0" tIns="18288" bIns="18288">
            <a:spAutoFit/>
          </a:bodyPr>
          <a:lstStyle/>
          <a:p>
            <a:pPr algn="l"/>
            <a:r>
              <a:rPr sz="800" b="0" i="0">
                <a:solidFill>
                  <a:srgbClr val="F0F2E9"/>
                </a:solidFill>
                <a:latin typeface="Consolas"/>
              </a:rPr>
              <a:t>Python 3.12 · FastMCP (Streamable HTTP) · FFmpeg · MediaMTX · SQLite · OpenAI Responses API · MobileCLIP2-S0 · EdgeTAM (optional)</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descr="image.gif" id="263" name="Google Shape;263;p9"/>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descr="image.png" id="270" name="Google Shape;270;p9"/>
          <p:cNvPicPr preferRelativeResize="0"/>
          <p:nvPr/>
        </p:nvPicPr>
        <p:blipFill rotWithShape="1">
          <a:blip r:embed="rId4">
            <a:alphaModFix/>
          </a:blip>
          <a:srcRect b="0" l="0" r="0" t="0"/>
          <a:stretch/>
        </p:blipFill>
        <p:spPr>
          <a:xfrm>
            <a:off x="7708392" y="4882896"/>
            <a:ext cx="1024128" cy="155448"/>
          </a:xfrm>
          <a:prstGeom prst="rect">
            <a:avLst/>
          </a:prstGeom>
          <a:noFill/>
          <a:ln>
            <a:noFill/>
          </a:ln>
        </p:spPr>
      </p:pic>
      <p:sp>
        <p:nvSpPr>
          <p:cNvPr id="271" name="Rectangle 270"/>
          <p:cNvSpPr/>
          <p:nvPr/>
        </p:nvSpPr>
        <p:spPr>
          <a:xfrm>
            <a:off x="429768" y="393192"/>
            <a:ext cx="8275320" cy="4352544"/>
          </a:xfrm>
          <a:prstGeom prst="rect">
            <a:avLst/>
          </a:prstGeom>
          <a:solidFill>
            <a:srgbClr val="0D1411"/>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2" name="TextBox 271"/>
          <p:cNvSpPr txBox="1"/>
          <p:nvPr/>
        </p:nvSpPr>
        <p:spPr>
          <a:xfrm>
            <a:off x="640080" y="502920"/>
            <a:ext cx="5943600" cy="201168"/>
          </a:xfrm>
          <a:prstGeom prst="rect">
            <a:avLst/>
          </a:prstGeom>
          <a:noFill/>
        </p:spPr>
        <p:txBody>
          <a:bodyPr wrap="square" anchor="t" lIns="0" rIns="0" tIns="18288" bIns="18288">
            <a:spAutoFit/>
          </a:bodyPr>
          <a:lstStyle/>
          <a:p>
            <a:pPr algn="l"/>
            <a:r>
              <a:rPr sz="900" b="1" i="0">
                <a:solidFill>
                  <a:srgbClr val="D6F28C"/>
                </a:solidFill>
                <a:latin typeface="Consolas"/>
              </a:rPr>
              <a:t>FIELDNOTES</a:t>
            </a:r>
            <a:r>
              <a:rPr sz="900" b="0" i="0">
                <a:solidFill>
                  <a:srgbClr val="9BA99F"/>
                </a:solidFill>
                <a:latin typeface="Consolas"/>
              </a:rPr>
              <a:t>   /   08  FUTURE ROADMAP</a:t>
            </a:r>
          </a:p>
        </p:txBody>
      </p:sp>
      <p:sp>
        <p:nvSpPr>
          <p:cNvPr id="273" name="TextBox 272"/>
          <p:cNvSpPr txBox="1"/>
          <p:nvPr/>
        </p:nvSpPr>
        <p:spPr>
          <a:xfrm>
            <a:off x="7726679" y="521207"/>
            <a:ext cx="731520" cy="228600"/>
          </a:xfrm>
          <a:prstGeom prst="rect">
            <a:avLst/>
          </a:prstGeom>
          <a:noFill/>
        </p:spPr>
        <p:txBody>
          <a:bodyPr wrap="square" anchor="t" lIns="0" rIns="0" tIns="18288" bIns="18288">
            <a:spAutoFit/>
          </a:bodyPr>
          <a:lstStyle/>
          <a:p>
            <a:pPr algn="r"/>
            <a:r>
              <a:rPr sz="1000" b="0" i="0">
                <a:solidFill>
                  <a:srgbClr val="9BA99F"/>
                </a:solidFill>
                <a:latin typeface="Consolas"/>
              </a:rPr>
              <a:t>08</a:t>
            </a:r>
          </a:p>
        </p:txBody>
      </p:sp>
      <p:sp>
        <p:nvSpPr>
          <p:cNvPr id="274" name="TextBox 273"/>
          <p:cNvSpPr txBox="1"/>
          <p:nvPr/>
        </p:nvSpPr>
        <p:spPr>
          <a:xfrm>
            <a:off x="429768" y="4846320"/>
            <a:ext cx="5486400" cy="182880"/>
          </a:xfrm>
          <a:prstGeom prst="rect">
            <a:avLst/>
          </a:prstGeom>
          <a:noFill/>
        </p:spPr>
        <p:txBody>
          <a:bodyPr wrap="square" anchor="t" lIns="0" rIns="0" tIns="18288" bIns="18288">
            <a:spAutoFit/>
          </a:bodyPr>
          <a:lstStyle/>
          <a:p>
            <a:pPr algn="l"/>
            <a:r>
              <a:rPr sz="700" b="0" i="0">
                <a:solidFill>
                  <a:srgbClr val="9BA99F"/>
                </a:solidFill>
                <a:latin typeface="Consolas"/>
              </a:rPr>
              <a:t>FIELDNOTES  /  HACKATHON PROTOTYPE  /  INNOVATION CUP 2026</a:t>
            </a:r>
          </a:p>
        </p:txBody>
      </p:sp>
      <p:sp>
        <p:nvSpPr>
          <p:cNvPr id="275" name="TextBox 274"/>
          <p:cNvSpPr txBox="1"/>
          <p:nvPr/>
        </p:nvSpPr>
        <p:spPr>
          <a:xfrm>
            <a:off x="640080" y="786384"/>
            <a:ext cx="7863840" cy="658368"/>
          </a:xfrm>
          <a:prstGeom prst="rect">
            <a:avLst/>
          </a:prstGeom>
          <a:noFill/>
        </p:spPr>
        <p:txBody>
          <a:bodyPr wrap="square" anchor="b" lIns="0" rIns="0" tIns="18288" bIns="18288">
            <a:spAutoFit/>
          </a:bodyPr>
          <a:lstStyle/>
          <a:p>
            <a:pPr algn="l"/>
            <a:r>
              <a:rPr sz="2100" b="1" i="0">
                <a:solidFill>
                  <a:srgbClr val="F0F2E9"/>
                </a:solidFill>
                <a:latin typeface="Aptos Display"/>
              </a:rPr>
              <a:t>Toward evidence-grounded physical agency</a:t>
            </a:r>
          </a:p>
        </p:txBody>
      </p:sp>
      <p:sp>
        <p:nvSpPr>
          <p:cNvPr id="276" name="TextBox 275"/>
          <p:cNvSpPr txBox="1"/>
          <p:nvPr/>
        </p:nvSpPr>
        <p:spPr>
          <a:xfrm>
            <a:off x="640080" y="1463040"/>
            <a:ext cx="7863840" cy="228600"/>
          </a:xfrm>
          <a:prstGeom prst="rect">
            <a:avLst/>
          </a:prstGeom>
          <a:noFill/>
        </p:spPr>
        <p:txBody>
          <a:bodyPr wrap="square" anchor="t" lIns="0" rIns="0" tIns="18288" bIns="18288">
            <a:spAutoFit/>
          </a:bodyPr>
          <a:lstStyle/>
          <a:p>
            <a:pPr algn="l"/>
            <a:r>
              <a:rPr sz="1000" b="0" i="0">
                <a:solidFill>
                  <a:srgbClr val="9BA99F"/>
                </a:solidFill>
                <a:latin typeface="Aptos"/>
              </a:rPr>
              <a:t>Planned milestones · maximum 75 words</a:t>
            </a:r>
          </a:p>
        </p:txBody>
      </p:sp>
      <p:cxnSp>
        <p:nvCxnSpPr>
          <p:cNvPr id="277" name="Connector 276"/>
          <p:cNvCxnSpPr/>
          <p:nvPr/>
        </p:nvCxnSpPr>
        <p:spPr>
          <a:xfrm>
            <a:off x="640080" y="1737360"/>
            <a:ext cx="7818120" cy="0"/>
          </a:xfrm>
          <a:prstGeom prst="line">
            <a:avLst/>
          </a:prstGeom>
          <a:ln w="9525">
            <a:solidFill>
              <a:srgbClr val="2E3B33"/>
            </a:solidFill>
          </a:ln>
        </p:spPr>
        <p:style>
          <a:lnRef idx="2">
            <a:schemeClr val="accent1"/>
          </a:lnRef>
          <a:fillRef idx="0">
            <a:schemeClr val="accent1"/>
          </a:fillRef>
          <a:effectRef idx="1">
            <a:schemeClr val="accent1"/>
          </a:effectRef>
          <a:fontRef idx="minor">
            <a:schemeClr val="tx1"/>
          </a:fontRef>
        </p:style>
      </p:cxnSp>
      <p:sp>
        <p:nvSpPr>
          <p:cNvPr id="278" name="TextBox 277"/>
          <p:cNvSpPr txBox="1"/>
          <p:nvPr/>
        </p:nvSpPr>
        <p:spPr>
          <a:xfrm>
            <a:off x="640080" y="1801368"/>
            <a:ext cx="2743200" cy="201168"/>
          </a:xfrm>
          <a:prstGeom prst="rect">
            <a:avLst/>
          </a:prstGeom>
          <a:noFill/>
        </p:spPr>
        <p:txBody>
          <a:bodyPr wrap="square" anchor="t" lIns="0" rIns="0" tIns="18288" bIns="18288">
            <a:spAutoFit/>
          </a:bodyPr>
          <a:lstStyle/>
          <a:p>
            <a:pPr algn="l"/>
            <a:r>
              <a:rPr sz="800" b="1" i="0">
                <a:solidFill>
                  <a:srgbClr val="C9A24A"/>
                </a:solidFill>
                <a:latin typeface="Consolas"/>
              </a:rPr>
              <a:t>PLANNED MILESTONES  ·  NOT ACHIEVED RESULTS</a:t>
            </a:r>
          </a:p>
        </p:txBody>
      </p:sp>
      <p:sp>
        <p:nvSpPr>
          <p:cNvPr id="279" name="Rectangle 278"/>
          <p:cNvSpPr/>
          <p:nvPr/>
        </p:nvSpPr>
        <p:spPr>
          <a:xfrm>
            <a:off x="640080" y="2103120"/>
            <a:ext cx="2514600" cy="1691640"/>
          </a:xfrm>
          <a:prstGeom prst="rect">
            <a:avLst/>
          </a:prstGeom>
          <a:solidFill>
            <a:srgbClr val="19231D"/>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0" name="TextBox 279"/>
          <p:cNvSpPr txBox="1"/>
          <p:nvPr/>
        </p:nvSpPr>
        <p:spPr>
          <a:xfrm>
            <a:off x="777240" y="2194560"/>
            <a:ext cx="365760" cy="274320"/>
          </a:xfrm>
          <a:prstGeom prst="rect">
            <a:avLst/>
          </a:prstGeom>
          <a:noFill/>
        </p:spPr>
        <p:txBody>
          <a:bodyPr wrap="square" anchor="t" lIns="0" rIns="0" tIns="18288" bIns="18288">
            <a:spAutoFit/>
          </a:bodyPr>
          <a:lstStyle/>
          <a:p>
            <a:pPr algn="l"/>
            <a:r>
              <a:rPr sz="1100" b="1" i="0">
                <a:solidFill>
                  <a:srgbClr val="D6F28C"/>
                </a:solidFill>
                <a:latin typeface="Consolas"/>
              </a:rPr>
              <a:t>01</a:t>
            </a:r>
          </a:p>
        </p:txBody>
      </p:sp>
      <p:sp>
        <p:nvSpPr>
          <p:cNvPr id="281" name="TextBox 280"/>
          <p:cNvSpPr txBox="1"/>
          <p:nvPr/>
        </p:nvSpPr>
        <p:spPr>
          <a:xfrm>
            <a:off x="1143000" y="2194560"/>
            <a:ext cx="1828800" cy="274320"/>
          </a:xfrm>
          <a:prstGeom prst="rect">
            <a:avLst/>
          </a:prstGeom>
          <a:noFill/>
        </p:spPr>
        <p:txBody>
          <a:bodyPr wrap="square" anchor="t" lIns="0" rIns="0" tIns="18288" bIns="18288">
            <a:spAutoFit/>
          </a:bodyPr>
          <a:lstStyle/>
          <a:p>
            <a:pPr algn="l"/>
            <a:r>
              <a:rPr sz="900" b="1" i="0">
                <a:solidFill>
                  <a:srgbClr val="9BA99F"/>
                </a:solidFill>
                <a:latin typeface="Consolas"/>
              </a:rPr>
              <a:t>NEAR TERM</a:t>
            </a:r>
          </a:p>
        </p:txBody>
      </p:sp>
      <p:sp>
        <p:nvSpPr>
          <p:cNvPr id="282" name="TextBox 281"/>
          <p:cNvSpPr txBox="1"/>
          <p:nvPr/>
        </p:nvSpPr>
        <p:spPr>
          <a:xfrm>
            <a:off x="777240" y="2560320"/>
            <a:ext cx="2240280" cy="822960"/>
          </a:xfrm>
          <a:prstGeom prst="rect">
            <a:avLst/>
          </a:prstGeom>
          <a:noFill/>
        </p:spPr>
        <p:txBody>
          <a:bodyPr wrap="square" anchor="t" lIns="0" rIns="0" tIns="18288" bIns="18288">
            <a:spAutoFit/>
          </a:bodyPr>
          <a:lstStyle/>
          <a:p>
            <a:pPr algn="l"/>
            <a:r>
              <a:rPr sz="1400" b="1" i="0">
                <a:solidFill>
                  <a:srgbClr val="F0F2E9"/>
                </a:solidFill>
                <a:latin typeface="Aptos Display"/>
              </a:rPr>
              <a:t>Session review and cited process timelines</a:t>
            </a:r>
          </a:p>
        </p:txBody>
      </p:sp>
      <p:cxnSp>
        <p:nvCxnSpPr>
          <p:cNvPr id="283" name="Connector 282"/>
          <p:cNvCxnSpPr/>
          <p:nvPr/>
        </p:nvCxnSpPr>
        <p:spPr>
          <a:xfrm>
            <a:off x="3154680" y="2944368"/>
            <a:ext cx="137159" cy="0"/>
          </a:xfrm>
          <a:prstGeom prst="line">
            <a:avLst/>
          </a:prstGeom>
          <a:ln w="12700">
            <a:solidFill>
              <a:srgbClr val="9BA99F"/>
            </a:solidFill>
            <a:tailEnd type="triangle" w="sm" len="sm"/>
          </a:ln>
        </p:spPr>
        <p:style>
          <a:lnRef idx="2">
            <a:schemeClr val="accent1"/>
          </a:lnRef>
          <a:fillRef idx="0">
            <a:schemeClr val="accent1"/>
          </a:fillRef>
          <a:effectRef idx="1">
            <a:schemeClr val="accent1"/>
          </a:effectRef>
          <a:fontRef idx="minor">
            <a:schemeClr val="tx1"/>
          </a:fontRef>
        </p:style>
      </p:cxnSp>
      <p:sp>
        <p:nvSpPr>
          <p:cNvPr id="284" name="Rectangle 283"/>
          <p:cNvSpPr/>
          <p:nvPr/>
        </p:nvSpPr>
        <p:spPr>
          <a:xfrm>
            <a:off x="3291839" y="2103120"/>
            <a:ext cx="2514600" cy="1691640"/>
          </a:xfrm>
          <a:prstGeom prst="rect">
            <a:avLst/>
          </a:prstGeom>
          <a:solidFill>
            <a:srgbClr val="19231D"/>
          </a:solidFill>
          <a:ln w="6350">
            <a:solidFill>
              <a:srgbClr val="2E3B3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5" name="TextBox 284"/>
          <p:cNvSpPr txBox="1"/>
          <p:nvPr/>
        </p:nvSpPr>
        <p:spPr>
          <a:xfrm>
            <a:off x="3428999" y="2194560"/>
            <a:ext cx="365760" cy="274320"/>
          </a:xfrm>
          <a:prstGeom prst="rect">
            <a:avLst/>
          </a:prstGeom>
          <a:noFill/>
        </p:spPr>
        <p:txBody>
          <a:bodyPr wrap="square" anchor="t" lIns="0" rIns="0" tIns="18288" bIns="18288">
            <a:spAutoFit/>
          </a:bodyPr>
          <a:lstStyle/>
          <a:p>
            <a:pPr algn="l"/>
            <a:r>
              <a:rPr sz="1100" b="1" i="0">
                <a:solidFill>
                  <a:srgbClr val="D6F28C"/>
                </a:solidFill>
                <a:latin typeface="Consolas"/>
              </a:rPr>
              <a:t>02</a:t>
            </a:r>
          </a:p>
        </p:txBody>
      </p:sp>
      <p:sp>
        <p:nvSpPr>
          <p:cNvPr id="286" name="TextBox 285"/>
          <p:cNvSpPr txBox="1"/>
          <p:nvPr/>
        </p:nvSpPr>
        <p:spPr>
          <a:xfrm>
            <a:off x="3794759" y="2194560"/>
            <a:ext cx="1828800" cy="274320"/>
          </a:xfrm>
          <a:prstGeom prst="rect">
            <a:avLst/>
          </a:prstGeom>
          <a:noFill/>
        </p:spPr>
        <p:txBody>
          <a:bodyPr wrap="square" anchor="t" lIns="0" rIns="0" tIns="18288" bIns="18288">
            <a:spAutoFit/>
          </a:bodyPr>
          <a:lstStyle/>
          <a:p>
            <a:pPr algn="l"/>
            <a:r>
              <a:rPr sz="900" b="1" i="0">
                <a:solidFill>
                  <a:srgbClr val="9BA99F"/>
                </a:solidFill>
                <a:latin typeface="Consolas"/>
              </a:rPr>
              <a:t>MEDIUM TERM</a:t>
            </a:r>
          </a:p>
        </p:txBody>
      </p:sp>
      <p:sp>
        <p:nvSpPr>
          <p:cNvPr id="287" name="TextBox 286"/>
          <p:cNvSpPr txBox="1"/>
          <p:nvPr/>
        </p:nvSpPr>
        <p:spPr>
          <a:xfrm>
            <a:off x="3428999" y="2560320"/>
            <a:ext cx="2240280" cy="822960"/>
          </a:xfrm>
          <a:prstGeom prst="rect">
            <a:avLst/>
          </a:prstGeom>
          <a:noFill/>
        </p:spPr>
        <p:txBody>
          <a:bodyPr wrap="square" anchor="t" lIns="0" rIns="0" tIns="18288" bIns="18288">
            <a:spAutoFit/>
          </a:bodyPr>
          <a:lstStyle/>
          <a:p>
            <a:pPr algn="l"/>
            <a:r>
              <a:rPr sz="1400" b="1" i="0">
                <a:solidFill>
                  <a:srgbClr val="F0F2E9"/>
                </a:solidFill>
                <a:latin typeface="Aptos Display"/>
              </a:rPr>
              <a:t>Evaluate change interpretation across 20 annotated sessions</a:t>
            </a:r>
          </a:p>
        </p:txBody>
      </p:sp>
      <p:sp>
        <p:nvSpPr>
          <p:cNvPr id="288" name="TextBox 287"/>
          <p:cNvSpPr txBox="1"/>
          <p:nvPr/>
        </p:nvSpPr>
        <p:spPr>
          <a:xfrm>
            <a:off x="3428999" y="3429000"/>
            <a:ext cx="2240280" cy="274320"/>
          </a:xfrm>
          <a:prstGeom prst="rect">
            <a:avLst/>
          </a:prstGeom>
          <a:noFill/>
        </p:spPr>
        <p:txBody>
          <a:bodyPr wrap="square" anchor="t" lIns="0" rIns="0" tIns="18288" bIns="18288">
            <a:spAutoFit/>
          </a:bodyPr>
          <a:lstStyle/>
          <a:p>
            <a:pPr algn="l"/>
            <a:r>
              <a:rPr sz="800" b="0" i="0">
                <a:solidFill>
                  <a:srgbClr val="C9A24A"/>
                </a:solidFill>
                <a:latin typeface="Consolas"/>
              </a:rPr>
              <a:t>20 sessions = proposed target</a:t>
            </a:r>
          </a:p>
        </p:txBody>
      </p:sp>
      <p:cxnSp>
        <p:nvCxnSpPr>
          <p:cNvPr id="289" name="Connector 288"/>
          <p:cNvCxnSpPr/>
          <p:nvPr/>
        </p:nvCxnSpPr>
        <p:spPr>
          <a:xfrm>
            <a:off x="5806440" y="2944368"/>
            <a:ext cx="137160" cy="0"/>
          </a:xfrm>
          <a:prstGeom prst="line">
            <a:avLst/>
          </a:prstGeom>
          <a:ln w="12700">
            <a:solidFill>
              <a:srgbClr val="9BA99F"/>
            </a:solidFill>
            <a:tailEnd type="triangle" w="sm" len="sm"/>
          </a:ln>
        </p:spPr>
        <p:style>
          <a:lnRef idx="2">
            <a:schemeClr val="accent1"/>
          </a:lnRef>
          <a:fillRef idx="0">
            <a:schemeClr val="accent1"/>
          </a:fillRef>
          <a:effectRef idx="1">
            <a:schemeClr val="accent1"/>
          </a:effectRef>
          <a:fontRef idx="minor">
            <a:schemeClr val="tx1"/>
          </a:fontRef>
        </p:style>
      </p:cxnSp>
      <p:sp>
        <p:nvSpPr>
          <p:cNvPr id="290" name="Rectangle 289"/>
          <p:cNvSpPr/>
          <p:nvPr/>
        </p:nvSpPr>
        <p:spPr>
          <a:xfrm>
            <a:off x="5943600" y="2103120"/>
            <a:ext cx="2514600" cy="1691640"/>
          </a:xfrm>
          <a:prstGeom prst="rect">
            <a:avLst/>
          </a:prstGeom>
          <a:solidFill>
            <a:srgbClr val="19231D"/>
          </a:solidFill>
          <a:ln w="12700">
            <a:solidFill>
              <a:srgbClr val="D6F2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1" name="TextBox 290"/>
          <p:cNvSpPr txBox="1"/>
          <p:nvPr/>
        </p:nvSpPr>
        <p:spPr>
          <a:xfrm>
            <a:off x="6080760" y="2194560"/>
            <a:ext cx="365760" cy="274320"/>
          </a:xfrm>
          <a:prstGeom prst="rect">
            <a:avLst/>
          </a:prstGeom>
          <a:noFill/>
        </p:spPr>
        <p:txBody>
          <a:bodyPr wrap="square" anchor="t" lIns="0" rIns="0" tIns="18288" bIns="18288">
            <a:spAutoFit/>
          </a:bodyPr>
          <a:lstStyle/>
          <a:p>
            <a:pPr algn="l"/>
            <a:r>
              <a:rPr sz="1100" b="1" i="0">
                <a:solidFill>
                  <a:srgbClr val="D6F28C"/>
                </a:solidFill>
                <a:latin typeface="Consolas"/>
              </a:rPr>
              <a:t>03</a:t>
            </a:r>
          </a:p>
        </p:txBody>
      </p:sp>
      <p:sp>
        <p:nvSpPr>
          <p:cNvPr id="292" name="TextBox 291"/>
          <p:cNvSpPr txBox="1"/>
          <p:nvPr/>
        </p:nvSpPr>
        <p:spPr>
          <a:xfrm>
            <a:off x="6446520" y="2194560"/>
            <a:ext cx="1828800" cy="274320"/>
          </a:xfrm>
          <a:prstGeom prst="rect">
            <a:avLst/>
          </a:prstGeom>
          <a:noFill/>
        </p:spPr>
        <p:txBody>
          <a:bodyPr wrap="square" anchor="t" lIns="0" rIns="0" tIns="18288" bIns="18288">
            <a:spAutoFit/>
          </a:bodyPr>
          <a:lstStyle/>
          <a:p>
            <a:pPr algn="l"/>
            <a:r>
              <a:rPr sz="900" b="1" i="0">
                <a:solidFill>
                  <a:srgbClr val="9BA99F"/>
                </a:solidFill>
                <a:latin typeface="Consolas"/>
              </a:rPr>
              <a:t>LONG TERM</a:t>
            </a:r>
          </a:p>
        </p:txBody>
      </p:sp>
      <p:sp>
        <p:nvSpPr>
          <p:cNvPr id="293" name="TextBox 292"/>
          <p:cNvSpPr txBox="1"/>
          <p:nvPr/>
        </p:nvSpPr>
        <p:spPr>
          <a:xfrm>
            <a:off x="6080760" y="2560320"/>
            <a:ext cx="2240280" cy="822960"/>
          </a:xfrm>
          <a:prstGeom prst="rect">
            <a:avLst/>
          </a:prstGeom>
          <a:noFill/>
        </p:spPr>
        <p:txBody>
          <a:bodyPr wrap="square" anchor="t" lIns="0" rIns="0" tIns="18288" bIns="18288">
            <a:spAutoFit/>
          </a:bodyPr>
          <a:lstStyle/>
          <a:p>
            <a:pPr algn="l"/>
            <a:r>
              <a:rPr sz="1400" b="1" i="0">
                <a:solidFill>
                  <a:srgbClr val="F0F2E9"/>
                </a:solidFill>
                <a:latin typeface="Aptos Display"/>
              </a:rPr>
              <a:t>Connect one bounded robot observation tool and verify its result</a:t>
            </a:r>
          </a:p>
        </p:txBody>
      </p:sp>
      <p:sp>
        <p:nvSpPr>
          <p:cNvPr id="294" name="TextBox 293"/>
          <p:cNvSpPr txBox="1"/>
          <p:nvPr/>
        </p:nvSpPr>
        <p:spPr>
          <a:xfrm>
            <a:off x="6080760" y="3429000"/>
            <a:ext cx="2240280" cy="274320"/>
          </a:xfrm>
          <a:prstGeom prst="rect">
            <a:avLst/>
          </a:prstGeom>
          <a:noFill/>
        </p:spPr>
        <p:txBody>
          <a:bodyPr wrap="square" anchor="t" lIns="0" rIns="0" tIns="18288" bIns="18288">
            <a:spAutoFit/>
          </a:bodyPr>
          <a:lstStyle/>
          <a:p>
            <a:pPr algn="l"/>
            <a:r>
              <a:rPr sz="800" b="0" i="0">
                <a:solidFill>
                  <a:srgbClr val="C9A24A"/>
                </a:solidFill>
                <a:latin typeface="Consolas"/>
              </a:rPr>
              <a:t>observation first, not manipulation</a:t>
            </a:r>
          </a:p>
        </p:txBody>
      </p:sp>
      <p:cxnSp>
        <p:nvCxnSpPr>
          <p:cNvPr id="295" name="Connector 294"/>
          <p:cNvCxnSpPr/>
          <p:nvPr/>
        </p:nvCxnSpPr>
        <p:spPr>
          <a:xfrm>
            <a:off x="640080" y="3977639"/>
            <a:ext cx="7818120" cy="0"/>
          </a:xfrm>
          <a:prstGeom prst="line">
            <a:avLst/>
          </a:prstGeom>
          <a:ln w="9525">
            <a:solidFill>
              <a:srgbClr val="2E3B33"/>
            </a:solidFill>
          </a:ln>
        </p:spPr>
        <p:style>
          <a:lnRef idx="2">
            <a:schemeClr val="accent1"/>
          </a:lnRef>
          <a:fillRef idx="0">
            <a:schemeClr val="accent1"/>
          </a:fillRef>
          <a:effectRef idx="1">
            <a:schemeClr val="accent1"/>
          </a:effectRef>
          <a:fontRef idx="minor">
            <a:schemeClr val="tx1"/>
          </a:fontRef>
        </p:style>
      </p:cxnSp>
      <p:sp>
        <p:nvSpPr>
          <p:cNvPr id="296" name="TextBox 295"/>
          <p:cNvSpPr txBox="1"/>
          <p:nvPr/>
        </p:nvSpPr>
        <p:spPr>
          <a:xfrm>
            <a:off x="640080" y="4069080"/>
            <a:ext cx="7772400" cy="457200"/>
          </a:xfrm>
          <a:prstGeom prst="rect">
            <a:avLst/>
          </a:prstGeom>
          <a:noFill/>
        </p:spPr>
        <p:txBody>
          <a:bodyPr wrap="square" anchor="t" lIns="0" rIns="0" tIns="18288" bIns="18288">
            <a:spAutoFit/>
          </a:bodyPr>
          <a:lstStyle/>
          <a:p>
            <a:pPr algn="l"/>
            <a:r>
              <a:rPr sz="2000" b="1" i="0">
                <a:solidFill>
                  <a:srgbClr val="D6F28C"/>
                </a:solidFill>
                <a:latin typeface="Aptos Display"/>
              </a:rPr>
              <a:t>The agent should know when it needs another look.</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