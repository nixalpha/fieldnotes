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Inter"/>
      <p:regular r:id="rId15"/>
      <p:bold r:id="rId16"/>
      <p:italic r:id="rId17"/>
      <p:boldItalic r:id="rId18"/>
    </p:embeddedFont>
    <p:embeddedFont>
      <p:font typeface="Roboto Mon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3" roundtripDataSignature="AMtx7mj1Bq4BndRi3l7vvKYabnUz10Kf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.fntdata"/><Relationship Id="rId11" Type="http://schemas.openxmlformats.org/officeDocument/2006/relationships/slide" Target="slides/slide6.xml"/><Relationship Id="rId22" Type="http://schemas.openxmlformats.org/officeDocument/2006/relationships/font" Target="fonts/RobotoMono-boldItalic.fntdata"/><Relationship Id="rId10" Type="http://schemas.openxmlformats.org/officeDocument/2006/relationships/slide" Target="slides/slide5.xml"/><Relationship Id="rId21" Type="http://schemas.openxmlformats.org/officeDocument/2006/relationships/font" Target="fonts/RobotoMon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regular.fntdata"/><Relationship Id="rId14" Type="http://schemas.openxmlformats.org/officeDocument/2006/relationships/slide" Target="slides/slide9.xml"/><Relationship Id="rId17" Type="http://schemas.openxmlformats.org/officeDocument/2006/relationships/font" Target="fonts/Inter-italic.fntdata"/><Relationship Id="rId16" Type="http://schemas.openxmlformats.org/officeDocument/2006/relationships/font" Target="fonts/Inter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regular.fntdata"/><Relationship Id="rId6" Type="http://schemas.openxmlformats.org/officeDocument/2006/relationships/slide" Target="slides/slide1.xml"/><Relationship Id="rId18" Type="http://schemas.openxmlformats.org/officeDocument/2006/relationships/font" Target="fonts/Int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version is designed for people creating the slides themselves. On-slide prompts are intentionally brief.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Teams may change the layout, detail and visual design. Keep slides 01–08 in order and address every black content label unless it is marked optional.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Member names and roles belong in the Slack submission post, not in the presentation.</a:t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b8213482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fb82134820_0_1:notes"/>
          <p:cNvSpPr/>
          <p:nvPr>
            <p:ph idx="2" type="sldImg"/>
          </p:nvPr>
        </p:nvSpPr>
        <p:spPr>
          <a:xfrm>
            <a:off x="1143220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WHO: identify the specific role, situation or population affected.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WHAT: describe the moment the problem occurs, not only the abstract issue.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IT MATTERS NOW: quantify time, money, risk or missed opportunity where possible.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CURRENT OPTIONS FALL SHORT: name the real alternatives and explain where they break down.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Label numbers VERIFIED, RESEARCH, CALCULATED or ILLUSTRATIVE.</a:t>
            </a:r>
            <a:endParaRPr/>
          </a:p>
        </p:txBody>
      </p:sp>
      <p:sp>
        <p:nvSpPr>
          <p:cNvPr id="117" name="Google Shape;117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5" name="Google Shape;14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WE OBSERVED: use a concrete moment, conversation, data point or experience.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IT REVEALED: explain the deeper problem beneath the obvious one.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IT UNLOCKS A SOLUTION: explain what now makes the proposed solution possible.</a:t>
            </a:r>
            <a:endParaRPr/>
          </a:p>
        </p:txBody>
      </p:sp>
      <p:sp>
        <p:nvSpPr>
          <p:cNvPr id="146" name="Google Shape;14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WHO IT IS FOR: who uses or benefits from the solution?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THE SOLUTION WORKS: show the experience from the initial need or input to the resulting outcome. Use a workflow, screen sequence, storyboard, annotated mockup or simple diagram. The number of steps is up to you.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CHANGES: what can the user or stakeholder now do, achieve or avoid that was not possible before?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Keep this slide non-technical. Technical architecture belongs on slide 07.</a:t>
            </a:r>
            <a:endParaRPr/>
          </a:p>
        </p:txBody>
      </p:sp>
      <p:sp>
        <p:nvSpPr>
          <p:cNvPr id="172" name="Google Shape;17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2" name="Google Shape;192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At least one impact number is required; the second and third are optional.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 each metric, explain what it measures and label it VERIFIED, RESEARCH, CALCULATED or ILLUSTRATIVE.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Show the inputs, formula or method, sample and conditions, sources, assumptions and projections.</a:t>
            </a:r>
            <a:endParaRPr/>
          </a:p>
        </p:txBody>
      </p:sp>
      <p:sp>
        <p:nvSpPr>
          <p:cNvPr id="193" name="Google Shape;193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" name="Google Shape;22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Lead with one specific differentiator, not three generic claims.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IT IS DIFFERENT: compare against the real alternatives people use today.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IT IS POSSIBLE—AND HARD TO COPY: explain the data, technical approach, workflow access, expertise, partnerships or another defensible advantage.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fair comparison table may replace the suggested layout.</a:t>
            </a:r>
            <a:endParaRPr/>
          </a:p>
        </p:txBody>
      </p:sp>
      <p:sp>
        <p:nvSpPr>
          <p:cNvPr id="222" name="Google Shape;222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1" name="Google Shape;241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diagram should be understandable to a non-specialist.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Cover relevant inputs, core components, data flow, models or logic, integrations, outputs, security and privacy, human review and scalability.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List only the languages, frameworks, models, APIs and infrastructure actually used.</a:t>
            </a:r>
            <a:endParaRPr/>
          </a:p>
        </p:txBody>
      </p:sp>
      <p:sp>
        <p:nvSpPr>
          <p:cNvPr id="242" name="Google Shape;242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0" name="Google Shape;26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 three horizons: near, medium and long term. Include a measurable milestone for each where possible.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Optionally name the one resource or relationship that would most accelerate the roadmap.</a:t>
            </a:r>
            <a:endParaRPr/>
          </a:p>
        </p:txBody>
      </p:sp>
      <p:sp>
        <p:nvSpPr>
          <p:cNvPr id="261" name="Google Shape;261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gif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gif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gif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gif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gif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gif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gif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gif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gif"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/>
          <p:nvPr/>
        </p:nvSpPr>
        <p:spPr>
          <a:xfrm>
            <a:off x="429768" y="393192"/>
            <a:ext cx="8275200" cy="4352400"/>
          </a:xfrm>
          <a:prstGeom prst="rect">
            <a:avLst/>
          </a:prstGeom>
          <a:solidFill>
            <a:srgbClr val="FFFFFF">
              <a:alpha val="8509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640080" y="585216"/>
            <a:ext cx="5394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707684"/>
                </a:solidFill>
                <a:latin typeface="Roboto Mono"/>
                <a:ea typeface="Roboto Mono"/>
                <a:cs typeface="Roboto Mono"/>
                <a:sym typeface="Roboto Mono"/>
              </a:rPr>
              <a:t>INSTRUCTIONS  /  INNOVATION CUP 2026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640080" y="841248"/>
            <a:ext cx="7498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rPr>
              <a:t>THIS IS A TEMPLATE. MODIFY TO YOUR LIKING</a:t>
            </a:r>
            <a:endParaRPr b="1" sz="1800">
              <a:solidFill>
                <a:srgbClr val="1C1E2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640080" y="1234440"/>
            <a:ext cx="7498079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707684"/>
                </a:solidFill>
                <a:latin typeface="Inter"/>
                <a:ea typeface="Inter"/>
                <a:cs typeface="Inter"/>
                <a:sym typeface="Inter"/>
              </a:rPr>
              <a:t>Detailed guidance is in the speaker notes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640080" y="1517904"/>
            <a:ext cx="7845552" cy="10972"/>
          </a:xfrm>
          <a:prstGeom prst="rect">
            <a:avLst/>
          </a:prstGeom>
          <a:solidFill>
            <a:srgbClr val="D3D6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429768" y="4846320"/>
            <a:ext cx="4663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30" u="none" cap="none" strike="noStrike">
                <a:solidFill>
                  <a:srgbClr val="9FABCA"/>
                </a:solidFill>
                <a:latin typeface="Roboto Mono"/>
                <a:ea typeface="Roboto Mono"/>
                <a:cs typeface="Roboto Mono"/>
                <a:sym typeface="Roboto Mono"/>
              </a:rPr>
              <a:t>SUBMISSION TEMPLATE  /  INNOVATION CUP 2026</a:t>
            </a:r>
            <a:endParaRPr/>
          </a:p>
        </p:txBody>
      </p:sp>
      <p:pic>
        <p:nvPicPr>
          <p:cNvPr descr="image.png" id="92" name="Google Shape;9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08392" y="4882896"/>
            <a:ext cx="1024128" cy="1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"/>
          <p:cNvSpPr txBox="1"/>
          <p:nvPr/>
        </p:nvSpPr>
        <p:spPr>
          <a:xfrm>
            <a:off x="8046720" y="100584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30" u="none" cap="none" strike="noStrike">
                <a:solidFill>
                  <a:srgbClr val="9FABCA"/>
                </a:solidFill>
                <a:latin typeface="Roboto Mono"/>
                <a:ea typeface="Roboto Mono"/>
                <a:cs typeface="Roboto Mono"/>
                <a:sym typeface="Roboto Mono"/>
              </a:rPr>
              <a:t>/ 00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640077" y="1819650"/>
            <a:ext cx="276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640080" y="3337560"/>
            <a:ext cx="47365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8499D7"/>
                </a:solidFill>
                <a:latin typeface="Roboto Mono"/>
                <a:ea typeface="Roboto Mono"/>
                <a:cs typeface="Roboto Mono"/>
                <a:sym typeface="Roboto Mono"/>
              </a:rPr>
              <a:t>Delete this slide before submitting.</a:t>
            </a:r>
            <a:endParaRPr/>
          </a:p>
        </p:txBody>
      </p:sp>
      <p:sp>
        <p:nvSpPr>
          <p:cNvPr id="96" name="Google Shape;96;p1"/>
          <p:cNvSpPr/>
          <p:nvPr/>
        </p:nvSpPr>
        <p:spPr>
          <a:xfrm>
            <a:off x="640075" y="1581904"/>
            <a:ext cx="2761500" cy="2469000"/>
          </a:xfrm>
          <a:prstGeom prst="rect">
            <a:avLst/>
          </a:prstGeom>
          <a:solidFill>
            <a:srgbClr val="1C1E23"/>
          </a:solidFill>
          <a:ln cap="flat" cmpd="sng" w="9525">
            <a:solidFill>
              <a:srgbClr val="1C1E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877819" y="1828793"/>
            <a:ext cx="2286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8499D7"/>
                </a:solidFill>
                <a:latin typeface="Roboto Mono"/>
                <a:ea typeface="Roboto Mono"/>
                <a:cs typeface="Roboto Mono"/>
                <a:sym typeface="Roboto Mono"/>
              </a:rPr>
              <a:t>NON-NEGOTIABLES</a:t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877819" y="2304281"/>
            <a:ext cx="18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8499D7"/>
                </a:solidFill>
                <a:latin typeface="Inter"/>
                <a:ea typeface="Inter"/>
                <a:cs typeface="Inter"/>
                <a:sym typeface="Inter"/>
              </a:rPr>
              <a:t>□</a:t>
            </a:r>
            <a:endParaRPr/>
          </a:p>
        </p:txBody>
      </p:sp>
      <p:sp>
        <p:nvSpPr>
          <p:cNvPr id="99" name="Google Shape;99;p1"/>
          <p:cNvSpPr txBox="1"/>
          <p:nvPr/>
        </p:nvSpPr>
        <p:spPr>
          <a:xfrm>
            <a:off x="1152139" y="2304281"/>
            <a:ext cx="1938600" cy="1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All required sections are addressed</a:t>
            </a:r>
            <a:endParaRPr/>
          </a:p>
        </p:txBody>
      </p:sp>
      <p:sp>
        <p:nvSpPr>
          <p:cNvPr id="100" name="Google Shape;100;p1"/>
          <p:cNvSpPr txBox="1"/>
          <p:nvPr/>
        </p:nvSpPr>
        <p:spPr>
          <a:xfrm>
            <a:off x="877819" y="2697473"/>
            <a:ext cx="18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8499D7"/>
                </a:solidFill>
                <a:latin typeface="Inter"/>
                <a:ea typeface="Inter"/>
                <a:cs typeface="Inter"/>
                <a:sym typeface="Inter"/>
              </a:rPr>
              <a:t>□</a:t>
            </a:r>
            <a:endParaRPr/>
          </a:p>
        </p:txBody>
      </p:sp>
      <p:sp>
        <p:nvSpPr>
          <p:cNvPr id="101" name="Google Shape;101;p1"/>
          <p:cNvSpPr txBox="1"/>
          <p:nvPr/>
        </p:nvSpPr>
        <p:spPr>
          <a:xfrm>
            <a:off x="1152139" y="2697473"/>
            <a:ext cx="19386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At least one impact number is supported</a:t>
            </a:r>
            <a:endParaRPr/>
          </a:p>
        </p:txBody>
      </p:sp>
      <p:sp>
        <p:nvSpPr>
          <p:cNvPr id="102" name="Google Shape;102;p1"/>
          <p:cNvSpPr txBox="1"/>
          <p:nvPr/>
        </p:nvSpPr>
        <p:spPr>
          <a:xfrm>
            <a:off x="877819" y="3090665"/>
            <a:ext cx="18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8499D7"/>
                </a:solidFill>
                <a:latin typeface="Inter"/>
                <a:ea typeface="Inter"/>
                <a:cs typeface="Inter"/>
                <a:sym typeface="Inter"/>
              </a:rPr>
              <a:t>□</a:t>
            </a:r>
            <a:endParaRPr/>
          </a:p>
        </p:txBody>
      </p:sp>
      <p:sp>
        <p:nvSpPr>
          <p:cNvPr id="103" name="Google Shape;103;p1"/>
          <p:cNvSpPr txBox="1"/>
          <p:nvPr/>
        </p:nvSpPr>
        <p:spPr>
          <a:xfrm>
            <a:off x="1152139" y="3090665"/>
            <a:ext cx="1938600" cy="1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Technical design includes a diagram</a:t>
            </a:r>
            <a:endParaRPr/>
          </a:p>
        </p:txBody>
      </p:sp>
      <p:sp>
        <p:nvSpPr>
          <p:cNvPr id="104" name="Google Shape;104;p1"/>
          <p:cNvSpPr txBox="1"/>
          <p:nvPr/>
        </p:nvSpPr>
        <p:spPr>
          <a:xfrm>
            <a:off x="3897103" y="1681050"/>
            <a:ext cx="3242100" cy="19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8499D7"/>
                </a:solidFill>
                <a:latin typeface="Roboto Mono"/>
                <a:ea typeface="Roboto Mono"/>
                <a:cs typeface="Roboto Mono"/>
                <a:sym typeface="Roboto Mono"/>
              </a:rPr>
              <a:t>SECTIONS (MUST FOLLOW THIS SECTION)</a:t>
            </a:r>
            <a:endParaRPr b="1" sz="900">
              <a:solidFill>
                <a:srgbClr val="8499D7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85750" lvl="0" marL="4572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499D7"/>
              </a:buClr>
              <a:buSzPts val="900"/>
              <a:buFont typeface="Roboto Mono"/>
              <a:buAutoNum type="arabicPeriod"/>
            </a:pPr>
            <a:r>
              <a:rPr b="1" lang="en-US" sz="900">
                <a:solidFill>
                  <a:srgbClr val="8499D7"/>
                </a:solidFill>
                <a:latin typeface="Roboto Mono"/>
                <a:ea typeface="Roboto Mono"/>
                <a:cs typeface="Roboto Mono"/>
                <a:sym typeface="Roboto Mono"/>
              </a:rPr>
              <a:t>Title</a:t>
            </a:r>
            <a:endParaRPr b="1" sz="900">
              <a:solidFill>
                <a:srgbClr val="8499D7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85750" lvl="0" marL="4572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499D7"/>
              </a:buClr>
              <a:buSzPts val="900"/>
              <a:buFont typeface="Roboto Mono"/>
              <a:buAutoNum type="arabicPeriod"/>
            </a:pPr>
            <a:r>
              <a:rPr b="1" lang="en-US" sz="900">
                <a:solidFill>
                  <a:srgbClr val="8499D7"/>
                </a:solidFill>
                <a:latin typeface="Roboto Mono"/>
                <a:ea typeface="Roboto Mono"/>
                <a:cs typeface="Roboto Mono"/>
                <a:sym typeface="Roboto Mono"/>
              </a:rPr>
              <a:t>Problem</a:t>
            </a:r>
            <a:endParaRPr b="1" sz="900">
              <a:solidFill>
                <a:srgbClr val="8499D7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85750" lvl="0" marL="4572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499D7"/>
              </a:buClr>
              <a:buSzPts val="900"/>
              <a:buFont typeface="Roboto Mono"/>
              <a:buAutoNum type="arabicPeriod"/>
            </a:pPr>
            <a:r>
              <a:rPr b="1" lang="en-US" sz="900">
                <a:solidFill>
                  <a:srgbClr val="8499D7"/>
                </a:solidFill>
                <a:latin typeface="Roboto Mono"/>
                <a:ea typeface="Roboto Mono"/>
                <a:cs typeface="Roboto Mono"/>
                <a:sym typeface="Roboto Mono"/>
              </a:rPr>
              <a:t>Inspiration</a:t>
            </a:r>
            <a:endParaRPr b="1" sz="900">
              <a:solidFill>
                <a:srgbClr val="8499D7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85750" lvl="0" marL="4572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499D7"/>
              </a:buClr>
              <a:buSzPts val="900"/>
              <a:buFont typeface="Roboto Mono"/>
              <a:buAutoNum type="arabicPeriod"/>
            </a:pPr>
            <a:r>
              <a:rPr b="1" lang="en-US" sz="900">
                <a:solidFill>
                  <a:srgbClr val="8499D7"/>
                </a:solidFill>
                <a:latin typeface="Roboto Mono"/>
                <a:ea typeface="Roboto Mono"/>
                <a:cs typeface="Roboto Mono"/>
                <a:sym typeface="Roboto Mono"/>
              </a:rPr>
              <a:t>Solution Overview</a:t>
            </a:r>
            <a:endParaRPr b="1" sz="900">
              <a:solidFill>
                <a:srgbClr val="8499D7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85750" lvl="0" marL="4572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499D7"/>
              </a:buClr>
              <a:buSzPts val="900"/>
              <a:buFont typeface="Roboto Mono"/>
              <a:buAutoNum type="arabicPeriod"/>
            </a:pPr>
            <a:r>
              <a:rPr b="1" lang="en-US" sz="900">
                <a:solidFill>
                  <a:srgbClr val="8499D7"/>
                </a:solidFill>
                <a:latin typeface="Roboto Mono"/>
                <a:ea typeface="Roboto Mono"/>
                <a:cs typeface="Roboto Mono"/>
                <a:sym typeface="Roboto Mono"/>
              </a:rPr>
              <a:t>Impact</a:t>
            </a:r>
            <a:endParaRPr b="1" sz="900">
              <a:solidFill>
                <a:srgbClr val="8499D7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85750" lvl="0" marL="4572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499D7"/>
              </a:buClr>
              <a:buSzPts val="900"/>
              <a:buFont typeface="Roboto Mono"/>
              <a:buAutoNum type="arabicPeriod"/>
            </a:pPr>
            <a:r>
              <a:rPr b="1" lang="en-US" sz="900">
                <a:solidFill>
                  <a:srgbClr val="8499D7"/>
                </a:solidFill>
                <a:latin typeface="Roboto Mono"/>
                <a:ea typeface="Roboto Mono"/>
                <a:cs typeface="Roboto Mono"/>
                <a:sym typeface="Roboto Mono"/>
              </a:rPr>
              <a:t>What makes it different?</a:t>
            </a:r>
            <a:endParaRPr b="1" sz="900">
              <a:solidFill>
                <a:srgbClr val="8499D7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85750" lvl="0" marL="4572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499D7"/>
              </a:buClr>
              <a:buSzPts val="900"/>
              <a:buFont typeface="Roboto Mono"/>
              <a:buAutoNum type="arabicPeriod"/>
            </a:pPr>
            <a:r>
              <a:rPr b="1" lang="en-US" sz="900">
                <a:solidFill>
                  <a:srgbClr val="8499D7"/>
                </a:solidFill>
                <a:latin typeface="Roboto Mono"/>
                <a:ea typeface="Roboto Mono"/>
                <a:cs typeface="Roboto Mono"/>
                <a:sym typeface="Roboto Mono"/>
              </a:rPr>
              <a:t>Technical Design</a:t>
            </a:r>
            <a:endParaRPr b="1" sz="900">
              <a:solidFill>
                <a:srgbClr val="8499D7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85750" lvl="0" marL="4572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499D7"/>
              </a:buClr>
              <a:buSzPts val="900"/>
              <a:buFont typeface="Roboto Mono"/>
              <a:buAutoNum type="arabicPeriod"/>
            </a:pPr>
            <a:r>
              <a:rPr b="1" lang="en-US" sz="900">
                <a:solidFill>
                  <a:srgbClr val="8499D7"/>
                </a:solidFill>
                <a:latin typeface="Roboto Mono"/>
                <a:ea typeface="Roboto Mono"/>
                <a:cs typeface="Roboto Mono"/>
                <a:sym typeface="Roboto Mono"/>
              </a:rPr>
              <a:t>Future Roadmap</a:t>
            </a:r>
            <a:br>
              <a:rPr b="1" lang="en-US" sz="900">
                <a:solidFill>
                  <a:srgbClr val="8499D7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b="1" sz="900">
              <a:solidFill>
                <a:srgbClr val="8499D7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8499D7"/>
                </a:solidFill>
                <a:latin typeface="Roboto Mono"/>
                <a:ea typeface="Roboto Mono"/>
                <a:cs typeface="Roboto Mono"/>
                <a:sym typeface="Roboto Mono"/>
              </a:rPr>
              <a:t>The text box and layout of each slide may be modified to your liking.</a:t>
            </a:r>
            <a:endParaRPr b="1" sz="900">
              <a:solidFill>
                <a:srgbClr val="8499D7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8499D7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ission-diagonal-motion.gif" id="109" name="Google Shape;109;g3fb82134820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g3fb82134820_0_1"/>
          <p:cNvSpPr txBox="1"/>
          <p:nvPr/>
        </p:nvSpPr>
        <p:spPr>
          <a:xfrm>
            <a:off x="534826" y="1508756"/>
            <a:ext cx="614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8499D7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b="1" lang="en-US" sz="2700">
                <a:solidFill>
                  <a:srgbClr val="8499D7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endParaRPr sz="2700"/>
          </a:p>
        </p:txBody>
      </p:sp>
      <p:sp>
        <p:nvSpPr>
          <p:cNvPr id="111" name="Google Shape;111;g3fb82134820_0_1"/>
          <p:cNvSpPr txBox="1"/>
          <p:nvPr/>
        </p:nvSpPr>
        <p:spPr>
          <a:xfrm>
            <a:off x="1160931" y="1508760"/>
            <a:ext cx="5280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[ PROJECT TITLE ]</a:t>
            </a:r>
            <a:endParaRPr sz="1100"/>
          </a:p>
        </p:txBody>
      </p:sp>
      <p:sp>
        <p:nvSpPr>
          <p:cNvPr id="112" name="Google Shape;112;g3fb82134820_0_1"/>
          <p:cNvSpPr txBox="1"/>
          <p:nvPr/>
        </p:nvSpPr>
        <p:spPr>
          <a:xfrm>
            <a:off x="1160936" y="2070362"/>
            <a:ext cx="3771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A6B1CD"/>
                </a:solidFill>
                <a:latin typeface="Inter"/>
                <a:ea typeface="Inter"/>
                <a:cs typeface="Inter"/>
                <a:sym typeface="Inter"/>
              </a:rPr>
              <a:t>SUBTITLE +</a:t>
            </a:r>
            <a:r>
              <a:rPr lang="en-US" sz="1500">
                <a:solidFill>
                  <a:srgbClr val="A6B1CD"/>
                </a:solidFill>
                <a:latin typeface="Inter"/>
                <a:ea typeface="Inter"/>
                <a:cs typeface="Inter"/>
                <a:sym typeface="Inter"/>
              </a:rPr>
              <a:t> ONE-LINE PITCH</a:t>
            </a:r>
            <a:endParaRPr sz="1500"/>
          </a:p>
        </p:txBody>
      </p:sp>
      <p:sp>
        <p:nvSpPr>
          <p:cNvPr id="113" name="Google Shape;113;g3fb82134820_0_1"/>
          <p:cNvSpPr txBox="1"/>
          <p:nvPr/>
        </p:nvSpPr>
        <p:spPr>
          <a:xfrm>
            <a:off x="1244302" y="2506350"/>
            <a:ext cx="27018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8499D7"/>
                </a:solidFill>
                <a:latin typeface="Roboto Mono"/>
                <a:ea typeface="Roboto Mono"/>
                <a:cs typeface="Roboto Mono"/>
                <a:sym typeface="Roboto Mono"/>
              </a:rPr>
              <a:t>[ Team name + Member ] [ Date ]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gif" id="119" name="Google Shape;11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3"/>
          <p:cNvSpPr/>
          <p:nvPr/>
        </p:nvSpPr>
        <p:spPr>
          <a:xfrm>
            <a:off x="429768" y="393192"/>
            <a:ext cx="8275320" cy="4352544"/>
          </a:xfrm>
          <a:prstGeom prst="rect">
            <a:avLst/>
          </a:prstGeom>
          <a:solidFill>
            <a:srgbClr val="FFFFFF">
              <a:alpha val="8509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640080" y="585216"/>
            <a:ext cx="5394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707684"/>
                </a:solidFill>
                <a:latin typeface="Roboto Mono"/>
                <a:ea typeface="Roboto Mono"/>
                <a:cs typeface="Roboto Mono"/>
                <a:sym typeface="Roboto Mono"/>
              </a:rPr>
              <a:t>02  PROBLEM &amp; URGENCY  /  INNOVATION CUP 2026</a:t>
            </a:r>
            <a:endParaRPr/>
          </a:p>
        </p:txBody>
      </p:sp>
      <p:sp>
        <p:nvSpPr>
          <p:cNvPr id="122" name="Google Shape;122;p3"/>
          <p:cNvSpPr txBox="1"/>
          <p:nvPr/>
        </p:nvSpPr>
        <p:spPr>
          <a:xfrm>
            <a:off x="640080" y="841248"/>
            <a:ext cx="7498079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rPr>
              <a:t>[ The problem in one sentence ]</a:t>
            </a:r>
            <a:endParaRPr/>
          </a:p>
        </p:txBody>
      </p:sp>
      <p:sp>
        <p:nvSpPr>
          <p:cNvPr id="123" name="Google Shape;123;p3"/>
          <p:cNvSpPr txBox="1"/>
          <p:nvPr/>
        </p:nvSpPr>
        <p:spPr>
          <a:xfrm>
            <a:off x="640080" y="1234440"/>
            <a:ext cx="7498079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707684"/>
                </a:solidFill>
                <a:latin typeface="Inter"/>
                <a:ea typeface="Inter"/>
                <a:cs typeface="Inter"/>
                <a:sym typeface="Inter"/>
              </a:rPr>
              <a:t>Problem + Insight: maximum 200 words across slides 02–03</a:t>
            </a:r>
            <a:endParaRPr/>
          </a:p>
        </p:txBody>
      </p:sp>
      <p:sp>
        <p:nvSpPr>
          <p:cNvPr id="124" name="Google Shape;124;p3"/>
          <p:cNvSpPr/>
          <p:nvPr/>
        </p:nvSpPr>
        <p:spPr>
          <a:xfrm>
            <a:off x="640080" y="1517904"/>
            <a:ext cx="7845552" cy="10972"/>
          </a:xfrm>
          <a:prstGeom prst="rect">
            <a:avLst/>
          </a:prstGeom>
          <a:solidFill>
            <a:srgbClr val="D3D6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429768" y="4846320"/>
            <a:ext cx="4663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30" u="none" cap="none" strike="noStrike">
                <a:solidFill>
                  <a:srgbClr val="9FABCA"/>
                </a:solidFill>
                <a:latin typeface="Roboto Mono"/>
                <a:ea typeface="Roboto Mono"/>
                <a:cs typeface="Roboto Mono"/>
                <a:sym typeface="Roboto Mono"/>
              </a:rPr>
              <a:t>SUBMISSION TEMPLATE  /  INNOVATION CUP 2026</a:t>
            </a:r>
            <a:endParaRPr/>
          </a:p>
        </p:txBody>
      </p:sp>
      <p:pic>
        <p:nvPicPr>
          <p:cNvPr descr="image.png" id="126" name="Google Shape;12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08392" y="4882896"/>
            <a:ext cx="1024128" cy="1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3"/>
          <p:cNvSpPr txBox="1"/>
          <p:nvPr/>
        </p:nvSpPr>
        <p:spPr>
          <a:xfrm>
            <a:off x="8046720" y="100584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30" u="none" cap="none" strike="noStrike">
                <a:solidFill>
                  <a:srgbClr val="9FABCA"/>
                </a:solidFill>
                <a:latin typeface="Roboto Mono"/>
                <a:ea typeface="Roboto Mono"/>
                <a:cs typeface="Roboto Mono"/>
                <a:sym typeface="Roboto Mono"/>
              </a:rPr>
              <a:t>/ 02</a:t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640080" y="1819656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C1E23"/>
                </a:solidFill>
                <a:latin typeface="Roboto Mono"/>
                <a:ea typeface="Roboto Mono"/>
                <a:cs typeface="Roboto Mono"/>
                <a:sym typeface="Roboto Mono"/>
              </a:rPr>
              <a:t>WHO</a:t>
            </a:r>
            <a:endParaRPr/>
          </a:p>
        </p:txBody>
      </p:sp>
      <p:sp>
        <p:nvSpPr>
          <p:cNvPr id="129" name="Google Shape;129;p3"/>
          <p:cNvSpPr txBox="1"/>
          <p:nvPr/>
        </p:nvSpPr>
        <p:spPr>
          <a:xfrm>
            <a:off x="2615184" y="1819656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60" u="none" cap="none" strike="noStrike">
                <a:solidFill>
                  <a:srgbClr val="707684"/>
                </a:solidFill>
                <a:latin typeface="Inter"/>
                <a:ea typeface="Inter"/>
                <a:cs typeface="Inter"/>
                <a:sym typeface="Inter"/>
              </a:rPr>
              <a:t>[ Add your content ]</a:t>
            </a:r>
            <a:endParaRPr/>
          </a:p>
        </p:txBody>
      </p:sp>
      <p:sp>
        <p:nvSpPr>
          <p:cNvPr id="130" name="Google Shape;130;p3"/>
          <p:cNvSpPr/>
          <p:nvPr/>
        </p:nvSpPr>
        <p:spPr>
          <a:xfrm>
            <a:off x="640080" y="2231136"/>
            <a:ext cx="5001768" cy="5486"/>
          </a:xfrm>
          <a:prstGeom prst="rect">
            <a:avLst/>
          </a:prstGeom>
          <a:solidFill>
            <a:srgbClr val="D3D6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 txBox="1"/>
          <p:nvPr/>
        </p:nvSpPr>
        <p:spPr>
          <a:xfrm>
            <a:off x="640080" y="2377440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C1E23"/>
                </a:solidFill>
                <a:latin typeface="Roboto Mono"/>
                <a:ea typeface="Roboto Mono"/>
                <a:cs typeface="Roboto Mono"/>
                <a:sym typeface="Roboto Mono"/>
              </a:rPr>
              <a:t>WHAT</a:t>
            </a:r>
            <a:endParaRPr/>
          </a:p>
        </p:txBody>
      </p:sp>
      <p:sp>
        <p:nvSpPr>
          <p:cNvPr id="132" name="Google Shape;132;p3"/>
          <p:cNvSpPr txBox="1"/>
          <p:nvPr/>
        </p:nvSpPr>
        <p:spPr>
          <a:xfrm>
            <a:off x="2615184" y="2377440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60" u="none" cap="none" strike="noStrike">
                <a:solidFill>
                  <a:srgbClr val="707684"/>
                </a:solidFill>
                <a:latin typeface="Inter"/>
                <a:ea typeface="Inter"/>
                <a:cs typeface="Inter"/>
                <a:sym typeface="Inter"/>
              </a:rPr>
              <a:t>[ Add your content ]</a:t>
            </a:r>
            <a:endParaRPr/>
          </a:p>
        </p:txBody>
      </p:sp>
      <p:sp>
        <p:nvSpPr>
          <p:cNvPr id="133" name="Google Shape;133;p3"/>
          <p:cNvSpPr/>
          <p:nvPr/>
        </p:nvSpPr>
        <p:spPr>
          <a:xfrm>
            <a:off x="640080" y="2788920"/>
            <a:ext cx="5001768" cy="5486"/>
          </a:xfrm>
          <a:prstGeom prst="rect">
            <a:avLst/>
          </a:prstGeom>
          <a:solidFill>
            <a:srgbClr val="D3D6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 txBox="1"/>
          <p:nvPr/>
        </p:nvSpPr>
        <p:spPr>
          <a:xfrm>
            <a:off x="640080" y="2935224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C1E23"/>
                </a:solidFill>
                <a:latin typeface="Roboto Mono"/>
                <a:ea typeface="Roboto Mono"/>
                <a:cs typeface="Roboto Mono"/>
                <a:sym typeface="Roboto Mono"/>
              </a:rPr>
              <a:t>WHY IT MATTERS NOW</a:t>
            </a:r>
            <a:endParaRPr/>
          </a:p>
        </p:txBody>
      </p:sp>
      <p:sp>
        <p:nvSpPr>
          <p:cNvPr id="135" name="Google Shape;135;p3"/>
          <p:cNvSpPr txBox="1"/>
          <p:nvPr/>
        </p:nvSpPr>
        <p:spPr>
          <a:xfrm>
            <a:off x="2615184" y="2935224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60" u="none" cap="none" strike="noStrike">
                <a:solidFill>
                  <a:srgbClr val="707684"/>
                </a:solidFill>
                <a:latin typeface="Inter"/>
                <a:ea typeface="Inter"/>
                <a:cs typeface="Inter"/>
                <a:sym typeface="Inter"/>
              </a:rPr>
              <a:t>[ Add your content ]</a:t>
            </a:r>
            <a:endParaRPr/>
          </a:p>
        </p:txBody>
      </p:sp>
      <p:sp>
        <p:nvSpPr>
          <p:cNvPr id="136" name="Google Shape;136;p3"/>
          <p:cNvSpPr/>
          <p:nvPr/>
        </p:nvSpPr>
        <p:spPr>
          <a:xfrm>
            <a:off x="640080" y="3346704"/>
            <a:ext cx="5001768" cy="5486"/>
          </a:xfrm>
          <a:prstGeom prst="rect">
            <a:avLst/>
          </a:prstGeom>
          <a:solidFill>
            <a:srgbClr val="D3D6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640080" y="3493008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C1E23"/>
                </a:solidFill>
                <a:latin typeface="Roboto Mono"/>
                <a:ea typeface="Roboto Mono"/>
                <a:cs typeface="Roboto Mono"/>
                <a:sym typeface="Roboto Mono"/>
              </a:rPr>
              <a:t>WHY CURRENT OPTIONS FALL SHORT</a:t>
            </a:r>
            <a:endParaRPr/>
          </a:p>
        </p:txBody>
      </p:sp>
      <p:sp>
        <p:nvSpPr>
          <p:cNvPr id="138" name="Google Shape;138;p3"/>
          <p:cNvSpPr txBox="1"/>
          <p:nvPr/>
        </p:nvSpPr>
        <p:spPr>
          <a:xfrm>
            <a:off x="2615184" y="3493008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60" u="none" cap="none" strike="noStrike">
                <a:solidFill>
                  <a:srgbClr val="707684"/>
                </a:solidFill>
                <a:latin typeface="Inter"/>
                <a:ea typeface="Inter"/>
                <a:cs typeface="Inter"/>
                <a:sym typeface="Inter"/>
              </a:rPr>
              <a:t>[ Add your content ]</a:t>
            </a:r>
            <a:endParaRPr/>
          </a:p>
        </p:txBody>
      </p:sp>
      <p:sp>
        <p:nvSpPr>
          <p:cNvPr id="139" name="Google Shape;139;p3"/>
          <p:cNvSpPr/>
          <p:nvPr/>
        </p:nvSpPr>
        <p:spPr>
          <a:xfrm>
            <a:off x="640080" y="3904487"/>
            <a:ext cx="5001768" cy="5486"/>
          </a:xfrm>
          <a:prstGeom prst="rect">
            <a:avLst/>
          </a:prstGeom>
          <a:solidFill>
            <a:srgbClr val="D3D6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5961888" y="1792224"/>
            <a:ext cx="2514600" cy="2468880"/>
          </a:xfrm>
          <a:prstGeom prst="rect">
            <a:avLst/>
          </a:prstGeom>
          <a:solidFill>
            <a:srgbClr val="F2F3F5"/>
          </a:solidFill>
          <a:ln cap="flat" cmpd="sng" w="9525">
            <a:solidFill>
              <a:srgbClr val="D3D6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 txBox="1"/>
          <p:nvPr/>
        </p:nvSpPr>
        <p:spPr>
          <a:xfrm>
            <a:off x="6163056" y="1975104"/>
            <a:ext cx="21122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C1E23"/>
                </a:solidFill>
                <a:latin typeface="Roboto Mono"/>
                <a:ea typeface="Roboto Mono"/>
                <a:cs typeface="Roboto Mono"/>
                <a:sym typeface="Roboto Mono"/>
              </a:rPr>
              <a:t>VISUAL  ·  OPTIONAL</a:t>
            </a:r>
            <a:endParaRPr/>
          </a:p>
        </p:txBody>
      </p:sp>
      <p:sp>
        <p:nvSpPr>
          <p:cNvPr id="142" name="Google Shape;142;p3"/>
          <p:cNvSpPr txBox="1"/>
          <p:nvPr/>
        </p:nvSpPr>
        <p:spPr>
          <a:xfrm>
            <a:off x="6163056" y="2304288"/>
            <a:ext cx="2112264" cy="1810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30" u="none" cap="none" strike="noStrike">
                <a:solidFill>
                  <a:srgbClr val="707684"/>
                </a:solidFill>
                <a:latin typeface="Inter"/>
                <a:ea typeface="Inter"/>
                <a:cs typeface="Inter"/>
                <a:sym typeface="Inter"/>
              </a:rPr>
              <a:t>Use this space only if a visual strengthens the argument.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gif" id="148" name="Google Shape;14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4"/>
          <p:cNvSpPr/>
          <p:nvPr/>
        </p:nvSpPr>
        <p:spPr>
          <a:xfrm>
            <a:off x="429768" y="393192"/>
            <a:ext cx="8275320" cy="4352544"/>
          </a:xfrm>
          <a:prstGeom prst="rect">
            <a:avLst/>
          </a:prstGeom>
          <a:solidFill>
            <a:srgbClr val="FFFFFF">
              <a:alpha val="8509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640080" y="585216"/>
            <a:ext cx="5394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707684"/>
                </a:solidFill>
                <a:latin typeface="Roboto Mono"/>
                <a:ea typeface="Roboto Mono"/>
                <a:cs typeface="Roboto Mono"/>
                <a:sym typeface="Roboto Mono"/>
              </a:rPr>
              <a:t>03  INSPIRATION / KEY INSIGHT  /  INNOVATION CUP 2026</a:t>
            </a:r>
            <a:endParaRPr/>
          </a:p>
        </p:txBody>
      </p:sp>
      <p:sp>
        <p:nvSpPr>
          <p:cNvPr id="151" name="Google Shape;151;p4"/>
          <p:cNvSpPr txBox="1"/>
          <p:nvPr/>
        </p:nvSpPr>
        <p:spPr>
          <a:xfrm>
            <a:off x="640080" y="841248"/>
            <a:ext cx="7498079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rPr>
              <a:t>[ The insight in one memorable sentence ]</a:t>
            </a:r>
            <a:endParaRPr/>
          </a:p>
        </p:txBody>
      </p:sp>
      <p:sp>
        <p:nvSpPr>
          <p:cNvPr id="152" name="Google Shape;152;p4"/>
          <p:cNvSpPr txBox="1"/>
          <p:nvPr/>
        </p:nvSpPr>
        <p:spPr>
          <a:xfrm>
            <a:off x="640080" y="1234440"/>
            <a:ext cx="7498079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707684"/>
                </a:solidFill>
                <a:latin typeface="Inter"/>
                <a:ea typeface="Inter"/>
                <a:cs typeface="Inter"/>
                <a:sym typeface="Inter"/>
              </a:rPr>
              <a:t>Show what your team noticed that others may have overlooked</a:t>
            </a:r>
            <a:endParaRPr/>
          </a:p>
        </p:txBody>
      </p:sp>
      <p:sp>
        <p:nvSpPr>
          <p:cNvPr id="153" name="Google Shape;153;p4"/>
          <p:cNvSpPr/>
          <p:nvPr/>
        </p:nvSpPr>
        <p:spPr>
          <a:xfrm>
            <a:off x="640080" y="1517904"/>
            <a:ext cx="7845552" cy="10972"/>
          </a:xfrm>
          <a:prstGeom prst="rect">
            <a:avLst/>
          </a:prstGeom>
          <a:solidFill>
            <a:srgbClr val="D3D6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 txBox="1"/>
          <p:nvPr/>
        </p:nvSpPr>
        <p:spPr>
          <a:xfrm>
            <a:off x="429768" y="4846320"/>
            <a:ext cx="4663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30" u="none" cap="none" strike="noStrike">
                <a:solidFill>
                  <a:srgbClr val="9FABCA"/>
                </a:solidFill>
                <a:latin typeface="Roboto Mono"/>
                <a:ea typeface="Roboto Mono"/>
                <a:cs typeface="Roboto Mono"/>
                <a:sym typeface="Roboto Mono"/>
              </a:rPr>
              <a:t>SUBMISSION TEMPLATE  /  INNOVATION CUP 2026</a:t>
            </a:r>
            <a:endParaRPr/>
          </a:p>
        </p:txBody>
      </p:sp>
      <p:pic>
        <p:nvPicPr>
          <p:cNvPr descr="image.png" id="155" name="Google Shape;15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08392" y="4882896"/>
            <a:ext cx="1024128" cy="1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4"/>
          <p:cNvSpPr txBox="1"/>
          <p:nvPr/>
        </p:nvSpPr>
        <p:spPr>
          <a:xfrm>
            <a:off x="8046720" y="100584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30" u="none" cap="none" strike="noStrike">
                <a:solidFill>
                  <a:srgbClr val="9FABCA"/>
                </a:solidFill>
                <a:latin typeface="Roboto Mono"/>
                <a:ea typeface="Roboto Mono"/>
                <a:cs typeface="Roboto Mono"/>
                <a:sym typeface="Roboto Mono"/>
              </a:rPr>
              <a:t>/ 03</a:t>
            </a:r>
            <a:endParaRPr/>
          </a:p>
        </p:txBody>
      </p:sp>
      <p:sp>
        <p:nvSpPr>
          <p:cNvPr id="157" name="Google Shape;157;p4"/>
          <p:cNvSpPr txBox="1"/>
          <p:nvPr/>
        </p:nvSpPr>
        <p:spPr>
          <a:xfrm>
            <a:off x="640080" y="1865376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C1E23"/>
                </a:solidFill>
                <a:latin typeface="Roboto Mono"/>
                <a:ea typeface="Roboto Mono"/>
                <a:cs typeface="Roboto Mono"/>
                <a:sym typeface="Roboto Mono"/>
              </a:rPr>
              <a:t>WHAT WE OBSERVED</a:t>
            </a:r>
            <a:endParaRPr/>
          </a:p>
        </p:txBody>
      </p:sp>
      <p:sp>
        <p:nvSpPr>
          <p:cNvPr id="158" name="Google Shape;158;p4"/>
          <p:cNvSpPr txBox="1"/>
          <p:nvPr/>
        </p:nvSpPr>
        <p:spPr>
          <a:xfrm>
            <a:off x="2615184" y="1865376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60" u="none" cap="none" strike="noStrike">
                <a:solidFill>
                  <a:srgbClr val="707684"/>
                </a:solidFill>
                <a:latin typeface="Inter"/>
                <a:ea typeface="Inter"/>
                <a:cs typeface="Inter"/>
                <a:sym typeface="Inter"/>
              </a:rPr>
              <a:t>[ Add your content ]</a:t>
            </a:r>
            <a:endParaRPr/>
          </a:p>
        </p:txBody>
      </p:sp>
      <p:sp>
        <p:nvSpPr>
          <p:cNvPr id="159" name="Google Shape;159;p4"/>
          <p:cNvSpPr/>
          <p:nvPr/>
        </p:nvSpPr>
        <p:spPr>
          <a:xfrm>
            <a:off x="640080" y="2395728"/>
            <a:ext cx="5001768" cy="5486"/>
          </a:xfrm>
          <a:prstGeom prst="rect">
            <a:avLst/>
          </a:prstGeom>
          <a:solidFill>
            <a:srgbClr val="D3D6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 txBox="1"/>
          <p:nvPr/>
        </p:nvSpPr>
        <p:spPr>
          <a:xfrm>
            <a:off x="640080" y="2587752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C1E23"/>
                </a:solidFill>
                <a:latin typeface="Roboto Mono"/>
                <a:ea typeface="Roboto Mono"/>
                <a:cs typeface="Roboto Mono"/>
                <a:sym typeface="Roboto Mono"/>
              </a:rPr>
              <a:t>WHAT IT REVEALED</a:t>
            </a:r>
            <a:endParaRPr/>
          </a:p>
        </p:txBody>
      </p:sp>
      <p:sp>
        <p:nvSpPr>
          <p:cNvPr id="161" name="Google Shape;161;p4"/>
          <p:cNvSpPr txBox="1"/>
          <p:nvPr/>
        </p:nvSpPr>
        <p:spPr>
          <a:xfrm>
            <a:off x="2615184" y="2587752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60" u="none" cap="none" strike="noStrike">
                <a:solidFill>
                  <a:srgbClr val="707684"/>
                </a:solidFill>
                <a:latin typeface="Inter"/>
                <a:ea typeface="Inter"/>
                <a:cs typeface="Inter"/>
                <a:sym typeface="Inter"/>
              </a:rPr>
              <a:t>[ Add your content ]</a:t>
            </a:r>
            <a:endParaRPr/>
          </a:p>
        </p:txBody>
      </p:sp>
      <p:sp>
        <p:nvSpPr>
          <p:cNvPr id="162" name="Google Shape;162;p4"/>
          <p:cNvSpPr/>
          <p:nvPr/>
        </p:nvSpPr>
        <p:spPr>
          <a:xfrm>
            <a:off x="640080" y="3118104"/>
            <a:ext cx="5001768" cy="5486"/>
          </a:xfrm>
          <a:prstGeom prst="rect">
            <a:avLst/>
          </a:prstGeom>
          <a:solidFill>
            <a:srgbClr val="D3D6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 txBox="1"/>
          <p:nvPr/>
        </p:nvSpPr>
        <p:spPr>
          <a:xfrm>
            <a:off x="640080" y="3310128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C1E23"/>
                </a:solidFill>
                <a:latin typeface="Roboto Mono"/>
                <a:ea typeface="Roboto Mono"/>
                <a:cs typeface="Roboto Mono"/>
                <a:sym typeface="Roboto Mono"/>
              </a:rPr>
              <a:t>WHY IT UNLOCKS A SOLUTION</a:t>
            </a:r>
            <a:endParaRPr/>
          </a:p>
        </p:txBody>
      </p:sp>
      <p:sp>
        <p:nvSpPr>
          <p:cNvPr id="164" name="Google Shape;164;p4"/>
          <p:cNvSpPr txBox="1"/>
          <p:nvPr/>
        </p:nvSpPr>
        <p:spPr>
          <a:xfrm>
            <a:off x="2615184" y="3310128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60" u="none" cap="none" strike="noStrike">
                <a:solidFill>
                  <a:srgbClr val="707684"/>
                </a:solidFill>
                <a:latin typeface="Inter"/>
                <a:ea typeface="Inter"/>
                <a:cs typeface="Inter"/>
                <a:sym typeface="Inter"/>
              </a:rPr>
              <a:t>[ Add your content ]</a:t>
            </a:r>
            <a:endParaRPr/>
          </a:p>
        </p:txBody>
      </p:sp>
      <p:sp>
        <p:nvSpPr>
          <p:cNvPr id="165" name="Google Shape;165;p4"/>
          <p:cNvSpPr/>
          <p:nvPr/>
        </p:nvSpPr>
        <p:spPr>
          <a:xfrm>
            <a:off x="640080" y="3840480"/>
            <a:ext cx="5001768" cy="5486"/>
          </a:xfrm>
          <a:prstGeom prst="rect">
            <a:avLst/>
          </a:prstGeom>
          <a:solidFill>
            <a:srgbClr val="D3D6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5961888" y="1792224"/>
            <a:ext cx="2514600" cy="2468880"/>
          </a:xfrm>
          <a:prstGeom prst="rect">
            <a:avLst/>
          </a:prstGeom>
          <a:solidFill>
            <a:srgbClr val="F2F3F5"/>
          </a:solidFill>
          <a:ln cap="flat" cmpd="sng" w="9525">
            <a:solidFill>
              <a:srgbClr val="D3D6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 txBox="1"/>
          <p:nvPr/>
        </p:nvSpPr>
        <p:spPr>
          <a:xfrm>
            <a:off x="6163056" y="1975104"/>
            <a:ext cx="21122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C1E23"/>
                </a:solidFill>
                <a:latin typeface="Roboto Mono"/>
                <a:ea typeface="Roboto Mono"/>
                <a:cs typeface="Roboto Mono"/>
                <a:sym typeface="Roboto Mono"/>
              </a:rPr>
              <a:t>VISUAL  ·  OPTIONAL</a:t>
            </a:r>
            <a:endParaRPr/>
          </a:p>
        </p:txBody>
      </p:sp>
      <p:sp>
        <p:nvSpPr>
          <p:cNvPr id="168" name="Google Shape;168;p4"/>
          <p:cNvSpPr txBox="1"/>
          <p:nvPr/>
        </p:nvSpPr>
        <p:spPr>
          <a:xfrm>
            <a:off x="6163056" y="2304288"/>
            <a:ext cx="2112264" cy="1810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30" u="none" cap="none" strike="noStrike">
                <a:solidFill>
                  <a:srgbClr val="707684"/>
                </a:solidFill>
                <a:latin typeface="Inter"/>
                <a:ea typeface="Inter"/>
                <a:cs typeface="Inter"/>
                <a:sym typeface="Inter"/>
              </a:rPr>
              <a:t>Use an image, quote or diagram only if it sharpens the insight.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gif" id="174" name="Google Shape;17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5"/>
          <p:cNvSpPr/>
          <p:nvPr/>
        </p:nvSpPr>
        <p:spPr>
          <a:xfrm>
            <a:off x="429768" y="393192"/>
            <a:ext cx="8275320" cy="4352544"/>
          </a:xfrm>
          <a:prstGeom prst="rect">
            <a:avLst/>
          </a:prstGeom>
          <a:solidFill>
            <a:srgbClr val="FFFFFF">
              <a:alpha val="8509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 txBox="1"/>
          <p:nvPr/>
        </p:nvSpPr>
        <p:spPr>
          <a:xfrm>
            <a:off x="640080" y="585216"/>
            <a:ext cx="5394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707684"/>
                </a:solidFill>
                <a:latin typeface="Roboto Mono"/>
                <a:ea typeface="Roboto Mono"/>
                <a:cs typeface="Roboto Mono"/>
                <a:sym typeface="Roboto Mono"/>
              </a:rPr>
              <a:t>04  SOLUTION OVERVIEW  /  INNOVATION CUP 2026</a:t>
            </a:r>
            <a:endParaRPr/>
          </a:p>
        </p:txBody>
      </p:sp>
      <p:sp>
        <p:nvSpPr>
          <p:cNvPr id="177" name="Google Shape;177;p5"/>
          <p:cNvSpPr txBox="1"/>
          <p:nvPr/>
        </p:nvSpPr>
        <p:spPr>
          <a:xfrm>
            <a:off x="640080" y="841248"/>
            <a:ext cx="7498079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rPr>
              <a:t>[ What it is—in one sentence ]</a:t>
            </a:r>
            <a:endParaRPr/>
          </a:p>
        </p:txBody>
      </p:sp>
      <p:sp>
        <p:nvSpPr>
          <p:cNvPr id="178" name="Google Shape;178;p5"/>
          <p:cNvSpPr txBox="1"/>
          <p:nvPr/>
        </p:nvSpPr>
        <p:spPr>
          <a:xfrm>
            <a:off x="640080" y="1234440"/>
            <a:ext cx="7498079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707684"/>
                </a:solidFill>
                <a:latin typeface="Inter"/>
                <a:ea typeface="Inter"/>
                <a:cs typeface="Inter"/>
                <a:sym typeface="Inter"/>
              </a:rPr>
              <a:t>Explain this from the user or stakeholder perspective</a:t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640080" y="1517904"/>
            <a:ext cx="7845552" cy="10972"/>
          </a:xfrm>
          <a:prstGeom prst="rect">
            <a:avLst/>
          </a:prstGeom>
          <a:solidFill>
            <a:srgbClr val="D3D6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 txBox="1"/>
          <p:nvPr/>
        </p:nvSpPr>
        <p:spPr>
          <a:xfrm>
            <a:off x="429768" y="4846320"/>
            <a:ext cx="4663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30" u="none" cap="none" strike="noStrike">
                <a:solidFill>
                  <a:srgbClr val="9FABCA"/>
                </a:solidFill>
                <a:latin typeface="Roboto Mono"/>
                <a:ea typeface="Roboto Mono"/>
                <a:cs typeface="Roboto Mono"/>
                <a:sym typeface="Roboto Mono"/>
              </a:rPr>
              <a:t>SUBMISSION TEMPLATE  /  INNOVATION CUP 2026</a:t>
            </a:r>
            <a:endParaRPr/>
          </a:p>
        </p:txBody>
      </p:sp>
      <p:pic>
        <p:nvPicPr>
          <p:cNvPr descr="image.png" id="181" name="Google Shape;18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08392" y="4882896"/>
            <a:ext cx="1024128" cy="1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5"/>
          <p:cNvSpPr txBox="1"/>
          <p:nvPr/>
        </p:nvSpPr>
        <p:spPr>
          <a:xfrm>
            <a:off x="8046720" y="100584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30" u="none" cap="none" strike="noStrike">
                <a:solidFill>
                  <a:srgbClr val="9FABCA"/>
                </a:solidFill>
                <a:latin typeface="Roboto Mono"/>
                <a:ea typeface="Roboto Mono"/>
                <a:cs typeface="Roboto Mono"/>
                <a:sym typeface="Roboto Mono"/>
              </a:rPr>
              <a:t>/ 04</a:t>
            </a:r>
            <a:endParaRPr/>
          </a:p>
        </p:txBody>
      </p:sp>
      <p:sp>
        <p:nvSpPr>
          <p:cNvPr id="183" name="Google Shape;183;p5"/>
          <p:cNvSpPr txBox="1"/>
          <p:nvPr/>
        </p:nvSpPr>
        <p:spPr>
          <a:xfrm>
            <a:off x="640080" y="1773936"/>
            <a:ext cx="1325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C1E23"/>
                </a:solidFill>
                <a:latin typeface="Roboto Mono"/>
                <a:ea typeface="Roboto Mono"/>
                <a:cs typeface="Roboto Mono"/>
                <a:sym typeface="Roboto Mono"/>
              </a:rPr>
              <a:t>WHO IT IS FOR</a:t>
            </a:r>
            <a:endParaRPr/>
          </a:p>
        </p:txBody>
      </p:sp>
      <p:sp>
        <p:nvSpPr>
          <p:cNvPr id="184" name="Google Shape;184;p5"/>
          <p:cNvSpPr txBox="1"/>
          <p:nvPr/>
        </p:nvSpPr>
        <p:spPr>
          <a:xfrm>
            <a:off x="1965960" y="1764792"/>
            <a:ext cx="65105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60" u="none" cap="none" strike="noStrike">
                <a:solidFill>
                  <a:srgbClr val="707684"/>
                </a:solidFill>
                <a:latin typeface="Inter"/>
                <a:ea typeface="Inter"/>
                <a:cs typeface="Inter"/>
                <a:sym typeface="Inter"/>
              </a:rPr>
              <a:t>[ Add your content ]</a:t>
            </a:r>
            <a:endParaRPr/>
          </a:p>
        </p:txBody>
      </p:sp>
      <p:sp>
        <p:nvSpPr>
          <p:cNvPr id="185" name="Google Shape;185;p5"/>
          <p:cNvSpPr/>
          <p:nvPr/>
        </p:nvSpPr>
        <p:spPr>
          <a:xfrm>
            <a:off x="640080" y="2139696"/>
            <a:ext cx="7845552" cy="1572768"/>
          </a:xfrm>
          <a:prstGeom prst="rect">
            <a:avLst/>
          </a:prstGeom>
          <a:solidFill>
            <a:srgbClr val="F2F3F5"/>
          </a:solidFill>
          <a:ln cap="flat" cmpd="sng" w="9525">
            <a:solidFill>
              <a:srgbClr val="D3D6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 txBox="1"/>
          <p:nvPr/>
        </p:nvSpPr>
        <p:spPr>
          <a:xfrm>
            <a:off x="841248" y="2322576"/>
            <a:ext cx="74432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C1E23"/>
                </a:solidFill>
                <a:latin typeface="Roboto Mono"/>
                <a:ea typeface="Roboto Mono"/>
                <a:cs typeface="Roboto Mono"/>
                <a:sym typeface="Roboto Mono"/>
              </a:rPr>
              <a:t>HOW THE SOLUTION WORKS  ·  VISUAL REQUIRED</a:t>
            </a:r>
            <a:endParaRPr/>
          </a:p>
        </p:txBody>
      </p:sp>
      <p:sp>
        <p:nvSpPr>
          <p:cNvPr id="187" name="Google Shape;187;p5"/>
          <p:cNvSpPr txBox="1"/>
          <p:nvPr/>
        </p:nvSpPr>
        <p:spPr>
          <a:xfrm>
            <a:off x="841248" y="2651760"/>
            <a:ext cx="7443216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30" u="none" cap="none" strike="noStrike">
                <a:solidFill>
                  <a:srgbClr val="707684"/>
                </a:solidFill>
                <a:latin typeface="Inter"/>
                <a:ea typeface="Inter"/>
                <a:cs typeface="Inter"/>
                <a:sym typeface="Inter"/>
              </a:rPr>
              <a:t>Replace this canvas with the clearest format for your solution.</a:t>
            </a:r>
            <a:endParaRPr/>
          </a:p>
        </p:txBody>
      </p:sp>
      <p:sp>
        <p:nvSpPr>
          <p:cNvPr id="188" name="Google Shape;188;p5"/>
          <p:cNvSpPr txBox="1"/>
          <p:nvPr/>
        </p:nvSpPr>
        <p:spPr>
          <a:xfrm>
            <a:off x="640080" y="3968496"/>
            <a:ext cx="1325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C1E23"/>
                </a:solidFill>
                <a:latin typeface="Roboto Mono"/>
                <a:ea typeface="Roboto Mono"/>
                <a:cs typeface="Roboto Mono"/>
                <a:sym typeface="Roboto Mono"/>
              </a:rPr>
              <a:t>WHAT CHANGES</a:t>
            </a:r>
            <a:endParaRPr/>
          </a:p>
        </p:txBody>
      </p:sp>
      <p:sp>
        <p:nvSpPr>
          <p:cNvPr id="189" name="Google Shape;189;p5"/>
          <p:cNvSpPr txBox="1"/>
          <p:nvPr/>
        </p:nvSpPr>
        <p:spPr>
          <a:xfrm>
            <a:off x="1965960" y="3959352"/>
            <a:ext cx="65105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60" u="none" cap="none" strike="noStrike">
                <a:solidFill>
                  <a:srgbClr val="707684"/>
                </a:solidFill>
                <a:latin typeface="Inter"/>
                <a:ea typeface="Inter"/>
                <a:cs typeface="Inter"/>
                <a:sym typeface="Inter"/>
              </a:rPr>
              <a:t>[ Add your content ]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gif" id="195" name="Google Shape;19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6"/>
          <p:cNvSpPr/>
          <p:nvPr/>
        </p:nvSpPr>
        <p:spPr>
          <a:xfrm>
            <a:off x="429768" y="393192"/>
            <a:ext cx="8275320" cy="4352544"/>
          </a:xfrm>
          <a:prstGeom prst="rect">
            <a:avLst/>
          </a:prstGeom>
          <a:solidFill>
            <a:srgbClr val="FFFFFF">
              <a:alpha val="8509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 txBox="1"/>
          <p:nvPr/>
        </p:nvSpPr>
        <p:spPr>
          <a:xfrm>
            <a:off x="640080" y="585216"/>
            <a:ext cx="5394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707684"/>
                </a:solidFill>
                <a:latin typeface="Roboto Mono"/>
                <a:ea typeface="Roboto Mono"/>
                <a:cs typeface="Roboto Mono"/>
                <a:sym typeface="Roboto Mono"/>
              </a:rPr>
              <a:t>05  QUANTIFIED IMPACT  /  INNOVATION CUP 2026</a:t>
            </a:r>
            <a:endParaRPr/>
          </a:p>
        </p:txBody>
      </p:sp>
      <p:sp>
        <p:nvSpPr>
          <p:cNvPr id="198" name="Google Shape;198;p6"/>
          <p:cNvSpPr txBox="1"/>
          <p:nvPr/>
        </p:nvSpPr>
        <p:spPr>
          <a:xfrm>
            <a:off x="640080" y="841248"/>
            <a:ext cx="7498079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rPr>
              <a:t>[ The most important outcome as a number ]</a:t>
            </a:r>
            <a:endParaRPr/>
          </a:p>
        </p:txBody>
      </p:sp>
      <p:sp>
        <p:nvSpPr>
          <p:cNvPr id="199" name="Google Shape;199;p6"/>
          <p:cNvSpPr txBox="1"/>
          <p:nvPr/>
        </p:nvSpPr>
        <p:spPr>
          <a:xfrm>
            <a:off x="640080" y="1234440"/>
            <a:ext cx="7498079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707684"/>
                </a:solidFill>
                <a:latin typeface="Inter"/>
                <a:ea typeface="Inter"/>
                <a:cs typeface="Inter"/>
                <a:sym typeface="Inter"/>
              </a:rPr>
              <a:t>One number is required. Additional metrics are optional.</a:t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640080" y="1517904"/>
            <a:ext cx="7845552" cy="10972"/>
          </a:xfrm>
          <a:prstGeom prst="rect">
            <a:avLst/>
          </a:prstGeom>
          <a:solidFill>
            <a:srgbClr val="D3D6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 txBox="1"/>
          <p:nvPr/>
        </p:nvSpPr>
        <p:spPr>
          <a:xfrm>
            <a:off x="429768" y="4846320"/>
            <a:ext cx="4663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30" u="none" cap="none" strike="noStrike">
                <a:solidFill>
                  <a:srgbClr val="9FABCA"/>
                </a:solidFill>
                <a:latin typeface="Roboto Mono"/>
                <a:ea typeface="Roboto Mono"/>
                <a:cs typeface="Roboto Mono"/>
                <a:sym typeface="Roboto Mono"/>
              </a:rPr>
              <a:t>SUBMISSION TEMPLATE  /  INNOVATION CUP 2026</a:t>
            </a:r>
            <a:endParaRPr/>
          </a:p>
        </p:txBody>
      </p:sp>
      <p:pic>
        <p:nvPicPr>
          <p:cNvPr descr="image.png" id="202" name="Google Shape;20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08392" y="4882896"/>
            <a:ext cx="1024128" cy="1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6"/>
          <p:cNvSpPr txBox="1"/>
          <p:nvPr/>
        </p:nvSpPr>
        <p:spPr>
          <a:xfrm>
            <a:off x="8046720" y="100584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30" u="none" cap="none" strike="noStrike">
                <a:solidFill>
                  <a:srgbClr val="9FABCA"/>
                </a:solidFill>
                <a:latin typeface="Roboto Mono"/>
                <a:ea typeface="Roboto Mono"/>
                <a:cs typeface="Roboto Mono"/>
                <a:sym typeface="Roboto Mono"/>
              </a:rPr>
              <a:t>/ 05</a:t>
            </a:r>
            <a:endParaRPr/>
          </a:p>
        </p:txBody>
      </p:sp>
      <p:sp>
        <p:nvSpPr>
          <p:cNvPr id="204" name="Google Shape;204;p6"/>
          <p:cNvSpPr/>
          <p:nvPr/>
        </p:nvSpPr>
        <p:spPr>
          <a:xfrm>
            <a:off x="640080" y="1801368"/>
            <a:ext cx="2505456" cy="1335024"/>
          </a:xfrm>
          <a:prstGeom prst="rect">
            <a:avLst/>
          </a:prstGeom>
          <a:solidFill>
            <a:srgbClr val="1C1E23"/>
          </a:solidFill>
          <a:ln cap="flat" cmpd="sng" w="9525">
            <a:solidFill>
              <a:srgbClr val="1C1E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 txBox="1"/>
          <p:nvPr/>
        </p:nvSpPr>
        <p:spPr>
          <a:xfrm>
            <a:off x="804672" y="1975104"/>
            <a:ext cx="31089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/>
          </a:p>
        </p:txBody>
      </p:sp>
      <p:sp>
        <p:nvSpPr>
          <p:cNvPr id="206" name="Google Shape;206;p6"/>
          <p:cNvSpPr txBox="1"/>
          <p:nvPr/>
        </p:nvSpPr>
        <p:spPr>
          <a:xfrm>
            <a:off x="1143000" y="1965960"/>
            <a:ext cx="18470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PRIMARY NUMBER</a:t>
            </a:r>
            <a:endParaRPr/>
          </a:p>
        </p:txBody>
      </p:sp>
      <p:sp>
        <p:nvSpPr>
          <p:cNvPr id="207" name="Google Shape;207;p6"/>
          <p:cNvSpPr txBox="1"/>
          <p:nvPr/>
        </p:nvSpPr>
        <p:spPr>
          <a:xfrm>
            <a:off x="804672" y="2331720"/>
            <a:ext cx="2176272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D3D6DC"/>
                </a:solidFill>
                <a:latin typeface="Inter"/>
                <a:ea typeface="Inter"/>
                <a:cs typeface="Inter"/>
                <a:sym typeface="Inter"/>
              </a:rPr>
              <a:t>[ Number + what it measures ]</a:t>
            </a:r>
            <a:endParaRPr/>
          </a:p>
        </p:txBody>
      </p:sp>
      <p:sp>
        <p:nvSpPr>
          <p:cNvPr id="208" name="Google Shape;208;p6"/>
          <p:cNvSpPr/>
          <p:nvPr/>
        </p:nvSpPr>
        <p:spPr>
          <a:xfrm>
            <a:off x="3310128" y="1801368"/>
            <a:ext cx="2505456" cy="1335024"/>
          </a:xfrm>
          <a:prstGeom prst="rect">
            <a:avLst/>
          </a:prstGeom>
          <a:solidFill>
            <a:srgbClr val="1C1E23"/>
          </a:solidFill>
          <a:ln cap="flat" cmpd="sng" w="9525">
            <a:solidFill>
              <a:srgbClr val="1C1E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 txBox="1"/>
          <p:nvPr/>
        </p:nvSpPr>
        <p:spPr>
          <a:xfrm>
            <a:off x="3474720" y="1975104"/>
            <a:ext cx="31089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/>
          </a:p>
        </p:txBody>
      </p:sp>
      <p:sp>
        <p:nvSpPr>
          <p:cNvPr id="210" name="Google Shape;210;p6"/>
          <p:cNvSpPr txBox="1"/>
          <p:nvPr/>
        </p:nvSpPr>
        <p:spPr>
          <a:xfrm>
            <a:off x="3813048" y="1965960"/>
            <a:ext cx="18470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NUMBER 2  ·  OPTIONAL</a:t>
            </a:r>
            <a:endParaRPr/>
          </a:p>
        </p:txBody>
      </p:sp>
      <p:sp>
        <p:nvSpPr>
          <p:cNvPr id="211" name="Google Shape;211;p6"/>
          <p:cNvSpPr txBox="1"/>
          <p:nvPr/>
        </p:nvSpPr>
        <p:spPr>
          <a:xfrm>
            <a:off x="3474720" y="2331720"/>
            <a:ext cx="2176272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D3D6DC"/>
                </a:solidFill>
                <a:latin typeface="Inter"/>
                <a:ea typeface="Inter"/>
                <a:cs typeface="Inter"/>
                <a:sym typeface="Inter"/>
              </a:rPr>
              <a:t>[ Number + what it measures ]</a:t>
            </a:r>
            <a:endParaRPr/>
          </a:p>
        </p:txBody>
      </p:sp>
      <p:sp>
        <p:nvSpPr>
          <p:cNvPr id="212" name="Google Shape;212;p6"/>
          <p:cNvSpPr/>
          <p:nvPr/>
        </p:nvSpPr>
        <p:spPr>
          <a:xfrm>
            <a:off x="5980176" y="1801368"/>
            <a:ext cx="2505456" cy="1335024"/>
          </a:xfrm>
          <a:prstGeom prst="rect">
            <a:avLst/>
          </a:prstGeom>
          <a:solidFill>
            <a:srgbClr val="1C1E23"/>
          </a:solidFill>
          <a:ln cap="flat" cmpd="sng" w="9525">
            <a:solidFill>
              <a:srgbClr val="1C1E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 txBox="1"/>
          <p:nvPr/>
        </p:nvSpPr>
        <p:spPr>
          <a:xfrm>
            <a:off x="6144768" y="1975104"/>
            <a:ext cx="31089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/>
          </a:p>
        </p:txBody>
      </p:sp>
      <p:sp>
        <p:nvSpPr>
          <p:cNvPr id="214" name="Google Shape;214;p6"/>
          <p:cNvSpPr txBox="1"/>
          <p:nvPr/>
        </p:nvSpPr>
        <p:spPr>
          <a:xfrm>
            <a:off x="6483096" y="1965960"/>
            <a:ext cx="18470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NUMBER 3  ·  OPTIONAL</a:t>
            </a:r>
            <a:endParaRPr/>
          </a:p>
        </p:txBody>
      </p:sp>
      <p:sp>
        <p:nvSpPr>
          <p:cNvPr id="215" name="Google Shape;215;p6"/>
          <p:cNvSpPr txBox="1"/>
          <p:nvPr/>
        </p:nvSpPr>
        <p:spPr>
          <a:xfrm>
            <a:off x="6144768" y="2331720"/>
            <a:ext cx="2176272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D3D6DC"/>
                </a:solidFill>
                <a:latin typeface="Inter"/>
                <a:ea typeface="Inter"/>
                <a:cs typeface="Inter"/>
                <a:sym typeface="Inter"/>
              </a:rPr>
              <a:t>[ Number + what it measures ]</a:t>
            </a:r>
            <a:endParaRPr/>
          </a:p>
        </p:txBody>
      </p:sp>
      <p:sp>
        <p:nvSpPr>
          <p:cNvPr id="216" name="Google Shape;216;p6"/>
          <p:cNvSpPr/>
          <p:nvPr/>
        </p:nvSpPr>
        <p:spPr>
          <a:xfrm>
            <a:off x="640080" y="3401568"/>
            <a:ext cx="7845552" cy="886968"/>
          </a:xfrm>
          <a:prstGeom prst="rect">
            <a:avLst/>
          </a:prstGeom>
          <a:solidFill>
            <a:srgbClr val="F2F3F5"/>
          </a:solidFill>
          <a:ln cap="flat" cmpd="sng" w="9525">
            <a:solidFill>
              <a:srgbClr val="D3D6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 txBox="1"/>
          <p:nvPr/>
        </p:nvSpPr>
        <p:spPr>
          <a:xfrm>
            <a:off x="841248" y="3584448"/>
            <a:ext cx="74432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C1E23"/>
                </a:solidFill>
                <a:latin typeface="Roboto Mono"/>
                <a:ea typeface="Roboto Mono"/>
                <a:cs typeface="Roboto Mono"/>
                <a:sym typeface="Roboto Mono"/>
              </a:rPr>
              <a:t>HOW THE NUMBERS WERE CALCULATED</a:t>
            </a:r>
            <a:endParaRPr/>
          </a:p>
        </p:txBody>
      </p:sp>
      <p:sp>
        <p:nvSpPr>
          <p:cNvPr id="218" name="Google Shape;218;p6"/>
          <p:cNvSpPr txBox="1"/>
          <p:nvPr/>
        </p:nvSpPr>
        <p:spPr>
          <a:xfrm>
            <a:off x="841248" y="3913632"/>
            <a:ext cx="744321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30" u="none" cap="none" strike="noStrike">
                <a:solidFill>
                  <a:srgbClr val="707684"/>
                </a:solidFill>
                <a:latin typeface="Inter"/>
                <a:ea typeface="Inter"/>
                <a:cs typeface="Inter"/>
                <a:sym typeface="Inter"/>
              </a:rPr>
              <a:t>Inputs  ×  method or formula  ×  source  ×  assumptions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gif" id="224" name="Google Shape;22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7"/>
          <p:cNvSpPr/>
          <p:nvPr/>
        </p:nvSpPr>
        <p:spPr>
          <a:xfrm>
            <a:off x="429768" y="393192"/>
            <a:ext cx="8275320" cy="4352544"/>
          </a:xfrm>
          <a:prstGeom prst="rect">
            <a:avLst/>
          </a:prstGeom>
          <a:solidFill>
            <a:srgbClr val="FFFFFF">
              <a:alpha val="8509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 txBox="1"/>
          <p:nvPr/>
        </p:nvSpPr>
        <p:spPr>
          <a:xfrm>
            <a:off x="640080" y="585216"/>
            <a:ext cx="5394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707684"/>
                </a:solidFill>
                <a:latin typeface="Roboto Mono"/>
                <a:ea typeface="Roboto Mono"/>
                <a:cs typeface="Roboto Mono"/>
                <a:sym typeface="Roboto Mono"/>
              </a:rPr>
              <a:t>06  WHAT MAKES THIS DIFFERENT?  /  INNOVATION CUP 2026</a:t>
            </a:r>
            <a:endParaRPr/>
          </a:p>
        </p:txBody>
      </p:sp>
      <p:sp>
        <p:nvSpPr>
          <p:cNvPr id="227" name="Google Shape;227;p7"/>
          <p:cNvSpPr txBox="1"/>
          <p:nvPr/>
        </p:nvSpPr>
        <p:spPr>
          <a:xfrm>
            <a:off x="640080" y="841248"/>
            <a:ext cx="7498079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rPr>
              <a:t>[ The differentiator in one sentence ]</a:t>
            </a:r>
            <a:endParaRPr/>
          </a:p>
        </p:txBody>
      </p:sp>
      <p:sp>
        <p:nvSpPr>
          <p:cNvPr id="228" name="Google Shape;228;p7"/>
          <p:cNvSpPr txBox="1"/>
          <p:nvPr/>
        </p:nvSpPr>
        <p:spPr>
          <a:xfrm>
            <a:off x="640080" y="1234440"/>
            <a:ext cx="7498079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707684"/>
                </a:solidFill>
                <a:latin typeface="Inter"/>
                <a:ea typeface="Inter"/>
                <a:cs typeface="Inter"/>
                <a:sym typeface="Inter"/>
              </a:rPr>
              <a:t>Maximum 100 words</a:t>
            </a:r>
            <a:endParaRPr/>
          </a:p>
        </p:txBody>
      </p:sp>
      <p:sp>
        <p:nvSpPr>
          <p:cNvPr id="229" name="Google Shape;229;p7"/>
          <p:cNvSpPr/>
          <p:nvPr/>
        </p:nvSpPr>
        <p:spPr>
          <a:xfrm>
            <a:off x="640080" y="1517904"/>
            <a:ext cx="7845552" cy="10972"/>
          </a:xfrm>
          <a:prstGeom prst="rect">
            <a:avLst/>
          </a:prstGeom>
          <a:solidFill>
            <a:srgbClr val="D3D6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 txBox="1"/>
          <p:nvPr/>
        </p:nvSpPr>
        <p:spPr>
          <a:xfrm>
            <a:off x="429768" y="4846320"/>
            <a:ext cx="4663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30" u="none" cap="none" strike="noStrike">
                <a:solidFill>
                  <a:srgbClr val="9FABCA"/>
                </a:solidFill>
                <a:latin typeface="Roboto Mono"/>
                <a:ea typeface="Roboto Mono"/>
                <a:cs typeface="Roboto Mono"/>
                <a:sym typeface="Roboto Mono"/>
              </a:rPr>
              <a:t>SUBMISSION TEMPLATE  /  INNOVATION CUP 2026</a:t>
            </a:r>
            <a:endParaRPr/>
          </a:p>
        </p:txBody>
      </p:sp>
      <p:pic>
        <p:nvPicPr>
          <p:cNvPr descr="image.png" id="231" name="Google Shape;23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08392" y="4882896"/>
            <a:ext cx="1024128" cy="1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7"/>
          <p:cNvSpPr txBox="1"/>
          <p:nvPr/>
        </p:nvSpPr>
        <p:spPr>
          <a:xfrm>
            <a:off x="8046720" y="100584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30" u="none" cap="none" strike="noStrike">
                <a:solidFill>
                  <a:srgbClr val="9FABCA"/>
                </a:solidFill>
                <a:latin typeface="Roboto Mono"/>
                <a:ea typeface="Roboto Mono"/>
                <a:cs typeface="Roboto Mono"/>
                <a:sym typeface="Roboto Mono"/>
              </a:rPr>
              <a:t>/ 06</a:t>
            </a:r>
            <a:endParaRPr/>
          </a:p>
        </p:txBody>
      </p:sp>
      <p:sp>
        <p:nvSpPr>
          <p:cNvPr id="233" name="Google Shape;233;p7"/>
          <p:cNvSpPr/>
          <p:nvPr/>
        </p:nvSpPr>
        <p:spPr>
          <a:xfrm>
            <a:off x="640080" y="1810512"/>
            <a:ext cx="3813048" cy="2359152"/>
          </a:xfrm>
          <a:prstGeom prst="rect">
            <a:avLst/>
          </a:prstGeom>
          <a:solidFill>
            <a:srgbClr val="F2F3F5"/>
          </a:solidFill>
          <a:ln cap="flat" cmpd="sng" w="9525">
            <a:solidFill>
              <a:srgbClr val="D3D6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 txBox="1"/>
          <p:nvPr/>
        </p:nvSpPr>
        <p:spPr>
          <a:xfrm>
            <a:off x="841248" y="1993392"/>
            <a:ext cx="34107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C1E23"/>
                </a:solidFill>
                <a:latin typeface="Roboto Mono"/>
                <a:ea typeface="Roboto Mono"/>
                <a:cs typeface="Roboto Mono"/>
                <a:sym typeface="Roboto Mono"/>
              </a:rPr>
              <a:t>HOW IT IS DIFFERENT</a:t>
            </a:r>
            <a:endParaRPr/>
          </a:p>
        </p:txBody>
      </p:sp>
      <p:sp>
        <p:nvSpPr>
          <p:cNvPr id="235" name="Google Shape;235;p7"/>
          <p:cNvSpPr txBox="1"/>
          <p:nvPr/>
        </p:nvSpPr>
        <p:spPr>
          <a:xfrm>
            <a:off x="841248" y="2322576"/>
            <a:ext cx="3410712" cy="1700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30" u="none" cap="none" strike="noStrike">
                <a:solidFill>
                  <a:srgbClr val="707684"/>
                </a:solidFill>
                <a:latin typeface="Inter"/>
                <a:ea typeface="Inter"/>
                <a:cs typeface="Inter"/>
                <a:sym typeface="Inter"/>
              </a:rPr>
              <a:t>Replace this canvas with a clear comparison or explanation.</a:t>
            </a: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4663440" y="1810512"/>
            <a:ext cx="3813048" cy="2359152"/>
          </a:xfrm>
          <a:prstGeom prst="rect">
            <a:avLst/>
          </a:prstGeom>
          <a:solidFill>
            <a:srgbClr val="F2F3F5"/>
          </a:solidFill>
          <a:ln cap="flat" cmpd="sng" w="9525">
            <a:solidFill>
              <a:srgbClr val="D3D6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 txBox="1"/>
          <p:nvPr/>
        </p:nvSpPr>
        <p:spPr>
          <a:xfrm>
            <a:off x="4864608" y="1993392"/>
            <a:ext cx="34107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C1E23"/>
                </a:solidFill>
                <a:latin typeface="Roboto Mono"/>
                <a:ea typeface="Roboto Mono"/>
                <a:cs typeface="Roboto Mono"/>
                <a:sym typeface="Roboto Mono"/>
              </a:rPr>
              <a:t>WHY IT IS POSSIBLE—AND HARD TO COPY</a:t>
            </a:r>
            <a:endParaRPr/>
          </a:p>
        </p:txBody>
      </p:sp>
      <p:sp>
        <p:nvSpPr>
          <p:cNvPr id="238" name="Google Shape;238;p7"/>
          <p:cNvSpPr txBox="1"/>
          <p:nvPr/>
        </p:nvSpPr>
        <p:spPr>
          <a:xfrm>
            <a:off x="4864608" y="2322576"/>
            <a:ext cx="3410712" cy="1700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30" u="none" cap="none" strike="noStrike">
                <a:solidFill>
                  <a:srgbClr val="707684"/>
                </a:solidFill>
                <a:latin typeface="Inter"/>
                <a:ea typeface="Inter"/>
                <a:cs typeface="Inter"/>
                <a:sym typeface="Inter"/>
              </a:rPr>
              <a:t>Show the evidence behind the advantage.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gif" id="244" name="Google Shape;24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8"/>
          <p:cNvSpPr/>
          <p:nvPr/>
        </p:nvSpPr>
        <p:spPr>
          <a:xfrm>
            <a:off x="429768" y="393192"/>
            <a:ext cx="8275320" cy="4352544"/>
          </a:xfrm>
          <a:prstGeom prst="rect">
            <a:avLst/>
          </a:prstGeom>
          <a:solidFill>
            <a:srgbClr val="FFFFFF">
              <a:alpha val="8509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 txBox="1"/>
          <p:nvPr/>
        </p:nvSpPr>
        <p:spPr>
          <a:xfrm>
            <a:off x="640080" y="585216"/>
            <a:ext cx="5394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707684"/>
                </a:solidFill>
                <a:latin typeface="Roboto Mono"/>
                <a:ea typeface="Roboto Mono"/>
                <a:cs typeface="Roboto Mono"/>
                <a:sym typeface="Roboto Mono"/>
              </a:rPr>
              <a:t>07  TECHNICAL DESIGN  /  INNOVATION CUP 2026</a:t>
            </a:r>
            <a:endParaRPr/>
          </a:p>
        </p:txBody>
      </p:sp>
      <p:sp>
        <p:nvSpPr>
          <p:cNvPr id="247" name="Google Shape;247;p8"/>
          <p:cNvSpPr txBox="1"/>
          <p:nvPr/>
        </p:nvSpPr>
        <p:spPr>
          <a:xfrm>
            <a:off x="640080" y="841248"/>
            <a:ext cx="7498079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rPr>
              <a:t>[ The technical decision that makes this work ]</a:t>
            </a:r>
            <a:endParaRPr/>
          </a:p>
        </p:txBody>
      </p:sp>
      <p:sp>
        <p:nvSpPr>
          <p:cNvPr id="248" name="Google Shape;248;p8"/>
          <p:cNvSpPr txBox="1"/>
          <p:nvPr/>
        </p:nvSpPr>
        <p:spPr>
          <a:xfrm>
            <a:off x="640080" y="1234440"/>
            <a:ext cx="7498079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707684"/>
                </a:solidFill>
                <a:latin typeface="Inter"/>
                <a:ea typeface="Inter"/>
                <a:cs typeface="Inter"/>
                <a:sym typeface="Inter"/>
              </a:rPr>
              <a:t>Maximum 150 words  ·  A diagram is required</a:t>
            </a:r>
            <a:endParaRPr/>
          </a:p>
        </p:txBody>
      </p:sp>
      <p:sp>
        <p:nvSpPr>
          <p:cNvPr id="249" name="Google Shape;249;p8"/>
          <p:cNvSpPr/>
          <p:nvPr/>
        </p:nvSpPr>
        <p:spPr>
          <a:xfrm>
            <a:off x="640080" y="1517904"/>
            <a:ext cx="7845552" cy="10972"/>
          </a:xfrm>
          <a:prstGeom prst="rect">
            <a:avLst/>
          </a:prstGeom>
          <a:solidFill>
            <a:srgbClr val="D3D6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 txBox="1"/>
          <p:nvPr/>
        </p:nvSpPr>
        <p:spPr>
          <a:xfrm>
            <a:off x="429768" y="4846320"/>
            <a:ext cx="4663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30" u="none" cap="none" strike="noStrike">
                <a:solidFill>
                  <a:srgbClr val="9FABCA"/>
                </a:solidFill>
                <a:latin typeface="Roboto Mono"/>
                <a:ea typeface="Roboto Mono"/>
                <a:cs typeface="Roboto Mono"/>
                <a:sym typeface="Roboto Mono"/>
              </a:rPr>
              <a:t>SUBMISSION TEMPLATE  /  INNOVATION CUP 2026</a:t>
            </a:r>
            <a:endParaRPr/>
          </a:p>
        </p:txBody>
      </p:sp>
      <p:pic>
        <p:nvPicPr>
          <p:cNvPr descr="image.png" id="251" name="Google Shape;25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08392" y="4882896"/>
            <a:ext cx="1024128" cy="1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8"/>
          <p:cNvSpPr txBox="1"/>
          <p:nvPr/>
        </p:nvSpPr>
        <p:spPr>
          <a:xfrm>
            <a:off x="8046720" y="100584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30" u="none" cap="none" strike="noStrike">
                <a:solidFill>
                  <a:srgbClr val="9FABCA"/>
                </a:solidFill>
                <a:latin typeface="Roboto Mono"/>
                <a:ea typeface="Roboto Mono"/>
                <a:cs typeface="Roboto Mono"/>
                <a:sym typeface="Roboto Mono"/>
              </a:rPr>
              <a:t>/ 07</a:t>
            </a:r>
            <a:endParaRPr/>
          </a:p>
        </p:txBody>
      </p:sp>
      <p:sp>
        <p:nvSpPr>
          <p:cNvPr id="253" name="Google Shape;253;p8"/>
          <p:cNvSpPr/>
          <p:nvPr/>
        </p:nvSpPr>
        <p:spPr>
          <a:xfrm>
            <a:off x="640080" y="1792224"/>
            <a:ext cx="7845552" cy="2176272"/>
          </a:xfrm>
          <a:prstGeom prst="rect">
            <a:avLst/>
          </a:prstGeom>
          <a:solidFill>
            <a:srgbClr val="F2F3F5"/>
          </a:solidFill>
          <a:ln cap="flat" cmpd="sng" w="9525">
            <a:solidFill>
              <a:srgbClr val="D3D6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 txBox="1"/>
          <p:nvPr/>
        </p:nvSpPr>
        <p:spPr>
          <a:xfrm>
            <a:off x="841248" y="1975104"/>
            <a:ext cx="74432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C1E23"/>
                </a:solidFill>
                <a:latin typeface="Roboto Mono"/>
                <a:ea typeface="Roboto Mono"/>
                <a:cs typeface="Roboto Mono"/>
                <a:sym typeface="Roboto Mono"/>
              </a:rPr>
              <a:t>ARCHITECTURE OR DATA-FLOW DIAGRAM  ·  REQUIRED</a:t>
            </a:r>
            <a:endParaRPr/>
          </a:p>
        </p:txBody>
      </p:sp>
      <p:sp>
        <p:nvSpPr>
          <p:cNvPr id="255" name="Google Shape;255;p8"/>
          <p:cNvSpPr txBox="1"/>
          <p:nvPr/>
        </p:nvSpPr>
        <p:spPr>
          <a:xfrm>
            <a:off x="841248" y="2304288"/>
            <a:ext cx="7443216" cy="1517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30" u="none" cap="none" strike="noStrike">
                <a:solidFill>
                  <a:srgbClr val="707684"/>
                </a:solidFill>
                <a:latin typeface="Inter"/>
                <a:ea typeface="Inter"/>
                <a:cs typeface="Inter"/>
                <a:sym typeface="Inter"/>
              </a:rPr>
              <a:t>Replace this entire canvas with your diagram.</a:t>
            </a:r>
            <a:endParaRPr/>
          </a:p>
        </p:txBody>
      </p:sp>
      <p:sp>
        <p:nvSpPr>
          <p:cNvPr id="256" name="Google Shape;256;p8"/>
          <p:cNvSpPr txBox="1"/>
          <p:nvPr/>
        </p:nvSpPr>
        <p:spPr>
          <a:xfrm>
            <a:off x="640080" y="4178808"/>
            <a:ext cx="585216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19" u="none" cap="none" strike="noStrike">
                <a:solidFill>
                  <a:srgbClr val="1C1E23"/>
                </a:solidFill>
                <a:latin typeface="Roboto Mono"/>
                <a:ea typeface="Roboto Mono"/>
                <a:cs typeface="Roboto Mono"/>
                <a:sym typeface="Roboto Mono"/>
              </a:rPr>
              <a:t>STACK</a:t>
            </a:r>
            <a:endParaRPr/>
          </a:p>
        </p:txBody>
      </p:sp>
      <p:sp>
        <p:nvSpPr>
          <p:cNvPr id="257" name="Google Shape;257;p8"/>
          <p:cNvSpPr txBox="1"/>
          <p:nvPr/>
        </p:nvSpPr>
        <p:spPr>
          <a:xfrm>
            <a:off x="1252728" y="4169663"/>
            <a:ext cx="7223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40" u="none" cap="none" strike="noStrike">
                <a:solidFill>
                  <a:srgbClr val="707684"/>
                </a:solidFill>
                <a:latin typeface="Inter"/>
                <a:ea typeface="Inter"/>
                <a:cs typeface="Inter"/>
                <a:sym typeface="Inter"/>
              </a:rPr>
              <a:t>[ Add your technology stack ]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gif" id="263" name="Google Shape;26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9"/>
          <p:cNvSpPr/>
          <p:nvPr/>
        </p:nvSpPr>
        <p:spPr>
          <a:xfrm>
            <a:off x="429768" y="393192"/>
            <a:ext cx="8275320" cy="4352544"/>
          </a:xfrm>
          <a:prstGeom prst="rect">
            <a:avLst/>
          </a:prstGeom>
          <a:solidFill>
            <a:srgbClr val="FFFFFF">
              <a:alpha val="8509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 txBox="1"/>
          <p:nvPr/>
        </p:nvSpPr>
        <p:spPr>
          <a:xfrm>
            <a:off x="640080" y="585216"/>
            <a:ext cx="5394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707684"/>
                </a:solidFill>
                <a:latin typeface="Roboto Mono"/>
                <a:ea typeface="Roboto Mono"/>
                <a:cs typeface="Roboto Mono"/>
                <a:sym typeface="Roboto Mono"/>
              </a:rPr>
              <a:t>08  FUTURE ROADMAP  /  INNOVATION CUP 2026</a:t>
            </a:r>
            <a:endParaRPr/>
          </a:p>
        </p:txBody>
      </p:sp>
      <p:sp>
        <p:nvSpPr>
          <p:cNvPr id="266" name="Google Shape;266;p9"/>
          <p:cNvSpPr txBox="1"/>
          <p:nvPr/>
        </p:nvSpPr>
        <p:spPr>
          <a:xfrm>
            <a:off x="640080" y="841248"/>
            <a:ext cx="7498079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C1E23"/>
                </a:solidFill>
                <a:latin typeface="Inter"/>
                <a:ea typeface="Inter"/>
                <a:cs typeface="Inter"/>
                <a:sym typeface="Inter"/>
              </a:rPr>
              <a:t>[ Where this goes if it works ]</a:t>
            </a:r>
            <a:endParaRPr/>
          </a:p>
        </p:txBody>
      </p:sp>
      <p:sp>
        <p:nvSpPr>
          <p:cNvPr id="267" name="Google Shape;267;p9"/>
          <p:cNvSpPr txBox="1"/>
          <p:nvPr/>
        </p:nvSpPr>
        <p:spPr>
          <a:xfrm>
            <a:off x="640080" y="1234440"/>
            <a:ext cx="7498079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707684"/>
                </a:solidFill>
                <a:latin typeface="Inter"/>
                <a:ea typeface="Inter"/>
                <a:cs typeface="Inter"/>
                <a:sym typeface="Inter"/>
              </a:rPr>
              <a:t>Maximum 75 words</a:t>
            </a:r>
            <a:endParaRPr/>
          </a:p>
        </p:txBody>
      </p:sp>
      <p:sp>
        <p:nvSpPr>
          <p:cNvPr id="268" name="Google Shape;268;p9"/>
          <p:cNvSpPr/>
          <p:nvPr/>
        </p:nvSpPr>
        <p:spPr>
          <a:xfrm>
            <a:off x="640080" y="1517904"/>
            <a:ext cx="7845552" cy="10972"/>
          </a:xfrm>
          <a:prstGeom prst="rect">
            <a:avLst/>
          </a:prstGeom>
          <a:solidFill>
            <a:srgbClr val="D3D6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 txBox="1"/>
          <p:nvPr/>
        </p:nvSpPr>
        <p:spPr>
          <a:xfrm>
            <a:off x="429768" y="4846320"/>
            <a:ext cx="4663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30" u="none" cap="none" strike="noStrike">
                <a:solidFill>
                  <a:srgbClr val="9FABCA"/>
                </a:solidFill>
                <a:latin typeface="Roboto Mono"/>
                <a:ea typeface="Roboto Mono"/>
                <a:cs typeface="Roboto Mono"/>
                <a:sym typeface="Roboto Mono"/>
              </a:rPr>
              <a:t>SUBMISSION TEMPLATE  /  INNOVATION CUP 2026</a:t>
            </a:r>
            <a:endParaRPr/>
          </a:p>
        </p:txBody>
      </p:sp>
      <p:pic>
        <p:nvPicPr>
          <p:cNvPr descr="image.png" id="270" name="Google Shape;27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08392" y="4882896"/>
            <a:ext cx="1024128" cy="1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9"/>
          <p:cNvSpPr txBox="1"/>
          <p:nvPr/>
        </p:nvSpPr>
        <p:spPr>
          <a:xfrm>
            <a:off x="8046720" y="100584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30" u="none" cap="none" strike="noStrike">
                <a:solidFill>
                  <a:srgbClr val="9FABCA"/>
                </a:solidFill>
                <a:latin typeface="Roboto Mono"/>
                <a:ea typeface="Roboto Mono"/>
                <a:cs typeface="Roboto Mono"/>
                <a:sym typeface="Roboto Mono"/>
              </a:rPr>
              <a:t>/ 08</a:t>
            </a:r>
            <a:endParaRPr/>
          </a:p>
        </p:txBody>
      </p:sp>
      <p:sp>
        <p:nvSpPr>
          <p:cNvPr id="272" name="Google Shape;272;p9"/>
          <p:cNvSpPr/>
          <p:nvPr/>
        </p:nvSpPr>
        <p:spPr>
          <a:xfrm>
            <a:off x="640080" y="1810512"/>
            <a:ext cx="2505456" cy="1956816"/>
          </a:xfrm>
          <a:prstGeom prst="rect">
            <a:avLst/>
          </a:prstGeom>
          <a:solidFill>
            <a:srgbClr val="1C1E23"/>
          </a:solidFill>
          <a:ln cap="flat" cmpd="sng" w="9525">
            <a:solidFill>
              <a:srgbClr val="1C1E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 txBox="1"/>
          <p:nvPr/>
        </p:nvSpPr>
        <p:spPr>
          <a:xfrm>
            <a:off x="804672" y="1984248"/>
            <a:ext cx="31089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/>
          </a:p>
        </p:txBody>
      </p:sp>
      <p:sp>
        <p:nvSpPr>
          <p:cNvPr id="274" name="Google Shape;274;p9"/>
          <p:cNvSpPr txBox="1"/>
          <p:nvPr/>
        </p:nvSpPr>
        <p:spPr>
          <a:xfrm>
            <a:off x="1143000" y="1975104"/>
            <a:ext cx="18470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NEAR TERM</a:t>
            </a:r>
            <a:endParaRPr/>
          </a:p>
        </p:txBody>
      </p:sp>
      <p:sp>
        <p:nvSpPr>
          <p:cNvPr id="275" name="Google Shape;275;p9"/>
          <p:cNvSpPr txBox="1"/>
          <p:nvPr/>
        </p:nvSpPr>
        <p:spPr>
          <a:xfrm>
            <a:off x="804672" y="2340864"/>
            <a:ext cx="2176272" cy="1298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D3D6DC"/>
                </a:solidFill>
                <a:latin typeface="Inter"/>
                <a:ea typeface="Inter"/>
                <a:cs typeface="Inter"/>
                <a:sym typeface="Inter"/>
              </a:rPr>
              <a:t>[ Timeframe ]</a:t>
            </a:r>
            <a:br>
              <a:rPr b="0" i="0" lang="en-US" sz="830" u="none" cap="none" strike="noStrike">
                <a:solidFill>
                  <a:srgbClr val="D3D6DC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b="0" i="0" lang="en-US" sz="830" u="none" cap="none" strike="noStrike">
                <a:solidFill>
                  <a:srgbClr val="D3D6DC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830" u="none" cap="none" strike="noStrike">
                <a:solidFill>
                  <a:srgbClr val="D3D6DC"/>
                </a:solidFill>
                <a:latin typeface="Inter"/>
                <a:ea typeface="Inter"/>
                <a:cs typeface="Inter"/>
                <a:sym typeface="Inter"/>
              </a:rPr>
              <a:t>[ Milestone ]</a:t>
            </a:r>
            <a:endParaRPr/>
          </a:p>
        </p:txBody>
      </p:sp>
      <p:sp>
        <p:nvSpPr>
          <p:cNvPr id="276" name="Google Shape;276;p9"/>
          <p:cNvSpPr/>
          <p:nvPr/>
        </p:nvSpPr>
        <p:spPr>
          <a:xfrm>
            <a:off x="3310128" y="1810512"/>
            <a:ext cx="2505456" cy="1956816"/>
          </a:xfrm>
          <a:prstGeom prst="rect">
            <a:avLst/>
          </a:prstGeom>
          <a:solidFill>
            <a:srgbClr val="1C1E23"/>
          </a:solidFill>
          <a:ln cap="flat" cmpd="sng" w="9525">
            <a:solidFill>
              <a:srgbClr val="1C1E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 txBox="1"/>
          <p:nvPr/>
        </p:nvSpPr>
        <p:spPr>
          <a:xfrm>
            <a:off x="3474720" y="1984248"/>
            <a:ext cx="31089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/>
          </a:p>
        </p:txBody>
      </p:sp>
      <p:sp>
        <p:nvSpPr>
          <p:cNvPr id="278" name="Google Shape;278;p9"/>
          <p:cNvSpPr txBox="1"/>
          <p:nvPr/>
        </p:nvSpPr>
        <p:spPr>
          <a:xfrm>
            <a:off x="3813048" y="1975104"/>
            <a:ext cx="18470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MEDIUM TERM</a:t>
            </a:r>
            <a:endParaRPr/>
          </a:p>
        </p:txBody>
      </p:sp>
      <p:sp>
        <p:nvSpPr>
          <p:cNvPr id="279" name="Google Shape;279;p9"/>
          <p:cNvSpPr txBox="1"/>
          <p:nvPr/>
        </p:nvSpPr>
        <p:spPr>
          <a:xfrm>
            <a:off x="3474720" y="2340864"/>
            <a:ext cx="2176272" cy="1298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D3D6DC"/>
                </a:solidFill>
                <a:latin typeface="Inter"/>
                <a:ea typeface="Inter"/>
                <a:cs typeface="Inter"/>
                <a:sym typeface="Inter"/>
              </a:rPr>
              <a:t>[ Timeframe ]</a:t>
            </a:r>
            <a:br>
              <a:rPr b="0" i="0" lang="en-US" sz="830" u="none" cap="none" strike="noStrike">
                <a:solidFill>
                  <a:srgbClr val="D3D6DC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b="0" i="0" lang="en-US" sz="830" u="none" cap="none" strike="noStrike">
                <a:solidFill>
                  <a:srgbClr val="D3D6DC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830" u="none" cap="none" strike="noStrike">
                <a:solidFill>
                  <a:srgbClr val="D3D6DC"/>
                </a:solidFill>
                <a:latin typeface="Inter"/>
                <a:ea typeface="Inter"/>
                <a:cs typeface="Inter"/>
                <a:sym typeface="Inter"/>
              </a:rPr>
              <a:t>[ Milestone ]</a:t>
            </a:r>
            <a:endParaRPr/>
          </a:p>
        </p:txBody>
      </p:sp>
      <p:sp>
        <p:nvSpPr>
          <p:cNvPr id="280" name="Google Shape;280;p9"/>
          <p:cNvSpPr/>
          <p:nvPr/>
        </p:nvSpPr>
        <p:spPr>
          <a:xfrm>
            <a:off x="5980176" y="1810512"/>
            <a:ext cx="2505456" cy="1956816"/>
          </a:xfrm>
          <a:prstGeom prst="rect">
            <a:avLst/>
          </a:prstGeom>
          <a:solidFill>
            <a:srgbClr val="1C1E23"/>
          </a:solidFill>
          <a:ln cap="flat" cmpd="sng" w="9525">
            <a:solidFill>
              <a:srgbClr val="1C1E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 txBox="1"/>
          <p:nvPr/>
        </p:nvSpPr>
        <p:spPr>
          <a:xfrm>
            <a:off x="6144768" y="1984248"/>
            <a:ext cx="31089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/>
          </a:p>
        </p:txBody>
      </p:sp>
      <p:sp>
        <p:nvSpPr>
          <p:cNvPr id="282" name="Google Shape;282;p9"/>
          <p:cNvSpPr txBox="1"/>
          <p:nvPr/>
        </p:nvSpPr>
        <p:spPr>
          <a:xfrm>
            <a:off x="6483096" y="1975104"/>
            <a:ext cx="18470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LONG TERM</a:t>
            </a:r>
            <a:endParaRPr/>
          </a:p>
        </p:txBody>
      </p:sp>
      <p:sp>
        <p:nvSpPr>
          <p:cNvPr id="283" name="Google Shape;283;p9"/>
          <p:cNvSpPr txBox="1"/>
          <p:nvPr/>
        </p:nvSpPr>
        <p:spPr>
          <a:xfrm>
            <a:off x="6144768" y="2340864"/>
            <a:ext cx="2176272" cy="1298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D3D6DC"/>
                </a:solidFill>
                <a:latin typeface="Inter"/>
                <a:ea typeface="Inter"/>
                <a:cs typeface="Inter"/>
                <a:sym typeface="Inter"/>
              </a:rPr>
              <a:t>[ Timeframe ]</a:t>
            </a:r>
            <a:br>
              <a:rPr b="0" i="0" lang="en-US" sz="830" u="none" cap="none" strike="noStrike">
                <a:solidFill>
                  <a:srgbClr val="D3D6DC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b="0" i="0" lang="en-US" sz="830" u="none" cap="none" strike="noStrike">
                <a:solidFill>
                  <a:srgbClr val="D3D6DC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830" u="none" cap="none" strike="noStrike">
                <a:solidFill>
                  <a:srgbClr val="D3D6DC"/>
                </a:solidFill>
                <a:latin typeface="Inter"/>
                <a:ea typeface="Inter"/>
                <a:cs typeface="Inter"/>
                <a:sym typeface="Inter"/>
              </a:rPr>
              <a:t>[ Milestone ]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